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doc" ContentType="application/msword"/>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3"/>
    <p:sldId id="402" r:id="rId4"/>
    <p:sldId id="259" r:id="rId5"/>
    <p:sldId id="400" r:id="rId6"/>
    <p:sldId id="401" r:id="rId7"/>
    <p:sldId id="261" r:id="rId8"/>
    <p:sldId id="310" r:id="rId9"/>
    <p:sldId id="311" r:id="rId10"/>
    <p:sldId id="262" r:id="rId11"/>
    <p:sldId id="264" r:id="rId13"/>
    <p:sldId id="267" r:id="rId14"/>
    <p:sldId id="266" r:id="rId15"/>
    <p:sldId id="265" r:id="rId16"/>
    <p:sldId id="274" r:id="rId17"/>
    <p:sldId id="268" r:id="rId18"/>
    <p:sldId id="269" r:id="rId19"/>
    <p:sldId id="270" r:id="rId20"/>
    <p:sldId id="271" r:id="rId21"/>
    <p:sldId id="275" r:id="rId22"/>
    <p:sldId id="272" r:id="rId23"/>
    <p:sldId id="277" r:id="rId24"/>
    <p:sldId id="278" r:id="rId25"/>
    <p:sldId id="285" r:id="rId26"/>
    <p:sldId id="279" r:id="rId27"/>
    <p:sldId id="280" r:id="rId28"/>
    <p:sldId id="281" r:id="rId29"/>
    <p:sldId id="286" r:id="rId30"/>
    <p:sldId id="283" r:id="rId31"/>
    <p:sldId id="282" r:id="rId32"/>
    <p:sldId id="287" r:id="rId33"/>
    <p:sldId id="288" r:id="rId34"/>
    <p:sldId id="290" r:id="rId35"/>
    <p:sldId id="291" r:id="rId36"/>
    <p:sldId id="292" r:id="rId37"/>
    <p:sldId id="293" r:id="rId38"/>
    <p:sldId id="294" r:id="rId39"/>
    <p:sldId id="295" r:id="rId40"/>
    <p:sldId id="296" r:id="rId41"/>
    <p:sldId id="297" r:id="rId42"/>
    <p:sldId id="298" r:id="rId43"/>
    <p:sldId id="323" r:id="rId44"/>
    <p:sldId id="324" r:id="rId45"/>
    <p:sldId id="325" r:id="rId46"/>
    <p:sldId id="326" r:id="rId47"/>
    <p:sldId id="327" r:id="rId48"/>
    <p:sldId id="328" r:id="rId49"/>
    <p:sldId id="329" r:id="rId50"/>
    <p:sldId id="330" r:id="rId51"/>
    <p:sldId id="341" r:id="rId52"/>
    <p:sldId id="342" r:id="rId53"/>
    <p:sldId id="343" r:id="rId5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9606" autoAdjust="0"/>
  </p:normalViewPr>
  <p:slideViewPr>
    <p:cSldViewPr>
      <p:cViewPr>
        <p:scale>
          <a:sx n="72" d="100"/>
          <a:sy n="72" d="100"/>
        </p:scale>
        <p:origin x="-1326" y="1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7" Type="http://schemas.openxmlformats.org/officeDocument/2006/relationships/tableStyles" Target="tableStyles.xml"/><Relationship Id="rId56" Type="http://schemas.openxmlformats.org/officeDocument/2006/relationships/viewProps" Target="viewProps.xml"/><Relationship Id="rId55" Type="http://schemas.openxmlformats.org/officeDocument/2006/relationships/presProps" Target="presProps.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notesMaster" Target="notesMasters/notesMaster1.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8.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38AB842-A07F-4917-BEA9-F7B58830CF43}"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5EAD168-D66F-448C-AF62-A1AB1CFCCF85}"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smtClean="0"/>
              <a:t>Millians</a:t>
            </a:r>
            <a:r>
              <a:rPr lang="en-US" dirty="0" smtClean="0"/>
              <a:t> of electronic components are in computer. Represent</a:t>
            </a:r>
            <a:r>
              <a:rPr lang="en-US" baseline="0" dirty="0" smtClean="0"/>
              <a:t> in hierarchical manner, </a:t>
            </a:r>
            <a:endParaRPr lang="en-US" baseline="0" dirty="0" smtClean="0"/>
          </a:p>
          <a:p>
            <a:r>
              <a:rPr lang="en-US" baseline="0" dirty="0" smtClean="0"/>
              <a:t>At each level different set of components -&gt; interrelate to each other.</a:t>
            </a:r>
            <a:endParaRPr lang="en-US" baseline="0" dirty="0" smtClean="0"/>
          </a:p>
          <a:p>
            <a:r>
              <a:rPr lang="en-US" baseline="0" dirty="0" smtClean="0"/>
              <a:t>At each level, designer is concerned with structure and function.</a:t>
            </a:r>
            <a:endParaRPr lang="en-US" dirty="0"/>
          </a:p>
        </p:txBody>
      </p:sp>
      <p:sp>
        <p:nvSpPr>
          <p:cNvPr id="4" name="Slide Number Placeholder 3"/>
          <p:cNvSpPr>
            <a:spLocks noGrp="1"/>
          </p:cNvSpPr>
          <p:nvPr>
            <p:ph type="sldNum" sz="quarter" idx="10"/>
          </p:nvPr>
        </p:nvSpPr>
        <p:spPr/>
        <p:txBody>
          <a:bodyPr/>
          <a:lstStyle/>
          <a:p>
            <a:fld id="{45EAD168-D66F-448C-AF62-A1AB1CFCCF85}"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p:spPr>
        <p:txBody>
          <a:bodyPr/>
          <a:lstStyle/>
          <a:p>
            <a:fld id="{A731B869-E6A0-4864-9828-F3A0AEB8E898}" type="slidenum">
              <a:rPr lang="zh-TW" altLang="en-US">
                <a:latin typeface="Arial" panose="020B0604020202020204" pitchFamily="34" charset="0"/>
              </a:rPr>
            </a:fld>
            <a:endParaRPr lang="en-US" altLang="zh-TW">
              <a:latin typeface="Arial" panose="020B0604020202020204" pitchFamily="34" charset="0"/>
            </a:endParaRPr>
          </a:p>
        </p:txBody>
      </p:sp>
      <p:sp>
        <p:nvSpPr>
          <p:cNvPr id="32771" name="Rectangle 2"/>
          <p:cNvSpPr>
            <a:spLocks noGrp="1" noRot="1" noChangeAspect="1" noChangeArrowheads="1" noTextEdit="1"/>
          </p:cNvSpPr>
          <p:nvPr>
            <p:ph type="sldImg"/>
          </p:nvPr>
        </p:nvSpPr>
        <p:spPr/>
      </p:sp>
      <p:sp>
        <p:nvSpPr>
          <p:cNvPr id="32772" name="Rectangle 3"/>
          <p:cNvSpPr>
            <a:spLocks noGrp="1" noChangeArrowheads="1"/>
          </p:cNvSpPr>
          <p:nvPr>
            <p:ph type="body" idx="1"/>
          </p:nvPr>
        </p:nvSpPr>
        <p:spPr>
          <a:noFill/>
        </p:spPr>
        <p:txBody>
          <a:bodyPr/>
          <a:lstStyle/>
          <a:p>
            <a:endParaRPr lang="en-GB"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p:spPr>
        <p:txBody>
          <a:bodyPr/>
          <a:lstStyle/>
          <a:p>
            <a:fld id="{C5344D71-690A-4E84-89FC-3E31C050C218}" type="slidenum">
              <a:rPr lang="zh-TW" altLang="en-US">
                <a:latin typeface="Arial" panose="020B0604020202020204" pitchFamily="34" charset="0"/>
              </a:rPr>
            </a:fld>
            <a:endParaRPr lang="en-US" altLang="zh-TW">
              <a:latin typeface="Arial" panose="020B0604020202020204" pitchFamily="34" charset="0"/>
            </a:endParaRPr>
          </a:p>
        </p:txBody>
      </p:sp>
      <p:sp>
        <p:nvSpPr>
          <p:cNvPr id="35843" name="Rectangle 2"/>
          <p:cNvSpPr>
            <a:spLocks noGrp="1" noRot="1" noChangeAspect="1" noChangeArrowheads="1" noTextEdit="1"/>
          </p:cNvSpPr>
          <p:nvPr>
            <p:ph type="sldImg"/>
          </p:nvPr>
        </p:nvSpPr>
        <p:spPr/>
      </p:sp>
      <p:sp>
        <p:nvSpPr>
          <p:cNvPr id="35844" name="Rectangle 3"/>
          <p:cNvSpPr>
            <a:spLocks noGrp="1" noChangeArrowheads="1"/>
          </p:cNvSpPr>
          <p:nvPr>
            <p:ph type="body" idx="1"/>
          </p:nvPr>
        </p:nvSpPr>
        <p:spPr>
          <a:noFill/>
        </p:spPr>
        <p:txBody>
          <a:bodyPr/>
          <a:lstStyle/>
          <a:p>
            <a:r>
              <a:rPr lang="en-GB" dirty="0" smtClean="0"/>
              <a:t>Basic function that computer can perform</a:t>
            </a:r>
            <a:endParaRPr lang="en-GB" dirty="0"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p:spPr>
        <p:txBody>
          <a:bodyPr/>
          <a:lstStyle/>
          <a:p>
            <a:fld id="{E8A5665D-C7D9-4814-ADC6-326786566EB4}" type="slidenum">
              <a:rPr lang="zh-TW" altLang="en-US">
                <a:latin typeface="Arial" panose="020B0604020202020204" pitchFamily="34" charset="0"/>
              </a:rPr>
            </a:fld>
            <a:endParaRPr lang="en-US" altLang="zh-TW">
              <a:latin typeface="Arial" panose="020B0604020202020204" pitchFamily="34" charset="0"/>
            </a:endParaRPr>
          </a:p>
        </p:txBody>
      </p:sp>
      <p:sp>
        <p:nvSpPr>
          <p:cNvPr id="34819" name="Rectangle 2"/>
          <p:cNvSpPr>
            <a:spLocks noGrp="1" noRot="1" noChangeAspect="1" noChangeArrowheads="1" noTextEdit="1"/>
          </p:cNvSpPr>
          <p:nvPr>
            <p:ph type="sldImg"/>
          </p:nvPr>
        </p:nvSpPr>
        <p:spPr/>
      </p:sp>
      <p:sp>
        <p:nvSpPr>
          <p:cNvPr id="34820" name="Rectangle 3"/>
          <p:cNvSpPr>
            <a:spLocks noGrp="1" noChangeArrowheads="1"/>
          </p:cNvSpPr>
          <p:nvPr>
            <p:ph type="body" idx="1"/>
          </p:nvPr>
        </p:nvSpPr>
        <p:spPr>
          <a:noFill/>
        </p:spPr>
        <p:txBody>
          <a:bodyPr/>
          <a:lstStyle/>
          <a:p>
            <a:endParaRPr lang="en-GB"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p:spPr>
        <p:txBody>
          <a:bodyPr/>
          <a:lstStyle/>
          <a:p>
            <a:fld id="{2A0A5E7B-AA62-44B9-A8C9-BD9F90922512}" type="slidenum">
              <a:rPr lang="zh-TW" altLang="en-US">
                <a:latin typeface="Arial" panose="020B0604020202020204" pitchFamily="34" charset="0"/>
              </a:rPr>
            </a:fld>
            <a:endParaRPr lang="en-US" altLang="zh-TW">
              <a:latin typeface="Arial" panose="020B0604020202020204" pitchFamily="34" charset="0"/>
            </a:endParaRPr>
          </a:p>
        </p:txBody>
      </p:sp>
      <p:sp>
        <p:nvSpPr>
          <p:cNvPr id="33795" name="Rectangle 2"/>
          <p:cNvSpPr>
            <a:spLocks noGrp="1" noRot="1" noChangeAspect="1" noChangeArrowheads="1" noTextEdit="1"/>
          </p:cNvSpPr>
          <p:nvPr>
            <p:ph type="sldImg"/>
          </p:nvPr>
        </p:nvSpPr>
        <p:spPr/>
      </p:sp>
      <p:sp>
        <p:nvSpPr>
          <p:cNvPr id="33796" name="Rectangle 3"/>
          <p:cNvSpPr>
            <a:spLocks noGrp="1" noChangeArrowheads="1"/>
          </p:cNvSpPr>
          <p:nvPr>
            <p:ph type="body" idx="1"/>
          </p:nvPr>
        </p:nvSpPr>
        <p:spPr>
          <a:noFill/>
        </p:spPr>
        <p:txBody>
          <a:bodyPr/>
          <a:lstStyle/>
          <a:p>
            <a:endParaRPr lang="en-GB"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p:spPr>
        <p:txBody>
          <a:bodyPr/>
          <a:lstStyle/>
          <a:p>
            <a:fld id="{0EFEA22F-9FCC-4B19-A071-7DCFCED4E9B0}" type="slidenum">
              <a:rPr lang="zh-TW" altLang="en-US">
                <a:latin typeface="Arial" panose="020B0604020202020204" pitchFamily="34" charset="0"/>
              </a:rPr>
            </a:fld>
            <a:endParaRPr lang="en-US" altLang="zh-TW">
              <a:latin typeface="Arial" panose="020B0604020202020204" pitchFamily="34" charset="0"/>
            </a:endParaRPr>
          </a:p>
        </p:txBody>
      </p:sp>
      <p:sp>
        <p:nvSpPr>
          <p:cNvPr id="36867" name="Rectangle 2"/>
          <p:cNvSpPr>
            <a:spLocks noGrp="1" noRot="1" noChangeAspect="1" noChangeArrowheads="1" noTextEdit="1"/>
          </p:cNvSpPr>
          <p:nvPr>
            <p:ph type="sldImg"/>
          </p:nvPr>
        </p:nvSpPr>
        <p:spPr/>
      </p:sp>
      <p:sp>
        <p:nvSpPr>
          <p:cNvPr id="36868" name="Rectangle 3"/>
          <p:cNvSpPr>
            <a:spLocks noGrp="1" noChangeArrowheads="1"/>
          </p:cNvSpPr>
          <p:nvPr>
            <p:ph type="body" idx="1"/>
          </p:nvPr>
        </p:nvSpPr>
        <p:spPr>
          <a:noFill/>
        </p:spPr>
        <p:txBody>
          <a:bodyPr/>
          <a:lstStyle/>
          <a:p>
            <a:endParaRPr lang="en-GB" dirty="0"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p:spPr>
        <p:txBody>
          <a:bodyPr/>
          <a:lstStyle/>
          <a:p>
            <a:fld id="{B684858B-9829-4509-B313-D7EFEB463667}" type="slidenum">
              <a:rPr lang="zh-TW" altLang="en-US">
                <a:latin typeface="Arial" panose="020B0604020202020204" pitchFamily="34" charset="0"/>
              </a:rPr>
            </a:fld>
            <a:endParaRPr lang="en-US" altLang="zh-TW">
              <a:latin typeface="Arial" panose="020B0604020202020204" pitchFamily="34" charset="0"/>
            </a:endParaRPr>
          </a:p>
        </p:txBody>
      </p:sp>
      <p:sp>
        <p:nvSpPr>
          <p:cNvPr id="37891" name="Rectangle 2"/>
          <p:cNvSpPr>
            <a:spLocks noGrp="1" noRot="1" noChangeAspect="1" noChangeArrowheads="1" noTextEdit="1"/>
          </p:cNvSpPr>
          <p:nvPr>
            <p:ph type="sldImg"/>
          </p:nvPr>
        </p:nvSpPr>
        <p:spPr/>
      </p:sp>
      <p:sp>
        <p:nvSpPr>
          <p:cNvPr id="37892" name="Rectangle 3"/>
          <p:cNvSpPr>
            <a:spLocks noGrp="1" noChangeArrowheads="1"/>
          </p:cNvSpPr>
          <p:nvPr>
            <p:ph type="body" idx="1"/>
          </p:nvPr>
        </p:nvSpPr>
        <p:spPr>
          <a:noFill/>
        </p:spPr>
        <p:txBody>
          <a:bodyPr/>
          <a:lstStyle/>
          <a:p>
            <a:endParaRPr lang="en-GB"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4DBDAC80-24B0-4D55-BDDC-3F54D123E87E}" type="slidenum">
              <a:rPr lang="zh-TW" altLang="en-US">
                <a:latin typeface="Arial" panose="020B0604020202020204" pitchFamily="34" charset="0"/>
              </a:rPr>
            </a:fld>
            <a:endParaRPr lang="en-US" altLang="zh-TW">
              <a:latin typeface="Arial" panose="020B0604020202020204" pitchFamily="34" charset="0"/>
            </a:endParaRPr>
          </a:p>
        </p:txBody>
      </p:sp>
      <p:sp>
        <p:nvSpPr>
          <p:cNvPr id="38915" name="Rectangle 2"/>
          <p:cNvSpPr>
            <a:spLocks noGrp="1" noRot="1" noChangeAspect="1" noChangeArrowheads="1" noTextEdit="1"/>
          </p:cNvSpPr>
          <p:nvPr>
            <p:ph type="sldImg"/>
          </p:nvPr>
        </p:nvSpPr>
        <p:spPr/>
      </p:sp>
      <p:sp>
        <p:nvSpPr>
          <p:cNvPr id="38916" name="Rectangle 3"/>
          <p:cNvSpPr>
            <a:spLocks noGrp="1" noChangeArrowheads="1"/>
          </p:cNvSpPr>
          <p:nvPr>
            <p:ph type="body" idx="1"/>
          </p:nvPr>
        </p:nvSpPr>
        <p:spPr>
          <a:noFill/>
        </p:spPr>
        <p:txBody>
          <a:bodyPr/>
          <a:lstStyle/>
          <a:p>
            <a:endParaRPr lang="en-GB"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p:spPr>
        <p:txBody>
          <a:bodyPr/>
          <a:lstStyle/>
          <a:p>
            <a:fld id="{E36E0717-6C47-4167-BCB2-1EFE7497CB52}" type="slidenum">
              <a:rPr lang="zh-TW" altLang="en-US">
                <a:latin typeface="Arial" panose="020B0604020202020204" pitchFamily="34" charset="0"/>
              </a:rPr>
            </a:fld>
            <a:endParaRPr lang="en-US" altLang="zh-TW">
              <a:latin typeface="Arial" panose="020B0604020202020204" pitchFamily="34" charset="0"/>
            </a:endParaRPr>
          </a:p>
        </p:txBody>
      </p:sp>
      <p:sp>
        <p:nvSpPr>
          <p:cNvPr id="39939" name="Rectangle 2"/>
          <p:cNvSpPr>
            <a:spLocks noGrp="1" noRot="1" noChangeAspect="1" noChangeArrowheads="1" noTextEdit="1"/>
          </p:cNvSpPr>
          <p:nvPr>
            <p:ph type="sldImg"/>
          </p:nvPr>
        </p:nvSpPr>
        <p:spPr/>
      </p:sp>
      <p:sp>
        <p:nvSpPr>
          <p:cNvPr id="39940" name="Rectangle 3"/>
          <p:cNvSpPr>
            <a:spLocks noGrp="1" noChangeArrowheads="1"/>
          </p:cNvSpPr>
          <p:nvPr>
            <p:ph type="body" idx="1"/>
          </p:nvPr>
        </p:nvSpPr>
        <p:spPr>
          <a:noFill/>
        </p:spPr>
        <p:txBody>
          <a:bodyPr/>
          <a:lstStyle/>
          <a:p>
            <a:endParaRPr lang="en-GB"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Numbers represented</a:t>
            </a:r>
            <a:r>
              <a:rPr lang="en-US" baseline="0" dirty="0" smtClean="0"/>
              <a:t> in decimal form….arithmetic was performed on decimal system.</a:t>
            </a:r>
            <a:endParaRPr lang="en-US" baseline="0" dirty="0" smtClean="0"/>
          </a:p>
          <a:p>
            <a:endParaRPr lang="en-US" dirty="0"/>
          </a:p>
        </p:txBody>
      </p:sp>
      <p:sp>
        <p:nvSpPr>
          <p:cNvPr id="4" name="Slide Number Placeholder 3"/>
          <p:cNvSpPr>
            <a:spLocks noGrp="1"/>
          </p:cNvSpPr>
          <p:nvPr>
            <p:ph type="sldNum" sz="quarter" idx="10"/>
          </p:nvPr>
        </p:nvSpPr>
        <p:spPr/>
        <p:txBody>
          <a:bodyPr/>
          <a:lstStyle/>
          <a:p>
            <a:fld id="{45EAD168-D66F-448C-AF62-A1AB1CFCCF85}" type="slidenum">
              <a:rPr lang="en-US" smtClean="0"/>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Use</a:t>
            </a:r>
            <a:r>
              <a:rPr lang="en-US" baseline="0" dirty="0" smtClean="0"/>
              <a:t> same way as </a:t>
            </a:r>
            <a:r>
              <a:rPr lang="en-US" baseline="0" dirty="0" err="1" smtClean="0"/>
              <a:t>vaccum</a:t>
            </a:r>
            <a:r>
              <a:rPr lang="en-US" baseline="0" dirty="0" smtClean="0"/>
              <a:t> tube to construct computer.</a:t>
            </a:r>
            <a:endParaRPr lang="en-US" dirty="0"/>
          </a:p>
        </p:txBody>
      </p:sp>
      <p:sp>
        <p:nvSpPr>
          <p:cNvPr id="4" name="Slide Number Placeholder 3"/>
          <p:cNvSpPr>
            <a:spLocks noGrp="1"/>
          </p:cNvSpPr>
          <p:nvPr>
            <p:ph type="sldNum" sz="quarter" idx="10"/>
          </p:nvPr>
        </p:nvSpPr>
        <p:spPr/>
        <p:txBody>
          <a:bodyPr/>
          <a:lstStyle/>
          <a:p>
            <a:fld id="{45EAD168-D66F-448C-AF62-A1AB1CFCCF85}"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smtClean="0"/>
              <a:t>Click to edit Master title style</a:t>
            </a:r>
            <a:endParaRPr kumimoji="0" lang="en-US"/>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5303B021-54FA-4243-9ADC-00856F04A3C7}" type="datetimeFigureOut">
              <a:rPr lang="en-US" smtClean="0"/>
            </a:fld>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682EFBE5-250A-49D9-8F67-2E0B4CEC9766}" type="slidenum">
              <a:rPr lang="en-US" smtClean="0"/>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5303B021-54FA-4243-9ADC-00856F04A3C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682EFBE5-250A-49D9-8F67-2E0B4CEC9766}" type="slidenum">
              <a:rPr lang="en-US" smtClean="0"/>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endParaRPr kumimoji="0" lang="en-US" smtClean="0"/>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smtClean="0"/>
              <a:t>Click to edit Master title style</a:t>
            </a:r>
            <a:endParaRPr kumimoji="0" lang="en-US"/>
          </a:p>
        </p:txBody>
      </p:sp>
      <p:sp>
        <p:nvSpPr>
          <p:cNvPr id="12" name="Date Placeholder 11"/>
          <p:cNvSpPr>
            <a:spLocks noGrp="1"/>
          </p:cNvSpPr>
          <p:nvPr>
            <p:ph type="dt" sz="half" idx="10"/>
          </p:nvPr>
        </p:nvSpPr>
        <p:spPr/>
        <p:txBody>
          <a:bodyPr/>
          <a:lstStyle/>
          <a:p>
            <a:fld id="{5303B021-54FA-4243-9ADC-00856F04A3C7}" type="datetimeFigureOut">
              <a:rPr lang="en-US" smtClean="0"/>
            </a:fld>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682EFBE5-250A-49D9-8F67-2E0B4CEC9766}" type="slidenum">
              <a:rPr lang="en-US" smtClean="0"/>
            </a:fld>
            <a:endParaRPr lang="en-US"/>
          </a:p>
        </p:txBody>
      </p:sp>
      <p:sp>
        <p:nvSpPr>
          <p:cNvPr id="14" name="Footer Placeholder 13"/>
          <p:cNvSpPr>
            <a:spLocks noGrp="1"/>
          </p:cNvSpPr>
          <p:nvPr>
            <p:ph type="ftr" sz="quarter" idx="12"/>
          </p:nvPr>
        </p:nvSpPr>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8" name="Date Placeholder 7"/>
          <p:cNvSpPr>
            <a:spLocks noGrp="1"/>
          </p:cNvSpPr>
          <p:nvPr>
            <p:ph type="dt" sz="half" idx="15"/>
          </p:nvPr>
        </p:nvSpPr>
        <p:spPr/>
        <p:txBody>
          <a:bodyPr rtlCol="0"/>
          <a:lstStyle/>
          <a:p>
            <a:fld id="{5303B021-54FA-4243-9ADC-00856F04A3C7}" type="datetimeFigureOut">
              <a:rPr lang="en-US" smtClean="0"/>
            </a:fld>
            <a:endParaRPr lang="en-US"/>
          </a:p>
        </p:txBody>
      </p:sp>
      <p:sp>
        <p:nvSpPr>
          <p:cNvPr id="10" name="Slide Number Placeholder 9"/>
          <p:cNvSpPr>
            <a:spLocks noGrp="1"/>
          </p:cNvSpPr>
          <p:nvPr>
            <p:ph type="sldNum" sz="quarter" idx="16"/>
          </p:nvPr>
        </p:nvSpPr>
        <p:spPr/>
        <p:txBody>
          <a:bodyPr rtlCol="0"/>
          <a:lstStyle/>
          <a:p>
            <a:fld id="{682EFBE5-250A-49D9-8F67-2E0B4CEC9766}" type="slidenum">
              <a:rPr lang="en-US" smtClean="0"/>
            </a:fld>
            <a:endParaRPr lang="en-US"/>
          </a:p>
        </p:txBody>
      </p:sp>
      <p:sp>
        <p:nvSpPr>
          <p:cNvPr id="12" name="Footer Placeholder 11"/>
          <p:cNvSpPr>
            <a:spLocks noGrp="1"/>
          </p:cNvSpPr>
          <p:nvPr>
            <p:ph type="ftr" sz="quarter" idx="17"/>
          </p:nvPr>
        </p:nvSpPr>
        <p:spPr/>
        <p:txBody>
          <a:bodyPr rtlCol="0"/>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smtClean="0"/>
              <a:t>Click to edit Master title style</a:t>
            </a:r>
            <a:endParaRPr kumimoji="0" lang="en-US"/>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10" name="Date Placeholder 9"/>
          <p:cNvSpPr>
            <a:spLocks noGrp="1"/>
          </p:cNvSpPr>
          <p:nvPr>
            <p:ph type="dt" sz="half" idx="15"/>
          </p:nvPr>
        </p:nvSpPr>
        <p:spPr/>
        <p:txBody>
          <a:bodyPr rtlCol="0"/>
          <a:lstStyle/>
          <a:p>
            <a:fld id="{5303B021-54FA-4243-9ADC-00856F04A3C7}" type="datetimeFigureOut">
              <a:rPr lang="en-US" smtClean="0"/>
            </a:fld>
            <a:endParaRPr lang="en-US"/>
          </a:p>
        </p:txBody>
      </p:sp>
      <p:sp>
        <p:nvSpPr>
          <p:cNvPr id="12" name="Slide Number Placeholder 11"/>
          <p:cNvSpPr>
            <a:spLocks noGrp="1"/>
          </p:cNvSpPr>
          <p:nvPr>
            <p:ph type="sldNum" sz="quarter" idx="16"/>
          </p:nvPr>
        </p:nvSpPr>
        <p:spPr/>
        <p:txBody>
          <a:bodyPr rtlCol="0"/>
          <a:lstStyle/>
          <a:p>
            <a:fld id="{682EFBE5-250A-49D9-8F67-2E0B4CEC9766}" type="slidenum">
              <a:rPr lang="en-US" smtClean="0"/>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endParaRPr kumimoji="0" lang="en-US" smtClean="0"/>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endParaRPr kumimoji="0" lang="en-US" smtClean="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5303B021-54FA-4243-9ADC-00856F04A3C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682EFBE5-250A-49D9-8F67-2E0B4CEC9766}"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3B021-54FA-4243-9ADC-00856F04A3C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682EFBE5-250A-49D9-8F67-2E0B4CEC9766}"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5303B021-54FA-4243-9ADC-00856F04A3C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682EFBE5-250A-49D9-8F67-2E0B4CEC9766}" type="slidenum">
              <a:rPr lang="en-US" smtClean="0"/>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endParaRPr kumimoji="0" lang="en-US" smtClean="0"/>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endParaRPr kumimoji="0" lang="en-US" smtClean="0"/>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smtClean="0"/>
              <a:t>Click to edit Master title style</a:t>
            </a:r>
            <a:endParaRPr kumimoji="0" lang="en-US"/>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5303B021-54FA-4243-9ADC-00856F04A3C7}" type="datetimeFigureOut">
              <a:rPr lang="en-US" smtClean="0"/>
            </a:fld>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682EFBE5-250A-49D9-8F67-2E0B4CEC9766}" type="slidenum">
              <a:rPr lang="en-US" smtClean="0"/>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smtClean="0"/>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303B021-54FA-4243-9ADC-00856F04A3C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2EFBE5-250A-49D9-8F67-2E0B4CEC9766}"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5303B021-54FA-4243-9ADC-00856F04A3C7}" type="datetimeFigureOut">
              <a:rPr lang="en-US" smtClean="0"/>
            </a:fld>
            <a:endParaRPr lang="en-US"/>
          </a:p>
        </p:txBody>
      </p:sp>
      <p:sp>
        <p:nvSpPr>
          <p:cNvPr id="5" name="Footer Placeholder 4"/>
          <p:cNvSpPr>
            <a:spLocks noGrp="1"/>
          </p:cNvSpPr>
          <p:nvPr>
            <p:ph type="ftr" sz="quarter" idx="11"/>
          </p:nvPr>
        </p:nvSpPr>
        <p:spPr>
          <a:xfrm>
            <a:off x="457201" y="6248207"/>
            <a:ext cx="5573483" cy="365125"/>
          </a:xfrm>
        </p:spPr>
        <p:txBody>
          <a:bodyPr/>
          <a:lstStyle/>
          <a:p>
            <a:endParaRPr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682EFBE5-250A-49D9-8F67-2E0B4CEC9766}" type="slidenum">
              <a:rPr lang="en-US" smtClean="0"/>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06400" y="152400"/>
            <a:ext cx="8204200" cy="973138"/>
          </a:xfrm>
        </p:spPr>
        <p:txBody>
          <a:bodyPr/>
          <a:lstStyle/>
          <a:p>
            <a:r>
              <a:rPr lang="en-US" smtClean="0"/>
              <a:t>Click to edit Master title style</a:t>
            </a:r>
            <a:endParaRPr lang="en-IN"/>
          </a:p>
        </p:txBody>
      </p:sp>
      <p:sp>
        <p:nvSpPr>
          <p:cNvPr id="3" name="Text Placeholder 2"/>
          <p:cNvSpPr>
            <a:spLocks noGrp="1"/>
          </p:cNvSpPr>
          <p:nvPr>
            <p:ph type="body" sz="half" idx="1"/>
          </p:nvPr>
        </p:nvSpPr>
        <p:spPr>
          <a:xfrm>
            <a:off x="395288" y="1268413"/>
            <a:ext cx="4297362" cy="5256212"/>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IN"/>
          </a:p>
        </p:txBody>
      </p:sp>
      <p:sp>
        <p:nvSpPr>
          <p:cNvPr id="4" name="Content Placeholder 3"/>
          <p:cNvSpPr>
            <a:spLocks noGrp="1"/>
          </p:cNvSpPr>
          <p:nvPr>
            <p:ph sz="half" idx="2"/>
          </p:nvPr>
        </p:nvSpPr>
        <p:spPr>
          <a:xfrm>
            <a:off x="4845050" y="1268413"/>
            <a:ext cx="4298950" cy="5256212"/>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I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clipArtAndTx">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smtClean="0"/>
              <a:t>Click to edit Master title style</a:t>
            </a:r>
            <a:endParaRPr lang="en-US"/>
          </a:p>
        </p:txBody>
      </p:sp>
      <p:sp>
        <p:nvSpPr>
          <p:cNvPr id="3" name="ClipArt Placeholder 2"/>
          <p:cNvSpPr>
            <a:spLocks noGrp="1"/>
          </p:cNvSpPr>
          <p:nvPr>
            <p:ph type="clipArt" sz="half" idx="1"/>
          </p:nvPr>
        </p:nvSpPr>
        <p:spPr>
          <a:xfrm>
            <a:off x="685800" y="1981200"/>
            <a:ext cx="3810000" cy="4114800"/>
          </a:xfrm>
        </p:spPr>
        <p:txBody>
          <a:bodyPr/>
          <a:lstStyle/>
          <a:p>
            <a:pPr lvl="0"/>
            <a:endParaRPr lang="en-US" noProof="0" smtClean="0"/>
          </a:p>
        </p:txBody>
      </p:sp>
      <p:sp>
        <p:nvSpPr>
          <p:cNvPr id="4" name="Text Placeholder 3"/>
          <p:cNvSpPr>
            <a:spLocks noGrp="1"/>
          </p:cNvSpPr>
          <p:nvPr>
            <p:ph type="body" sz="half" idx="2"/>
          </p:nvPr>
        </p:nvSpPr>
        <p:spPr>
          <a:xfrm>
            <a:off x="4648200" y="1981200"/>
            <a:ext cx="3810000" cy="41148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pPr>
              <a:defRPr/>
            </a:pPr>
            <a:fld id="{B36F786E-893A-4EEA-B65C-8DFC7556F7D6}" type="slidenum">
              <a:rPr lang="en-US"/>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85800" y="1981200"/>
            <a:ext cx="3810000" cy="41148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lipArt Placeholder 3"/>
          <p:cNvSpPr>
            <a:spLocks noGrp="1"/>
          </p:cNvSpPr>
          <p:nvPr>
            <p:ph type="clipArt" sz="half" idx="2"/>
          </p:nvPr>
        </p:nvSpPr>
        <p:spPr>
          <a:xfrm>
            <a:off x="4648200" y="1981200"/>
            <a:ext cx="3810000" cy="4114800"/>
          </a:xfrm>
        </p:spPr>
        <p:txBody>
          <a:bodyPr/>
          <a:lstStyle/>
          <a:p>
            <a:pPr lvl="0"/>
            <a:endParaRPr lang="en-US" noProof="0" smtClean="0"/>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pPr>
              <a:defRPr/>
            </a:pPr>
            <a:fld id="{33030358-9FA7-4053-8D5A-61A5650FB330}" type="slidenum">
              <a:rPr lang="en-US"/>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685800" y="1981200"/>
            <a:ext cx="7772400" cy="4114800"/>
          </a:xfrm>
        </p:spPr>
        <p:txBody>
          <a:bodyPr/>
          <a:lstStyle/>
          <a:p>
            <a:pPr lvl="0"/>
            <a:endParaRPr lang="en-US" noProof="0" smtClean="0"/>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7E4BA34B-C9A4-40B8-813B-A4C09C1112C0}"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smtClean="0"/>
              <a:t>Click to edit Master text styles</a:t>
            </a:r>
            <a:endParaRPr kumimoji="0" lang="en-US" smtClean="0"/>
          </a:p>
          <a:p>
            <a:pPr lvl="1" eaLnBrk="1" latinLnBrk="0" hangingPunct="1"/>
            <a:r>
              <a:rPr kumimoji="0" lang="en-US" smtClean="0"/>
              <a:t>Second level</a:t>
            </a:r>
            <a:endParaRPr kumimoji="0" lang="en-US" smtClean="0"/>
          </a:p>
          <a:p>
            <a:pPr lvl="2" eaLnBrk="1" latinLnBrk="0" hangingPunct="1"/>
            <a:r>
              <a:rPr kumimoji="0" lang="en-US" smtClean="0"/>
              <a:t>Third level</a:t>
            </a:r>
            <a:endParaRPr kumimoji="0" lang="en-US" smtClean="0"/>
          </a:p>
          <a:p>
            <a:pPr lvl="3" eaLnBrk="1" latinLnBrk="0" hangingPunct="1"/>
            <a:r>
              <a:rPr kumimoji="0" lang="en-US" smtClean="0"/>
              <a:t>Fourth level</a:t>
            </a:r>
            <a:endParaRPr kumimoji="0" lang="en-US" smtClean="0"/>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5303B021-54FA-4243-9ADC-00856F04A3C7}" type="datetimeFigureOut">
              <a:rPr lang="en-US" smtClean="0"/>
            </a:fld>
            <a:endParaRPr lang="en-US"/>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682EFBE5-250A-49D9-8F67-2E0B4CEC9766}"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panose="05000000000000000000"/>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panose="05020102010507070707"/>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panose="05000000000000000000"/>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panose="05000000000000000000"/>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panose="05000000000000000000"/>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panose="05000000000000000000"/>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panose="05000000000000000000"/>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panose="05000000000000000000"/>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panose="05000000000000000000"/>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6.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12.xml"/><Relationship Id="rId2" Type="http://schemas.openxmlformats.org/officeDocument/2006/relationships/image" Target="../media/image6.png"/><Relationship Id="rId1" Type="http://schemas.openxmlformats.org/officeDocument/2006/relationships/oleObject" Target="../embeddings/oleObject1.bin"/></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7.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image" Target="../media/image10.jpeg"/><Relationship Id="rId1" Type="http://schemas.openxmlformats.org/officeDocument/2006/relationships/image" Target="../media/image9.jpe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1.jpe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1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14.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5.jpe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6.png"/></Relationships>
</file>

<file path=ppt/slides/_rels/slide38.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15.xml"/><Relationship Id="rId2" Type="http://schemas.openxmlformats.org/officeDocument/2006/relationships/image" Target="../media/image17.emf"/><Relationship Id="rId1" Type="http://schemas.openxmlformats.org/officeDocument/2006/relationships/oleObject" Target="../embeddings/Document1.doc"/></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18.png"/><Relationship Id="rId1" Type="http://schemas.openxmlformats.org/officeDocument/2006/relationships/oleObject" Target="../embeddings/oleObject2.bin"/></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1.png"/><Relationship Id="rId1" Type="http://schemas.openxmlformats.org/officeDocument/2006/relationships/image" Target="../media/image20.pn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90600" y="1752600"/>
            <a:ext cx="7848600" cy="2057400"/>
          </a:xfrm>
        </p:spPr>
        <p:txBody>
          <a:bodyPr>
            <a:normAutofit/>
          </a:bodyPr>
          <a:lstStyle/>
          <a:p>
            <a:pPr algn="ctr"/>
            <a:r>
              <a:rPr lang="en-IN" sz="3200" dirty="0"/>
              <a:t>Organization and </a:t>
            </a:r>
            <a:r>
              <a:rPr lang="en-IN" sz="3200" dirty="0" smtClean="0"/>
              <a:t>Architecture,</a:t>
            </a:r>
            <a:br>
              <a:rPr lang="en-IN" sz="3200" dirty="0" smtClean="0"/>
            </a:br>
            <a:r>
              <a:rPr lang="en-IN" sz="3200" dirty="0"/>
              <a:t>Structure &amp; Function, </a:t>
            </a:r>
            <a:br>
              <a:rPr lang="en-IN" sz="3200" dirty="0" smtClean="0"/>
            </a:br>
            <a:r>
              <a:rPr lang="en-IN" sz="3200" dirty="0"/>
              <a:t>Brief History of </a:t>
            </a:r>
            <a:r>
              <a:rPr lang="en-IN" sz="3200" dirty="0" smtClean="0"/>
              <a:t>computers.</a:t>
            </a:r>
            <a:endParaRPr lang="en-US" sz="3200" dirty="0">
              <a:solidFill>
                <a:srgbClr val="92D050"/>
              </a:solidFill>
              <a:latin typeface="AR JULIAN" pitchFamily="2"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COA</a:t>
            </a:r>
            <a:endParaRPr lang="en-US" dirty="0"/>
          </a:p>
        </p:txBody>
      </p:sp>
      <p:sp>
        <p:nvSpPr>
          <p:cNvPr id="3" name="Content Placeholder 2"/>
          <p:cNvSpPr>
            <a:spLocks noGrp="1"/>
          </p:cNvSpPr>
          <p:nvPr>
            <p:ph sz="quarter" idx="1"/>
          </p:nvPr>
        </p:nvSpPr>
        <p:spPr/>
        <p:txBody>
          <a:bodyPr/>
          <a:lstStyle/>
          <a:p>
            <a:pPr marL="0" indent="0">
              <a:buNone/>
            </a:pPr>
            <a:r>
              <a:rPr lang="en-US" dirty="0" smtClean="0"/>
              <a:t>COA basically gives us a very fundamental understanding of how things works in computers..</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609600"/>
            <a:ext cx="8153400" cy="609600"/>
          </a:xfrm>
        </p:spPr>
        <p:txBody>
          <a:bodyPr>
            <a:normAutofit fontScale="90000"/>
          </a:bodyPr>
          <a:lstStyle/>
          <a:p>
            <a:r>
              <a:rPr lang="en-US" b="1" dirty="0" smtClean="0"/>
              <a:t>Definitions.. </a:t>
            </a:r>
            <a:br>
              <a:rPr lang="en-US" b="1" dirty="0" smtClean="0"/>
            </a:br>
            <a:endParaRPr lang="en-US" dirty="0"/>
          </a:p>
        </p:txBody>
      </p:sp>
      <p:sp>
        <p:nvSpPr>
          <p:cNvPr id="3" name="Content Placeholder 2"/>
          <p:cNvSpPr>
            <a:spLocks noGrp="1"/>
          </p:cNvSpPr>
          <p:nvPr>
            <p:ph sz="quarter" idx="1"/>
          </p:nvPr>
        </p:nvSpPr>
        <p:spPr>
          <a:xfrm>
            <a:off x="612648" y="1752600"/>
            <a:ext cx="8153400" cy="4343400"/>
          </a:xfrm>
        </p:spPr>
        <p:txBody>
          <a:bodyPr/>
          <a:lstStyle/>
          <a:p>
            <a:pPr marL="0" indent="0" algn="just">
              <a:buNone/>
            </a:pPr>
            <a:r>
              <a:rPr lang="en-US" sz="2600" b="1" dirty="0" smtClean="0"/>
              <a:t>Computer </a:t>
            </a:r>
            <a:r>
              <a:rPr lang="en-US" sz="2600" b="1" dirty="0"/>
              <a:t>Architecture </a:t>
            </a:r>
            <a:r>
              <a:rPr lang="en-US" sz="2600" dirty="0" smtClean="0"/>
              <a:t>– is the abstract model &amp; are those attributes which are visible to programmer like instruction sets</a:t>
            </a:r>
            <a:r>
              <a:rPr lang="en-US" sz="2600" dirty="0" smtClean="0"/>
              <a:t>, no </a:t>
            </a:r>
            <a:r>
              <a:rPr lang="en-US" sz="2600" dirty="0" smtClean="0"/>
              <a:t>of bits used </a:t>
            </a:r>
            <a:r>
              <a:rPr lang="en-US" sz="2600" dirty="0" smtClean="0"/>
              <a:t>for data addressing </a:t>
            </a:r>
            <a:r>
              <a:rPr lang="en-US" sz="2600" dirty="0" smtClean="0"/>
              <a:t>techniques.</a:t>
            </a:r>
            <a:endParaRPr lang="en-US" sz="2600" dirty="0" smtClean="0"/>
          </a:p>
          <a:p>
            <a:pPr marL="0" indent="0" algn="just">
              <a:buNone/>
            </a:pPr>
            <a:r>
              <a:rPr lang="en-US" sz="2600" dirty="0" smtClean="0"/>
              <a:t>i.e</a:t>
            </a:r>
            <a:r>
              <a:rPr lang="en-US" sz="2600" dirty="0" smtClean="0"/>
              <a:t>. abstract, programmer </a:t>
            </a:r>
            <a:r>
              <a:rPr lang="en-US" sz="2600" dirty="0" smtClean="0"/>
              <a:t>view.</a:t>
            </a:r>
            <a:endParaRPr lang="en-US" sz="2600" dirty="0" smtClean="0"/>
          </a:p>
          <a:p>
            <a:pPr marL="0" indent="0" algn="just">
              <a:buNone/>
            </a:pPr>
            <a:endParaRPr lang="en-US" sz="2600" dirty="0"/>
          </a:p>
          <a:p>
            <a:pPr marL="0" indent="0" algn="just">
              <a:buNone/>
            </a:pPr>
            <a:r>
              <a:rPr lang="en-US" sz="2600" b="1" dirty="0"/>
              <a:t>Computer </a:t>
            </a:r>
            <a:r>
              <a:rPr lang="en-US" sz="2600" b="1" dirty="0" smtClean="0"/>
              <a:t>Organization </a:t>
            </a:r>
            <a:r>
              <a:rPr lang="en-US" sz="2600" dirty="0" smtClean="0"/>
              <a:t>– expresses the realization of the architecture like ALU</a:t>
            </a:r>
            <a:r>
              <a:rPr lang="en-US" sz="2600" dirty="0" smtClean="0"/>
              <a:t>, CPU, memory </a:t>
            </a:r>
            <a:r>
              <a:rPr lang="en-US" sz="2600" dirty="0" smtClean="0"/>
              <a:t>&amp; memory organization.</a:t>
            </a:r>
            <a:endParaRPr lang="en-US" sz="2600" dirty="0" smtClean="0"/>
          </a:p>
          <a:p>
            <a:pPr marL="0" indent="0" algn="just">
              <a:buNone/>
            </a:pPr>
            <a:r>
              <a:rPr lang="en-US" sz="2600" dirty="0" smtClean="0"/>
              <a:t>i.e. physical &amp; visible</a:t>
            </a:r>
            <a:endParaRPr lang="en-US" sz="2600" dirty="0"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sz="quarter" idx="1"/>
          </p:nvPr>
        </p:nvSpPr>
        <p:spPr/>
        <p:txBody>
          <a:bodyPr/>
          <a:lstStyle/>
          <a:p>
            <a:pPr marL="0" indent="0" algn="just">
              <a:buNone/>
            </a:pPr>
            <a:r>
              <a:rPr lang="en-US" dirty="0" smtClean="0"/>
              <a:t>1.Suppose you are in company that manufactures cars</a:t>
            </a:r>
            <a:r>
              <a:rPr lang="en-US" dirty="0" smtClean="0"/>
              <a:t>, design </a:t>
            </a:r>
            <a:r>
              <a:rPr lang="en-US" dirty="0" smtClean="0"/>
              <a:t>&amp; all low level details of the car come under computer architecture</a:t>
            </a:r>
            <a:r>
              <a:rPr lang="en-US" dirty="0" smtClean="0"/>
              <a:t>, while </a:t>
            </a:r>
            <a:r>
              <a:rPr lang="en-US" dirty="0" smtClean="0"/>
              <a:t>making its part piece by piece &amp; connecting together the different components of that car by keeping the basic design in mind comes under computer organization.</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sz="quarter" idx="1"/>
          </p:nvPr>
        </p:nvSpPr>
        <p:spPr/>
        <p:txBody>
          <a:bodyPr/>
          <a:lstStyle/>
          <a:p>
            <a:pPr marL="0" indent="0">
              <a:buNone/>
            </a:pPr>
            <a:r>
              <a:rPr lang="en-US" dirty="0" smtClean="0"/>
              <a:t>2.Both Intel &amp; AMD processors have the same x86 architecture, but how the two companies implement that architecture is usually very different. The same program runs on both because the architecture is same but they may run at different speeds because the organization are different.</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915400" cy="990600"/>
          </a:xfrm>
        </p:spPr>
        <p:txBody>
          <a:bodyPr>
            <a:normAutofit fontScale="90000"/>
          </a:bodyPr>
          <a:lstStyle/>
          <a:p>
            <a:r>
              <a:rPr lang="en-US" dirty="0" smtClean="0"/>
              <a:t>Computer organization and architecture</a:t>
            </a:r>
            <a:endParaRPr lang="en-US" dirty="0"/>
          </a:p>
        </p:txBody>
      </p:sp>
      <p:sp>
        <p:nvSpPr>
          <p:cNvPr id="3" name="Content Placeholder 2"/>
          <p:cNvSpPr>
            <a:spLocks noGrp="1"/>
          </p:cNvSpPr>
          <p:nvPr>
            <p:ph sz="quarter" idx="1"/>
          </p:nvPr>
        </p:nvSpPr>
        <p:spPr>
          <a:xfrm>
            <a:off x="612648" y="1600200"/>
            <a:ext cx="8153400" cy="4648200"/>
          </a:xfrm>
        </p:spPr>
        <p:txBody>
          <a:bodyPr>
            <a:normAutofit fontScale="85000" lnSpcReduction="10000"/>
          </a:bodyPr>
          <a:lstStyle/>
          <a:p>
            <a:pPr algn="just"/>
            <a:r>
              <a:rPr lang="en-US" dirty="0" smtClean="0">
                <a:solidFill>
                  <a:srgbClr val="FF0000"/>
                </a:solidFill>
              </a:rPr>
              <a:t>Computer architecture </a:t>
            </a:r>
            <a:r>
              <a:rPr lang="en-US" dirty="0" smtClean="0"/>
              <a:t>refers to those attributes of a system visible to a programmer or put another way, those attributes that have direct impact on the logical execution of a program.</a:t>
            </a:r>
            <a:endParaRPr lang="en-US" dirty="0" smtClean="0"/>
          </a:p>
          <a:p>
            <a:pPr algn="just"/>
            <a:r>
              <a:rPr lang="en-US" dirty="0" smtClean="0">
                <a:solidFill>
                  <a:srgbClr val="FF0000"/>
                </a:solidFill>
              </a:rPr>
              <a:t>Architectural attributes: </a:t>
            </a:r>
            <a:r>
              <a:rPr lang="en-US" dirty="0" smtClean="0"/>
              <a:t>Instruction sets, Bits used to represent data, I/O Mechanisms</a:t>
            </a:r>
            <a:endParaRPr lang="en-US" dirty="0" smtClean="0"/>
          </a:p>
          <a:p>
            <a:pPr algn="just"/>
            <a:endParaRPr lang="en-US" dirty="0" smtClean="0">
              <a:solidFill>
                <a:srgbClr val="FF0000"/>
              </a:solidFill>
            </a:endParaRPr>
          </a:p>
          <a:p>
            <a:pPr algn="just"/>
            <a:r>
              <a:rPr lang="en-US" dirty="0" smtClean="0">
                <a:solidFill>
                  <a:srgbClr val="FF0000"/>
                </a:solidFill>
              </a:rPr>
              <a:t>Computer organization </a:t>
            </a:r>
            <a:r>
              <a:rPr lang="en-US" dirty="0" smtClean="0"/>
              <a:t>refers to the operational units and their interconnections that realize the architectural specification.</a:t>
            </a:r>
            <a:endParaRPr lang="en-US" dirty="0" smtClean="0"/>
          </a:p>
          <a:p>
            <a:pPr algn="just"/>
            <a:r>
              <a:rPr lang="en-US" dirty="0" smtClean="0">
                <a:solidFill>
                  <a:srgbClr val="FF0000"/>
                </a:solidFill>
              </a:rPr>
              <a:t>Organizational Attributes: </a:t>
            </a:r>
            <a:r>
              <a:rPr lang="en-US" dirty="0" smtClean="0"/>
              <a:t>Control signals, memory technology, Interfaces between computer and peripherals.</a:t>
            </a:r>
            <a:endParaRPr lang="en-US" dirty="0" smtClean="0"/>
          </a:p>
          <a:p>
            <a:endParaRPr lang="en-US" dirty="0" smtClean="0"/>
          </a:p>
          <a:p>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Cont..</a:t>
            </a:r>
            <a:endParaRPr lang="en-IN" dirty="0"/>
          </a:p>
        </p:txBody>
      </p:sp>
      <p:sp>
        <p:nvSpPr>
          <p:cNvPr id="3" name="Content Placeholder 2"/>
          <p:cNvSpPr>
            <a:spLocks noGrp="1"/>
          </p:cNvSpPr>
          <p:nvPr>
            <p:ph sz="quarter" idx="1"/>
          </p:nvPr>
        </p:nvSpPr>
        <p:spPr>
          <a:xfrm>
            <a:off x="609600" y="1371600"/>
            <a:ext cx="8153400" cy="4495800"/>
          </a:xfrm>
        </p:spPr>
        <p:txBody>
          <a:bodyPr>
            <a:normAutofit/>
          </a:bodyPr>
          <a:lstStyle/>
          <a:p>
            <a:pPr algn="just"/>
            <a:r>
              <a:rPr lang="en-IN" sz="2600" b="1" dirty="0" smtClean="0"/>
              <a:t>Computer organization</a:t>
            </a:r>
            <a:r>
              <a:rPr lang="en-IN" sz="2600" dirty="0" smtClean="0"/>
              <a:t> refers to the operational units and their interconnection that realize the architecture specification.</a:t>
            </a:r>
            <a:endParaRPr lang="en-IN" sz="2600" dirty="0"/>
          </a:p>
        </p:txBody>
      </p:sp>
      <p:sp>
        <p:nvSpPr>
          <p:cNvPr id="66562" name="AutoShape 2" descr="Image result for computer organization definition"/>
          <p:cNvSpPr>
            <a:spLocks noChangeAspect="1" noChangeArrowheads="1"/>
          </p:cNvSpPr>
          <p:nvPr/>
        </p:nvSpPr>
        <p:spPr bwMode="auto">
          <a:xfrm>
            <a:off x="155575" y="-731838"/>
            <a:ext cx="1971675" cy="1524001"/>
          </a:xfrm>
          <a:prstGeom prst="rect">
            <a:avLst/>
          </a:prstGeom>
          <a:noFill/>
        </p:spPr>
        <p:txBody>
          <a:bodyPr vert="horz" wrap="square" lIns="91440" tIns="45720" rIns="91440" bIns="45720" numCol="1" anchor="t" anchorCtr="0" compatLnSpc="1"/>
          <a:lstStyle/>
          <a:p>
            <a:endParaRPr lang="en-IN"/>
          </a:p>
        </p:txBody>
      </p:sp>
      <p:sp>
        <p:nvSpPr>
          <p:cNvPr id="66564" name="AutoShape 4" descr="Image result for computer organization definition"/>
          <p:cNvSpPr>
            <a:spLocks noChangeAspect="1" noChangeArrowheads="1"/>
          </p:cNvSpPr>
          <p:nvPr/>
        </p:nvSpPr>
        <p:spPr bwMode="auto">
          <a:xfrm>
            <a:off x="155575" y="-731838"/>
            <a:ext cx="1971675" cy="1524001"/>
          </a:xfrm>
          <a:prstGeom prst="rect">
            <a:avLst/>
          </a:prstGeom>
          <a:noFill/>
        </p:spPr>
        <p:txBody>
          <a:bodyPr vert="horz" wrap="square" lIns="91440" tIns="45720" rIns="91440" bIns="45720" numCol="1" anchor="t" anchorCtr="0" compatLnSpc="1"/>
          <a:lstStyle/>
          <a:p>
            <a:endParaRPr lang="en-IN"/>
          </a:p>
        </p:txBody>
      </p:sp>
      <p:sp>
        <p:nvSpPr>
          <p:cNvPr id="66566" name="AutoShape 6" descr="Image result for computer organization definition"/>
          <p:cNvSpPr>
            <a:spLocks noChangeAspect="1" noChangeArrowheads="1"/>
          </p:cNvSpPr>
          <p:nvPr/>
        </p:nvSpPr>
        <p:spPr bwMode="auto">
          <a:xfrm>
            <a:off x="155575" y="-731838"/>
            <a:ext cx="1971675" cy="1524001"/>
          </a:xfrm>
          <a:prstGeom prst="rect">
            <a:avLst/>
          </a:prstGeom>
          <a:noFill/>
        </p:spPr>
        <p:txBody>
          <a:bodyPr vert="horz" wrap="square" lIns="91440" tIns="45720" rIns="91440" bIns="45720" numCol="1" anchor="t" anchorCtr="0" compatLnSpc="1"/>
          <a:lstStyle/>
          <a:p>
            <a:endParaRPr lang="en-IN"/>
          </a:p>
        </p:txBody>
      </p:sp>
      <p:pic>
        <p:nvPicPr>
          <p:cNvPr id="66568" name="Picture 8" descr="http://cnx.org/resources/437d13fc7281d5364d5f7985a0d16e1b1d1f576b/graphics5.jpg"/>
          <p:cNvPicPr>
            <a:picLocks noChangeAspect="1" noChangeArrowheads="1"/>
          </p:cNvPicPr>
          <p:nvPr/>
        </p:nvPicPr>
        <p:blipFill>
          <a:blip r:embed="rId1" cstate="print"/>
          <a:srcRect/>
          <a:stretch>
            <a:fillRect/>
          </a:stretch>
        </p:blipFill>
        <p:spPr bwMode="auto">
          <a:xfrm>
            <a:off x="1219200" y="2809875"/>
            <a:ext cx="7162800" cy="4048125"/>
          </a:xfrm>
          <a:prstGeom prst="rect">
            <a:avLst/>
          </a:prstGeom>
          <a:noFill/>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Cont..</a:t>
            </a:r>
            <a:endParaRPr lang="en-IN" dirty="0"/>
          </a:p>
        </p:txBody>
      </p:sp>
      <p:sp>
        <p:nvSpPr>
          <p:cNvPr id="3" name="Content Placeholder 2"/>
          <p:cNvSpPr>
            <a:spLocks noGrp="1"/>
          </p:cNvSpPr>
          <p:nvPr>
            <p:ph sz="quarter" idx="1"/>
          </p:nvPr>
        </p:nvSpPr>
        <p:spPr/>
        <p:txBody>
          <a:bodyPr/>
          <a:lstStyle/>
          <a:p>
            <a:pPr algn="just"/>
            <a:r>
              <a:rPr lang="en-IN" dirty="0" smtClean="0"/>
              <a:t>In </a:t>
            </a:r>
            <a:r>
              <a:rPr lang="en-IN" i="1" dirty="0" smtClean="0"/>
              <a:t>computer</a:t>
            </a:r>
            <a:r>
              <a:rPr lang="en-IN" dirty="0" smtClean="0"/>
              <a:t> engineering, </a:t>
            </a:r>
            <a:r>
              <a:rPr lang="en-IN" i="1" dirty="0" smtClean="0"/>
              <a:t>computer architecture</a:t>
            </a:r>
            <a:r>
              <a:rPr lang="en-IN" dirty="0" smtClean="0"/>
              <a:t> is a set of rules and methods that describe the functionality, organization, and implementation of </a:t>
            </a:r>
            <a:r>
              <a:rPr lang="en-IN" i="1" dirty="0" smtClean="0"/>
              <a:t>computer</a:t>
            </a:r>
            <a:r>
              <a:rPr lang="en-IN" dirty="0" smtClean="0"/>
              <a:t> systems. </a:t>
            </a:r>
            <a:endParaRPr lang="en-IN" dirty="0" smtClean="0"/>
          </a:p>
          <a:p>
            <a:pPr algn="just"/>
            <a:endParaRPr lang="en-IN" dirty="0" smtClean="0"/>
          </a:p>
          <a:p>
            <a:pPr algn="just"/>
            <a:r>
              <a:rPr lang="en-IN" dirty="0" smtClean="0"/>
              <a:t>Some </a:t>
            </a:r>
            <a:r>
              <a:rPr lang="en-IN" i="1" dirty="0" smtClean="0"/>
              <a:t>definitions</a:t>
            </a:r>
            <a:r>
              <a:rPr lang="en-IN" dirty="0" smtClean="0"/>
              <a:t> of </a:t>
            </a:r>
            <a:r>
              <a:rPr lang="en-IN" i="1" dirty="0" smtClean="0"/>
              <a:t>architecture define</a:t>
            </a:r>
            <a:r>
              <a:rPr lang="en-IN" dirty="0" smtClean="0"/>
              <a:t> it as describing the capabilities and programming model of a </a:t>
            </a:r>
            <a:r>
              <a:rPr lang="en-IN" i="1" dirty="0" smtClean="0"/>
              <a:t>computer</a:t>
            </a:r>
            <a:r>
              <a:rPr lang="en-IN" dirty="0" smtClean="0"/>
              <a:t> but not a particular implementation.</a:t>
            </a:r>
            <a:endParaRPr lang="en-IN"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685800"/>
            <a:ext cx="8153400" cy="609600"/>
          </a:xfrm>
        </p:spPr>
        <p:txBody>
          <a:bodyPr>
            <a:normAutofit fontScale="90000"/>
          </a:bodyPr>
          <a:lstStyle/>
          <a:p>
            <a:pPr algn="ctr"/>
            <a:r>
              <a:rPr lang="en-US" dirty="0" smtClean="0"/>
              <a:t>Structure and function</a:t>
            </a:r>
            <a:br>
              <a:rPr lang="en-US" dirty="0" smtClean="0"/>
            </a:br>
            <a:endParaRPr lang="en-US" dirty="0"/>
          </a:p>
        </p:txBody>
      </p:sp>
      <p:sp>
        <p:nvSpPr>
          <p:cNvPr id="3" name="Content Placeholder 2"/>
          <p:cNvSpPr>
            <a:spLocks noGrp="1"/>
          </p:cNvSpPr>
          <p:nvPr>
            <p:ph sz="quarter" idx="1"/>
          </p:nvPr>
        </p:nvSpPr>
        <p:spPr/>
        <p:txBody>
          <a:bodyPr/>
          <a:lstStyle/>
          <a:p>
            <a:pPr algn="just"/>
            <a:r>
              <a:rPr lang="en-GB" sz="2600" dirty="0" smtClean="0"/>
              <a:t>Computer is a complex system.</a:t>
            </a:r>
            <a:endParaRPr lang="en-GB" sz="2600" dirty="0" smtClean="0"/>
          </a:p>
          <a:p>
            <a:pPr algn="just"/>
            <a:r>
              <a:rPr lang="en-US" sz="2600" dirty="0" smtClean="0"/>
              <a:t>At each level of hierarchy, designer is concerned with structure and function.</a:t>
            </a:r>
            <a:endParaRPr lang="en-GB" sz="2600" dirty="0" smtClean="0"/>
          </a:p>
          <a:p>
            <a:pPr algn="just"/>
            <a:r>
              <a:rPr lang="en-GB" sz="2600" dirty="0" smtClean="0"/>
              <a:t>Structure is the way in which components are </a:t>
            </a:r>
            <a:r>
              <a:rPr lang="en-GB" sz="2600" dirty="0" smtClean="0">
                <a:solidFill>
                  <a:srgbClr val="FF0000"/>
                </a:solidFill>
              </a:rPr>
              <a:t>interrelated to each other</a:t>
            </a:r>
            <a:endParaRPr lang="en-GB" sz="2600" dirty="0" smtClean="0">
              <a:solidFill>
                <a:srgbClr val="FF0000"/>
              </a:solidFill>
            </a:endParaRPr>
          </a:p>
          <a:p>
            <a:pPr algn="just"/>
            <a:r>
              <a:rPr lang="en-GB" sz="2600" dirty="0" smtClean="0"/>
              <a:t>Function is the operation of individual components as </a:t>
            </a:r>
            <a:r>
              <a:rPr lang="en-GB" sz="2600" dirty="0" smtClean="0">
                <a:solidFill>
                  <a:srgbClr val="FF0000"/>
                </a:solidFill>
              </a:rPr>
              <a:t>part of the structure</a:t>
            </a:r>
            <a:endParaRPr lang="en-GB" sz="2600" dirty="0" smtClean="0"/>
          </a:p>
          <a:p>
            <a:pPr algn="just"/>
            <a:r>
              <a:rPr lang="en-GB" sz="2600" dirty="0" smtClean="0"/>
              <a:t>We have two choices – bottom to top</a:t>
            </a:r>
            <a:endParaRPr lang="en-GB" sz="2600" dirty="0" smtClean="0"/>
          </a:p>
          <a:p>
            <a:pPr marL="0" indent="0" algn="just">
              <a:buNone/>
            </a:pPr>
            <a:r>
              <a:rPr lang="en-GB" sz="2600" dirty="0"/>
              <a:t> </a:t>
            </a:r>
            <a:r>
              <a:rPr lang="en-GB" sz="2600" dirty="0" smtClean="0"/>
              <a:t>                                   - top to bottom</a:t>
            </a:r>
            <a:endParaRPr lang="en-GB" sz="2600" dirty="0" smtClean="0"/>
          </a:p>
          <a:p>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GB" smtClean="0"/>
              <a:t>Function</a:t>
            </a:r>
            <a:endParaRPr lang="en-GB" smtClean="0"/>
          </a:p>
        </p:txBody>
      </p:sp>
      <p:sp>
        <p:nvSpPr>
          <p:cNvPr id="15363" name="Rectangle 3"/>
          <p:cNvSpPr>
            <a:spLocks noGrp="1" noChangeArrowheads="1"/>
          </p:cNvSpPr>
          <p:nvPr>
            <p:ph type="body" idx="1"/>
          </p:nvPr>
        </p:nvSpPr>
        <p:spPr>
          <a:xfrm>
            <a:off x="612648" y="1600200"/>
            <a:ext cx="8153400" cy="5105400"/>
          </a:xfrm>
        </p:spPr>
        <p:txBody>
          <a:bodyPr>
            <a:normAutofit/>
          </a:bodyPr>
          <a:lstStyle/>
          <a:p>
            <a:pPr>
              <a:lnSpc>
                <a:spcPct val="150000"/>
              </a:lnSpc>
            </a:pPr>
            <a:r>
              <a:rPr lang="en-GB" sz="2800" dirty="0" smtClean="0"/>
              <a:t>Computer functions are:</a:t>
            </a:r>
            <a:endParaRPr lang="en-GB" sz="2800" dirty="0" smtClean="0"/>
          </a:p>
          <a:p>
            <a:pPr lvl="1">
              <a:lnSpc>
                <a:spcPct val="150000"/>
              </a:lnSpc>
            </a:pPr>
            <a:r>
              <a:rPr lang="en-GB" sz="2400" dirty="0" smtClean="0"/>
              <a:t>Data processing</a:t>
            </a:r>
            <a:endParaRPr lang="en-GB" sz="2400" dirty="0" smtClean="0"/>
          </a:p>
          <a:p>
            <a:pPr lvl="1">
              <a:lnSpc>
                <a:spcPct val="150000"/>
              </a:lnSpc>
            </a:pPr>
            <a:r>
              <a:rPr lang="en-GB" sz="2400" dirty="0" smtClean="0"/>
              <a:t>Data storage</a:t>
            </a:r>
            <a:endParaRPr lang="en-GB" sz="2400" dirty="0" smtClean="0"/>
          </a:p>
          <a:p>
            <a:pPr lvl="1">
              <a:lnSpc>
                <a:spcPct val="150000"/>
              </a:lnSpc>
            </a:pPr>
            <a:r>
              <a:rPr lang="en-GB" sz="2400" dirty="0" smtClean="0"/>
              <a:t>Data movement</a:t>
            </a:r>
            <a:endParaRPr lang="en-GB" sz="2400" dirty="0" smtClean="0"/>
          </a:p>
          <a:p>
            <a:pPr lvl="1">
              <a:lnSpc>
                <a:spcPct val="150000"/>
              </a:lnSpc>
            </a:pPr>
            <a:r>
              <a:rPr lang="en-GB" sz="2400" dirty="0" smtClean="0"/>
              <a:t>Control Mechanism </a:t>
            </a:r>
            <a:endParaRPr lang="en-GB" sz="2400" dirty="0" smtClean="0"/>
          </a:p>
        </p:txBody>
      </p:sp>
      <p:pic>
        <p:nvPicPr>
          <p:cNvPr id="15364" name="Picture 0"/>
          <p:cNvPicPr>
            <a:picLocks noChangeAspect="1" noChangeArrowheads="1"/>
          </p:cNvPicPr>
          <p:nvPr/>
        </p:nvPicPr>
        <p:blipFill>
          <a:blip r:embed="rId1" cstate="print"/>
          <a:srcRect l="25031" t="11363" r="23865" b="17046"/>
          <a:stretch>
            <a:fillRect/>
          </a:stretch>
        </p:blipFill>
        <p:spPr bwMode="auto">
          <a:xfrm>
            <a:off x="4876800" y="1752600"/>
            <a:ext cx="3962399" cy="4572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406400" y="152400"/>
            <a:ext cx="8737600" cy="973138"/>
          </a:xfrm>
          <a:noFill/>
        </p:spPr>
        <p:txBody>
          <a:bodyPr>
            <a:normAutofit fontScale="90000"/>
          </a:bodyPr>
          <a:lstStyle/>
          <a:p>
            <a:pPr algn="ctr"/>
            <a:r>
              <a:rPr lang="en-GB" dirty="0" smtClean="0"/>
              <a:t>Operation: Data Processing from/to storage</a:t>
            </a:r>
            <a:r>
              <a:rPr lang="en-GB" sz="2800" dirty="0" smtClean="0">
                <a:latin typeface="Arial" panose="020B0604020202020204" pitchFamily="34" charset="0"/>
              </a:rPr>
              <a:t> </a:t>
            </a:r>
            <a:endParaRPr lang="en-GB" sz="2800" dirty="0" smtClean="0">
              <a:latin typeface="Arial" panose="020B0604020202020204" pitchFamily="34" charset="0"/>
            </a:endParaRPr>
          </a:p>
        </p:txBody>
      </p:sp>
      <p:pic>
        <p:nvPicPr>
          <p:cNvPr id="18435" name="Picture 61"/>
          <p:cNvPicPr>
            <a:picLocks noChangeAspect="1" noChangeArrowheads="1"/>
          </p:cNvPicPr>
          <p:nvPr/>
        </p:nvPicPr>
        <p:blipFill>
          <a:blip r:embed="rId1" cstate="print"/>
          <a:srcRect l="8772" t="50000" r="52945" b="13637"/>
          <a:stretch>
            <a:fillRect/>
          </a:stretch>
        </p:blipFill>
        <p:spPr bwMode="auto">
          <a:xfrm>
            <a:off x="5181600" y="1828800"/>
            <a:ext cx="3657600" cy="4572000"/>
          </a:xfrm>
          <a:prstGeom prst="rect">
            <a:avLst/>
          </a:prstGeom>
          <a:noFill/>
          <a:ln w="9525">
            <a:noFill/>
            <a:miter lim="800000"/>
            <a:headEnd/>
            <a:tailEnd/>
          </a:ln>
        </p:spPr>
      </p:pic>
      <p:sp>
        <p:nvSpPr>
          <p:cNvPr id="4" name="Rectangle 3"/>
          <p:cNvSpPr txBox="1">
            <a:spLocks noChangeArrowheads="1"/>
          </p:cNvSpPr>
          <p:nvPr/>
        </p:nvSpPr>
        <p:spPr>
          <a:xfrm>
            <a:off x="612648" y="1600200"/>
            <a:ext cx="4492752" cy="4495800"/>
          </a:xfrm>
          <a:prstGeom prst="rect">
            <a:avLst/>
          </a:prstGeom>
        </p:spPr>
        <p:txBody>
          <a:bodyPr vert="horz">
            <a:normAutofit/>
          </a:bodyPr>
          <a:lstStyle/>
          <a:p>
            <a:pPr marL="320040" marR="0" lvl="0" indent="-320040" algn="just" defTabSz="914400" rtl="0" eaLnBrk="1" fontAlgn="auto" latinLnBrk="0" hangingPunct="1">
              <a:lnSpc>
                <a:spcPct val="100000"/>
              </a:lnSpc>
              <a:spcBef>
                <a:spcPts val="700"/>
              </a:spcBef>
              <a:spcAft>
                <a:spcPts val="0"/>
              </a:spcAft>
              <a:buClr>
                <a:schemeClr val="accent2"/>
              </a:buClr>
              <a:buSzPct val="60000"/>
              <a:buFont typeface="Wingdings" panose="05000000000000000000"/>
              <a:buChar char=""/>
              <a:defRPr/>
            </a:pPr>
            <a:r>
              <a:rPr kumimoji="0" lang="en-GB" sz="2400" b="1" i="0" u="none" strike="noStrike" kern="1200" cap="none" spc="0" normalizeH="0" baseline="0" noProof="0" dirty="0" smtClean="0">
                <a:ln>
                  <a:noFill/>
                </a:ln>
                <a:solidFill>
                  <a:schemeClr val="tx1"/>
                </a:solidFill>
                <a:effectLst/>
                <a:uLnTx/>
                <a:uFillTx/>
                <a:latin typeface="+mn-lt"/>
                <a:ea typeface="+mn-ea"/>
                <a:cs typeface="+mn-cs"/>
              </a:rPr>
              <a:t>Data Processing:</a:t>
            </a:r>
            <a:endParaRPr kumimoji="0" lang="en-GB" sz="2400" b="1" i="0" u="none" strike="noStrike" kern="1200" cap="none" spc="0" normalizeH="0" baseline="0" noProof="0" dirty="0" smtClean="0">
              <a:ln>
                <a:noFill/>
              </a:ln>
              <a:solidFill>
                <a:schemeClr val="tx1"/>
              </a:solidFill>
              <a:effectLst/>
              <a:uLnTx/>
              <a:uFillTx/>
              <a:latin typeface="+mn-lt"/>
              <a:ea typeface="+mn-ea"/>
              <a:cs typeface="+mn-cs"/>
            </a:endParaRPr>
          </a:p>
          <a:p>
            <a:pPr marL="320040" marR="0" lvl="0" indent="-320040" algn="just" defTabSz="914400" rtl="0" eaLnBrk="1" fontAlgn="auto" latinLnBrk="0" hangingPunct="1">
              <a:lnSpc>
                <a:spcPct val="100000"/>
              </a:lnSpc>
              <a:spcBef>
                <a:spcPts val="700"/>
              </a:spcBef>
              <a:spcAft>
                <a:spcPts val="0"/>
              </a:spcAft>
              <a:buClr>
                <a:schemeClr val="accent2"/>
              </a:buClr>
              <a:buSzPct val="60000"/>
              <a:buFont typeface="Wingdings" panose="05000000000000000000"/>
              <a:buChar char=""/>
              <a:defRPr/>
            </a:pPr>
            <a:r>
              <a:rPr lang="en-GB" sz="2400" dirty="0" smtClean="0"/>
              <a:t>The data may take wide variety of forms.</a:t>
            </a:r>
            <a:endParaRPr lang="en-GB" sz="2400" dirty="0" smtClean="0"/>
          </a:p>
          <a:p>
            <a:pPr marL="320040" marR="0" lvl="0" indent="-320040" algn="just" defTabSz="914400" rtl="0" eaLnBrk="1" fontAlgn="auto" latinLnBrk="0" hangingPunct="1">
              <a:lnSpc>
                <a:spcPct val="100000"/>
              </a:lnSpc>
              <a:spcBef>
                <a:spcPts val="700"/>
              </a:spcBef>
              <a:spcAft>
                <a:spcPts val="0"/>
              </a:spcAft>
              <a:buClr>
                <a:schemeClr val="accent2"/>
              </a:buClr>
              <a:buSzPct val="60000"/>
              <a:buFont typeface="Wingdings" panose="05000000000000000000"/>
              <a:buChar char=""/>
              <a:defRPr/>
            </a:pPr>
            <a:r>
              <a:rPr lang="en-GB" sz="2400" dirty="0" smtClean="0"/>
              <a:t>Fundamental methods or type of data processing. </a:t>
            </a:r>
            <a:endParaRPr lang="en-GB" sz="2400" dirty="0" smtClean="0"/>
          </a:p>
          <a:p>
            <a:pPr marL="320040" marR="0" lvl="0" indent="-320040" algn="l" defTabSz="914400" rtl="0" eaLnBrk="1" fontAlgn="auto" latinLnBrk="0" hangingPunct="1">
              <a:lnSpc>
                <a:spcPct val="100000"/>
              </a:lnSpc>
              <a:spcBef>
                <a:spcPts val="700"/>
              </a:spcBef>
              <a:spcAft>
                <a:spcPts val="0"/>
              </a:spcAft>
              <a:buClr>
                <a:schemeClr val="accent2"/>
              </a:buClr>
              <a:buSzPct val="60000"/>
              <a:buFont typeface="Wingdings" panose="05000000000000000000"/>
              <a:buChar char=""/>
              <a:defRPr/>
            </a:pPr>
            <a:endParaRPr kumimoji="0" lang="en-GB" sz="2900" b="1"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noFill/>
        </p:spPr>
        <p:txBody>
          <a:bodyPr/>
          <a:lstStyle/>
          <a:p>
            <a:r>
              <a:rPr lang="en-GB" dirty="0" smtClean="0"/>
              <a:t>Operations: Data Storage</a:t>
            </a:r>
            <a:r>
              <a:rPr lang="en-GB" dirty="0" smtClean="0">
                <a:latin typeface="Arial" panose="020B0604020202020204" pitchFamily="34" charset="0"/>
              </a:rPr>
              <a:t> </a:t>
            </a:r>
            <a:endParaRPr lang="en-GB" dirty="0" smtClean="0">
              <a:latin typeface="Arial" panose="020B0604020202020204" pitchFamily="34" charset="0"/>
            </a:endParaRPr>
          </a:p>
        </p:txBody>
      </p:sp>
      <p:pic>
        <p:nvPicPr>
          <p:cNvPr id="17411" name="Picture 49"/>
          <p:cNvPicPr>
            <a:picLocks noChangeAspect="1" noChangeArrowheads="1"/>
          </p:cNvPicPr>
          <p:nvPr/>
        </p:nvPicPr>
        <p:blipFill>
          <a:blip r:embed="rId1" cstate="print"/>
          <a:srcRect l="54970" t="6207" r="9694" b="58510"/>
          <a:stretch>
            <a:fillRect/>
          </a:stretch>
        </p:blipFill>
        <p:spPr bwMode="auto">
          <a:xfrm>
            <a:off x="5029200" y="1752600"/>
            <a:ext cx="4114800" cy="4419600"/>
          </a:xfrm>
          <a:prstGeom prst="rect">
            <a:avLst/>
          </a:prstGeom>
          <a:noFill/>
          <a:ln w="9525">
            <a:noFill/>
            <a:miter lim="800000"/>
            <a:headEnd/>
            <a:tailEnd/>
          </a:ln>
        </p:spPr>
      </p:pic>
      <p:sp>
        <p:nvSpPr>
          <p:cNvPr id="4" name="Rectangle 3"/>
          <p:cNvSpPr txBox="1">
            <a:spLocks noChangeArrowheads="1"/>
          </p:cNvSpPr>
          <p:nvPr/>
        </p:nvSpPr>
        <p:spPr>
          <a:xfrm>
            <a:off x="612648" y="1600200"/>
            <a:ext cx="4340352" cy="4495800"/>
          </a:xfrm>
          <a:prstGeom prst="rect">
            <a:avLst/>
          </a:prstGeom>
        </p:spPr>
        <p:txBody>
          <a:bodyPr vert="horz">
            <a:normAutofit/>
          </a:bodyPr>
          <a:lstStyle/>
          <a:p>
            <a:pPr marL="320040" marR="0" lvl="0" indent="-320040" algn="just" defTabSz="914400" rtl="0" eaLnBrk="1" fontAlgn="auto" latinLnBrk="0" hangingPunct="1">
              <a:lnSpc>
                <a:spcPct val="100000"/>
              </a:lnSpc>
              <a:spcBef>
                <a:spcPts val="700"/>
              </a:spcBef>
              <a:spcAft>
                <a:spcPts val="0"/>
              </a:spcAft>
              <a:buClr>
                <a:schemeClr val="accent2"/>
              </a:buClr>
              <a:buSzPct val="60000"/>
              <a:buFont typeface="Wingdings" panose="05000000000000000000"/>
              <a:buChar char=""/>
              <a:defRPr/>
            </a:pPr>
            <a:r>
              <a:rPr kumimoji="0" lang="en-GB" sz="2400" b="1" i="0" u="none" strike="noStrike" kern="1200" cap="none" spc="0" normalizeH="0" baseline="0" noProof="0" dirty="0" smtClean="0">
                <a:ln>
                  <a:noFill/>
                </a:ln>
                <a:solidFill>
                  <a:schemeClr val="tx1"/>
                </a:solidFill>
                <a:effectLst/>
                <a:uLnTx/>
                <a:uFillTx/>
                <a:latin typeface="+mn-lt"/>
                <a:ea typeface="+mn-ea"/>
                <a:cs typeface="+mn-cs"/>
              </a:rPr>
              <a:t>Data </a:t>
            </a:r>
            <a:r>
              <a:rPr lang="en-GB" sz="2400" b="1" dirty="0" smtClean="0"/>
              <a:t>Storage</a:t>
            </a:r>
            <a:r>
              <a:rPr kumimoji="0" lang="en-GB" sz="2400" b="1" i="0" u="none" strike="noStrike" kern="1200" cap="none" spc="0" normalizeH="0" baseline="0" noProof="0" dirty="0" smtClean="0">
                <a:ln>
                  <a:noFill/>
                </a:ln>
                <a:solidFill>
                  <a:schemeClr val="tx1"/>
                </a:solidFill>
                <a:effectLst/>
                <a:uLnTx/>
                <a:uFillTx/>
                <a:latin typeface="+mn-lt"/>
                <a:ea typeface="+mn-ea"/>
                <a:cs typeface="+mn-cs"/>
              </a:rPr>
              <a:t>:</a:t>
            </a:r>
            <a:endParaRPr kumimoji="0" lang="en-GB" sz="2400" b="1" i="0" u="none" strike="noStrike" kern="1200" cap="none" spc="0" normalizeH="0" baseline="0" noProof="0" dirty="0" smtClean="0">
              <a:ln>
                <a:noFill/>
              </a:ln>
              <a:solidFill>
                <a:schemeClr val="tx1"/>
              </a:solidFill>
              <a:effectLst/>
              <a:uLnTx/>
              <a:uFillTx/>
              <a:latin typeface="+mn-lt"/>
              <a:ea typeface="+mn-ea"/>
              <a:cs typeface="+mn-cs"/>
            </a:endParaRPr>
          </a:p>
          <a:p>
            <a:pPr marL="320040" marR="0" lvl="0" indent="-320040" algn="just" defTabSz="914400" rtl="0" eaLnBrk="1" fontAlgn="auto" latinLnBrk="0" hangingPunct="1">
              <a:lnSpc>
                <a:spcPct val="100000"/>
              </a:lnSpc>
              <a:spcBef>
                <a:spcPts val="700"/>
              </a:spcBef>
              <a:spcAft>
                <a:spcPts val="0"/>
              </a:spcAft>
              <a:buClr>
                <a:schemeClr val="accent2"/>
              </a:buClr>
              <a:buSzPct val="60000"/>
              <a:buFont typeface="Wingdings" panose="05000000000000000000"/>
              <a:buChar char=""/>
              <a:defRPr/>
            </a:pPr>
            <a:r>
              <a:rPr lang="en-GB" sz="2400" dirty="0" smtClean="0"/>
              <a:t>Short term data storage function(processing data on the fly) </a:t>
            </a:r>
            <a:endParaRPr lang="en-GB" sz="2400" dirty="0" smtClean="0"/>
          </a:p>
          <a:p>
            <a:pPr marL="320040" marR="0" lvl="0" indent="-320040" algn="just" defTabSz="914400" rtl="0" eaLnBrk="1" fontAlgn="auto" latinLnBrk="0" hangingPunct="1">
              <a:lnSpc>
                <a:spcPct val="100000"/>
              </a:lnSpc>
              <a:spcBef>
                <a:spcPts val="700"/>
              </a:spcBef>
              <a:spcAft>
                <a:spcPts val="0"/>
              </a:spcAft>
              <a:buClr>
                <a:schemeClr val="accent2"/>
              </a:buClr>
              <a:buSzPct val="60000"/>
              <a:buFont typeface="Wingdings" panose="05000000000000000000"/>
              <a:buChar char=""/>
              <a:defRPr/>
            </a:pPr>
            <a:r>
              <a:rPr lang="en-GB" sz="2400" dirty="0" smtClean="0"/>
              <a:t>Temporary store of data</a:t>
            </a:r>
            <a:endParaRPr lang="en-GB" sz="2400" dirty="0" smtClean="0"/>
          </a:p>
          <a:p>
            <a:pPr marL="320040" lvl="0" indent="-320040" algn="just">
              <a:spcBef>
                <a:spcPts val="700"/>
              </a:spcBef>
              <a:buClr>
                <a:schemeClr val="accent2"/>
              </a:buClr>
              <a:buSzPct val="60000"/>
              <a:buFont typeface="Wingdings" panose="05000000000000000000"/>
              <a:buChar char=""/>
              <a:defRPr/>
            </a:pPr>
            <a:r>
              <a:rPr lang="en-GB" sz="2400" dirty="0" smtClean="0"/>
              <a:t>Long term data storage function</a:t>
            </a:r>
            <a:endParaRPr lang="en-GB" sz="2400" dirty="0" smtClean="0"/>
          </a:p>
          <a:p>
            <a:pPr marL="320040" marR="0" lvl="0" indent="-320040" algn="just" defTabSz="914400" rtl="0" eaLnBrk="1" fontAlgn="auto" latinLnBrk="0" hangingPunct="1">
              <a:lnSpc>
                <a:spcPct val="100000"/>
              </a:lnSpc>
              <a:spcBef>
                <a:spcPts val="700"/>
              </a:spcBef>
              <a:spcAft>
                <a:spcPts val="0"/>
              </a:spcAft>
              <a:buClr>
                <a:schemeClr val="accent2"/>
              </a:buClr>
              <a:buSzPct val="60000"/>
              <a:defRPr/>
            </a:pPr>
            <a:r>
              <a:rPr lang="en-GB" sz="2400" dirty="0" smtClean="0"/>
              <a:t>     Files</a:t>
            </a:r>
            <a:endParaRPr lang="en-GB" sz="2900" dirty="0" smtClean="0"/>
          </a:p>
          <a:p>
            <a:pPr marL="320040" marR="0" lvl="0" indent="-320040" algn="l" defTabSz="914400" rtl="0" eaLnBrk="1" fontAlgn="auto" latinLnBrk="0" hangingPunct="1">
              <a:lnSpc>
                <a:spcPct val="100000"/>
              </a:lnSpc>
              <a:spcBef>
                <a:spcPts val="700"/>
              </a:spcBef>
              <a:spcAft>
                <a:spcPts val="0"/>
              </a:spcAft>
              <a:buClr>
                <a:schemeClr val="accent2"/>
              </a:buClr>
              <a:buSzPct val="60000"/>
              <a:buFont typeface="Wingdings" panose="05000000000000000000"/>
              <a:buChar char=""/>
              <a:defRPr/>
            </a:pPr>
            <a:endParaRPr kumimoji="0" lang="en-GB" sz="2900" b="0" i="0" u="none" strike="noStrike" kern="1200" cap="none" spc="0" normalizeH="0" baseline="0" noProof="0" dirty="0" smtClean="0">
              <a:ln>
                <a:noFill/>
              </a:ln>
              <a:solidFill>
                <a:schemeClr val="tx1"/>
              </a:solidFill>
              <a:effectLst/>
              <a:uLnTx/>
              <a:uFillTx/>
              <a:latin typeface="+mn-lt"/>
              <a:ea typeface="+mn-ea"/>
              <a:cs typeface="+mn-cs"/>
            </a:endParaRPr>
          </a:p>
          <a:p>
            <a:pPr marL="320040" marR="0" lvl="0" indent="-320040" algn="l" defTabSz="914400" rtl="0" eaLnBrk="1" fontAlgn="auto" latinLnBrk="0" hangingPunct="1">
              <a:lnSpc>
                <a:spcPct val="100000"/>
              </a:lnSpc>
              <a:spcBef>
                <a:spcPts val="700"/>
              </a:spcBef>
              <a:spcAft>
                <a:spcPts val="0"/>
              </a:spcAft>
              <a:buClr>
                <a:schemeClr val="accent2"/>
              </a:buClr>
              <a:buSzPct val="60000"/>
              <a:buFont typeface="Wingdings" panose="05000000000000000000"/>
              <a:buChar char=""/>
              <a:defRPr/>
            </a:pPr>
            <a:endParaRPr kumimoji="0" lang="en-GB" sz="2900"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noFill/>
        </p:spPr>
        <p:txBody>
          <a:bodyPr/>
          <a:lstStyle/>
          <a:p>
            <a:r>
              <a:rPr lang="en-GB" dirty="0" smtClean="0"/>
              <a:t>Operations : Data movement</a:t>
            </a:r>
            <a:endParaRPr lang="en-GB" dirty="0" smtClean="0"/>
          </a:p>
        </p:txBody>
      </p:sp>
      <p:pic>
        <p:nvPicPr>
          <p:cNvPr id="16387" name="Picture 48"/>
          <p:cNvPicPr>
            <a:picLocks noChangeAspect="1" noChangeArrowheads="1"/>
          </p:cNvPicPr>
          <p:nvPr/>
        </p:nvPicPr>
        <p:blipFill>
          <a:blip r:embed="rId1" cstate="print"/>
          <a:srcRect l="8835" t="6470" r="54846" b="58243"/>
          <a:stretch>
            <a:fillRect/>
          </a:stretch>
        </p:blipFill>
        <p:spPr bwMode="auto">
          <a:xfrm>
            <a:off x="4495800" y="1600200"/>
            <a:ext cx="4419600" cy="4648200"/>
          </a:xfrm>
          <a:prstGeom prst="rect">
            <a:avLst/>
          </a:prstGeom>
          <a:noFill/>
          <a:ln w="9525">
            <a:noFill/>
            <a:miter lim="800000"/>
            <a:headEnd/>
            <a:tailEnd/>
          </a:ln>
        </p:spPr>
      </p:pic>
      <p:sp>
        <p:nvSpPr>
          <p:cNvPr id="4" name="Rectangle 3"/>
          <p:cNvSpPr txBox="1">
            <a:spLocks noChangeArrowheads="1"/>
          </p:cNvSpPr>
          <p:nvPr/>
        </p:nvSpPr>
        <p:spPr>
          <a:xfrm>
            <a:off x="612648" y="1600200"/>
            <a:ext cx="3959352" cy="4495800"/>
          </a:xfrm>
          <a:prstGeom prst="rect">
            <a:avLst/>
          </a:prstGeom>
        </p:spPr>
        <p:txBody>
          <a:bodyPr vert="horz">
            <a:normAutofit/>
          </a:bodyPr>
          <a:lstStyle/>
          <a:p>
            <a:pPr marL="320040" marR="0" lvl="0" indent="-320040" algn="just" defTabSz="914400" rtl="0" eaLnBrk="1" fontAlgn="auto" latinLnBrk="0" hangingPunct="1">
              <a:lnSpc>
                <a:spcPct val="100000"/>
              </a:lnSpc>
              <a:spcBef>
                <a:spcPts val="700"/>
              </a:spcBef>
              <a:spcAft>
                <a:spcPts val="0"/>
              </a:spcAft>
              <a:buClr>
                <a:schemeClr val="accent2"/>
              </a:buClr>
              <a:buSzPct val="60000"/>
              <a:buFont typeface="Wingdings" panose="05000000000000000000"/>
              <a:buChar char=""/>
              <a:defRPr/>
            </a:pPr>
            <a:r>
              <a:rPr kumimoji="0" lang="en-GB" sz="2400" b="1" i="0" u="none" strike="noStrike" kern="1200" cap="none" spc="0" normalizeH="0" baseline="0" noProof="0" dirty="0" smtClean="0">
                <a:ln>
                  <a:noFill/>
                </a:ln>
                <a:solidFill>
                  <a:schemeClr val="tx1"/>
                </a:solidFill>
                <a:effectLst/>
                <a:uLnTx/>
                <a:uFillTx/>
                <a:latin typeface="+mn-lt"/>
                <a:ea typeface="+mn-ea"/>
                <a:cs typeface="+mn-cs"/>
              </a:rPr>
              <a:t>Data Movement:</a:t>
            </a:r>
            <a:endParaRPr kumimoji="0" lang="en-GB" sz="2400" b="1" i="0" u="none" strike="noStrike" kern="1200" cap="none" spc="0" normalizeH="0" baseline="0" noProof="0" dirty="0" smtClean="0">
              <a:ln>
                <a:noFill/>
              </a:ln>
              <a:solidFill>
                <a:schemeClr val="tx1"/>
              </a:solidFill>
              <a:effectLst/>
              <a:uLnTx/>
              <a:uFillTx/>
              <a:latin typeface="+mn-lt"/>
              <a:ea typeface="+mn-ea"/>
              <a:cs typeface="+mn-cs"/>
            </a:endParaRPr>
          </a:p>
          <a:p>
            <a:pPr marL="320040" marR="0" lvl="0" indent="-320040" algn="just" defTabSz="914400" rtl="0" eaLnBrk="1" fontAlgn="auto" latinLnBrk="0" hangingPunct="1">
              <a:lnSpc>
                <a:spcPct val="100000"/>
              </a:lnSpc>
              <a:spcBef>
                <a:spcPts val="700"/>
              </a:spcBef>
              <a:spcAft>
                <a:spcPts val="0"/>
              </a:spcAft>
              <a:buClr>
                <a:schemeClr val="accent2"/>
              </a:buClr>
              <a:buSzPct val="60000"/>
              <a:buFont typeface="Wingdings" panose="05000000000000000000"/>
              <a:buChar char=""/>
              <a:defRPr/>
            </a:pPr>
            <a:r>
              <a:rPr lang="en-GB" sz="2400" dirty="0" smtClean="0"/>
              <a:t>Computer able to move data between itself and the outside world.</a:t>
            </a:r>
            <a:endParaRPr lang="en-GB" sz="2400" dirty="0" smtClean="0"/>
          </a:p>
          <a:p>
            <a:pPr marL="320040" marR="0" lvl="0" indent="-320040" algn="just" defTabSz="914400" rtl="0" eaLnBrk="1" fontAlgn="auto" latinLnBrk="0" hangingPunct="1">
              <a:lnSpc>
                <a:spcPct val="100000"/>
              </a:lnSpc>
              <a:spcBef>
                <a:spcPts val="700"/>
              </a:spcBef>
              <a:spcAft>
                <a:spcPts val="0"/>
              </a:spcAft>
              <a:buClr>
                <a:schemeClr val="accent2"/>
              </a:buClr>
              <a:buSzPct val="60000"/>
              <a:buFont typeface="Wingdings" panose="05000000000000000000"/>
              <a:buChar char=""/>
              <a:defRPr/>
            </a:pPr>
            <a:r>
              <a:rPr lang="en-GB" sz="2400" dirty="0" smtClean="0"/>
              <a:t>Computer can function as data movement device, simply transferring data from one peripheral or communication line to another. </a:t>
            </a: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p:txBody>
          <a:bodyPr>
            <a:normAutofit/>
          </a:bodyPr>
          <a:lstStyle/>
          <a:p>
            <a:pPr algn="just"/>
            <a:r>
              <a:rPr lang="en-US" sz="2600" dirty="0" smtClean="0"/>
              <a:t>When data are received from or delivered to a device that is directly connected to the computer, the process is known as </a:t>
            </a:r>
            <a:r>
              <a:rPr lang="en-US" sz="2600" b="1" dirty="0" smtClean="0"/>
              <a:t>input output(I/O) </a:t>
            </a:r>
            <a:r>
              <a:rPr lang="en-US" sz="2600" dirty="0" smtClean="0"/>
              <a:t>and device is referred to as </a:t>
            </a:r>
            <a:r>
              <a:rPr lang="en-US" sz="2600" b="1" dirty="0" smtClean="0"/>
              <a:t>peripherals.</a:t>
            </a:r>
            <a:endParaRPr lang="en-US" sz="2600" b="1" dirty="0" smtClean="0"/>
          </a:p>
          <a:p>
            <a:pPr algn="just"/>
            <a:endParaRPr lang="en-US" sz="2600" b="1" dirty="0" smtClean="0"/>
          </a:p>
          <a:p>
            <a:pPr algn="just"/>
            <a:r>
              <a:rPr lang="en-US" sz="2600" dirty="0" smtClean="0"/>
              <a:t>When data are moved over longer distances to or from a remote device the process is known as  </a:t>
            </a:r>
            <a:r>
              <a:rPr lang="en-US" sz="2600" b="1" dirty="0" smtClean="0"/>
              <a:t>data communications.</a:t>
            </a:r>
            <a:endParaRPr lang="en-US" sz="2600" b="1" dirty="0" smtClean="0"/>
          </a:p>
          <a:p>
            <a:pPr algn="just"/>
            <a:endParaRPr lang="en-US" sz="2600" dirty="0"/>
          </a:p>
        </p:txBody>
      </p:sp>
      <p:sp>
        <p:nvSpPr>
          <p:cNvPr id="4" name="Rectangle 2"/>
          <p:cNvSpPr>
            <a:spLocks noGrp="1" noChangeArrowheads="1"/>
          </p:cNvSpPr>
          <p:nvPr>
            <p:ph type="title"/>
          </p:nvPr>
        </p:nvSpPr>
        <p:spPr>
          <a:noFill/>
        </p:spPr>
        <p:txBody>
          <a:bodyPr/>
          <a:lstStyle/>
          <a:p>
            <a:r>
              <a:rPr lang="en-GB" dirty="0" smtClean="0"/>
              <a:t>Operations : Data movement</a:t>
            </a:r>
            <a:endParaRPr lang="en-GB" dirty="0" smtClean="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406400" y="152400"/>
            <a:ext cx="8737600" cy="838200"/>
          </a:xfrm>
          <a:noFill/>
        </p:spPr>
        <p:txBody>
          <a:bodyPr>
            <a:normAutofit/>
          </a:bodyPr>
          <a:lstStyle/>
          <a:p>
            <a:pPr algn="ctr"/>
            <a:r>
              <a:rPr lang="en-GB" dirty="0" smtClean="0"/>
              <a:t>Operation: Control</a:t>
            </a:r>
            <a:endParaRPr lang="en-GB" dirty="0" smtClean="0"/>
          </a:p>
        </p:txBody>
      </p:sp>
      <p:pic>
        <p:nvPicPr>
          <p:cNvPr id="19459" name="Picture 62"/>
          <p:cNvPicPr>
            <a:picLocks noChangeAspect="1" noChangeArrowheads="1"/>
          </p:cNvPicPr>
          <p:nvPr/>
        </p:nvPicPr>
        <p:blipFill>
          <a:blip r:embed="rId1" cstate="print"/>
          <a:srcRect l="54907" t="50000" r="7791" b="13637"/>
          <a:stretch>
            <a:fillRect/>
          </a:stretch>
        </p:blipFill>
        <p:spPr bwMode="auto">
          <a:xfrm>
            <a:off x="4648200" y="1752600"/>
            <a:ext cx="3975100" cy="4572000"/>
          </a:xfrm>
          <a:prstGeom prst="rect">
            <a:avLst/>
          </a:prstGeom>
          <a:noFill/>
          <a:ln w="9525">
            <a:noFill/>
            <a:miter lim="800000"/>
            <a:headEnd/>
            <a:tailEnd/>
          </a:ln>
        </p:spPr>
      </p:pic>
      <p:sp>
        <p:nvSpPr>
          <p:cNvPr id="4" name="Rectangle 3"/>
          <p:cNvSpPr txBox="1">
            <a:spLocks noChangeArrowheads="1"/>
          </p:cNvSpPr>
          <p:nvPr/>
        </p:nvSpPr>
        <p:spPr>
          <a:xfrm>
            <a:off x="612648" y="1600200"/>
            <a:ext cx="3730752" cy="4495800"/>
          </a:xfrm>
          <a:prstGeom prst="rect">
            <a:avLst/>
          </a:prstGeom>
        </p:spPr>
        <p:txBody>
          <a:bodyPr vert="horz">
            <a:normAutofit/>
          </a:bodyPr>
          <a:lstStyle/>
          <a:p>
            <a:pPr marL="320040" marR="0" lvl="0" indent="-320040" defTabSz="914400" rtl="0" eaLnBrk="1" fontAlgn="auto" latinLnBrk="0" hangingPunct="1">
              <a:lnSpc>
                <a:spcPct val="100000"/>
              </a:lnSpc>
              <a:spcBef>
                <a:spcPts val="700"/>
              </a:spcBef>
              <a:spcAft>
                <a:spcPts val="0"/>
              </a:spcAft>
              <a:buClr>
                <a:schemeClr val="accent2"/>
              </a:buClr>
              <a:buSzPct val="60000"/>
              <a:buFont typeface="Wingdings" panose="05000000000000000000"/>
              <a:buChar char=""/>
              <a:defRPr/>
            </a:pPr>
            <a:r>
              <a:rPr kumimoji="0" lang="en-GB" sz="2600" b="1" i="0" u="none" strike="noStrike" kern="1200" cap="none" spc="0" normalizeH="0" baseline="0" noProof="0" dirty="0" smtClean="0">
                <a:ln>
                  <a:noFill/>
                </a:ln>
                <a:solidFill>
                  <a:schemeClr val="tx1"/>
                </a:solidFill>
                <a:effectLst/>
                <a:uLnTx/>
                <a:uFillTx/>
                <a:latin typeface="+mn-lt"/>
                <a:ea typeface="+mn-ea"/>
                <a:cs typeface="+mn-cs"/>
              </a:rPr>
              <a:t>Data </a:t>
            </a:r>
            <a:r>
              <a:rPr lang="en-GB" sz="2600" b="1" dirty="0" smtClean="0"/>
              <a:t>Control</a:t>
            </a:r>
            <a:r>
              <a:rPr kumimoji="0" lang="en-GB" sz="2600" b="1" i="0" u="none" strike="noStrike" kern="1200" cap="none" spc="0" normalizeH="0" baseline="0" noProof="0" dirty="0" smtClean="0">
                <a:ln>
                  <a:noFill/>
                </a:ln>
                <a:solidFill>
                  <a:schemeClr val="tx1"/>
                </a:solidFill>
                <a:effectLst/>
                <a:uLnTx/>
                <a:uFillTx/>
                <a:latin typeface="+mn-lt"/>
                <a:ea typeface="+mn-ea"/>
                <a:cs typeface="+mn-cs"/>
              </a:rPr>
              <a:t>:</a:t>
            </a:r>
            <a:endParaRPr kumimoji="0" lang="en-GB" sz="2600" b="1" i="0" u="none" strike="noStrike" kern="1200" cap="none" spc="0" normalizeH="0" baseline="0" noProof="0" dirty="0" smtClean="0">
              <a:ln>
                <a:noFill/>
              </a:ln>
              <a:solidFill>
                <a:schemeClr val="tx1"/>
              </a:solidFill>
              <a:effectLst/>
              <a:uLnTx/>
              <a:uFillTx/>
              <a:latin typeface="+mn-lt"/>
              <a:ea typeface="+mn-ea"/>
              <a:cs typeface="+mn-cs"/>
            </a:endParaRPr>
          </a:p>
          <a:p>
            <a:pPr marL="320040" marR="0" lvl="0" indent="-320040" defTabSz="914400" rtl="0" eaLnBrk="1" fontAlgn="auto" latinLnBrk="0" hangingPunct="1">
              <a:lnSpc>
                <a:spcPct val="100000"/>
              </a:lnSpc>
              <a:spcBef>
                <a:spcPts val="700"/>
              </a:spcBef>
              <a:spcAft>
                <a:spcPts val="0"/>
              </a:spcAft>
              <a:buClr>
                <a:schemeClr val="accent2"/>
              </a:buClr>
              <a:buSzPct val="60000"/>
              <a:buFont typeface="Wingdings" panose="05000000000000000000"/>
              <a:buChar char=""/>
              <a:defRPr/>
            </a:pPr>
            <a:r>
              <a:rPr lang="en-GB" sz="2600" dirty="0" smtClean="0"/>
              <a:t>Within a computer, Control unit manages the computer resources and functions.</a:t>
            </a:r>
            <a:endParaRPr lang="en-GB" sz="2600" dirty="0" smtClean="0"/>
          </a:p>
          <a:p>
            <a:pPr marL="320040" marR="0" lvl="0" indent="-320040" defTabSz="914400" rtl="0" eaLnBrk="1" fontAlgn="auto" latinLnBrk="0" hangingPunct="1">
              <a:lnSpc>
                <a:spcPct val="100000"/>
              </a:lnSpc>
              <a:spcBef>
                <a:spcPts val="700"/>
              </a:spcBef>
              <a:spcAft>
                <a:spcPts val="0"/>
              </a:spcAft>
              <a:buClr>
                <a:schemeClr val="accent2"/>
              </a:buClr>
              <a:buSzPct val="60000"/>
              <a:buFont typeface="Wingdings" panose="05000000000000000000"/>
              <a:buChar char=""/>
              <a:defRPr/>
            </a:pPr>
            <a:r>
              <a:rPr kumimoji="0" lang="en-GB" sz="2600" i="0" u="none" strike="noStrike" kern="1200" cap="none" spc="0" normalizeH="0" baseline="0" noProof="0" dirty="0" smtClean="0">
                <a:ln>
                  <a:noFill/>
                </a:ln>
                <a:solidFill>
                  <a:schemeClr val="tx1"/>
                </a:solidFill>
                <a:effectLst/>
                <a:uLnTx/>
                <a:uFillTx/>
                <a:latin typeface="+mn-lt"/>
                <a:ea typeface="+mn-ea"/>
                <a:cs typeface="+mn-cs"/>
              </a:rPr>
              <a:t>Provide instructions</a:t>
            </a:r>
            <a:r>
              <a:rPr kumimoji="0" lang="en-GB" sz="2900" i="0" u="none" strike="noStrike" kern="1200" cap="none" spc="0" normalizeH="0" baseline="0" noProof="0" dirty="0" smtClean="0">
                <a:ln>
                  <a:noFill/>
                </a:ln>
                <a:solidFill>
                  <a:schemeClr val="tx1"/>
                </a:solidFill>
                <a:effectLst/>
                <a:uLnTx/>
                <a:uFillTx/>
                <a:latin typeface="+mn-lt"/>
                <a:ea typeface="+mn-ea"/>
                <a:cs typeface="+mn-cs"/>
              </a:rPr>
              <a:t>.</a:t>
            </a:r>
            <a:endParaRPr kumimoji="0" lang="en-GB" sz="290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p:txBody>
          <a:bodyPr/>
          <a:lstStyle/>
          <a:p>
            <a:pPr algn="ctr"/>
            <a:r>
              <a:rPr lang="en-US" altLang="zh-TW" dirty="0" smtClean="0">
                <a:ea typeface="PMingLiU" pitchFamily="18" charset="-120"/>
              </a:rPr>
              <a:t>Structure</a:t>
            </a:r>
            <a:endParaRPr lang="en-US" altLang="zh-TW" dirty="0" smtClean="0">
              <a:ea typeface="PMingLiU" pitchFamily="18" charset="-120"/>
            </a:endParaRPr>
          </a:p>
        </p:txBody>
      </p:sp>
      <p:sp>
        <p:nvSpPr>
          <p:cNvPr id="1028" name="Rectangle 3"/>
          <p:cNvSpPr>
            <a:spLocks noGrp="1" noChangeArrowheads="1"/>
          </p:cNvSpPr>
          <p:nvPr>
            <p:ph type="body" sz="half" idx="1"/>
          </p:nvPr>
        </p:nvSpPr>
        <p:spPr>
          <a:xfrm>
            <a:off x="395289" y="1523999"/>
            <a:ext cx="4938711" cy="5334001"/>
          </a:xfrm>
        </p:spPr>
        <p:txBody>
          <a:bodyPr>
            <a:normAutofit lnSpcReduction="10000"/>
          </a:bodyPr>
          <a:lstStyle/>
          <a:p>
            <a:pPr algn="just">
              <a:lnSpc>
                <a:spcPct val="90000"/>
              </a:lnSpc>
            </a:pPr>
            <a:r>
              <a:rPr lang="en-US" altLang="zh-TW" dirty="0" smtClean="0">
                <a:ea typeface="PMingLiU" pitchFamily="18" charset="-120"/>
              </a:rPr>
              <a:t>The Computer</a:t>
            </a:r>
            <a:endParaRPr lang="en-US" altLang="zh-TW" dirty="0" smtClean="0">
              <a:ea typeface="PMingLiU" pitchFamily="18" charset="-120"/>
            </a:endParaRPr>
          </a:p>
          <a:p>
            <a:pPr lvl="1" algn="just">
              <a:lnSpc>
                <a:spcPct val="90000"/>
              </a:lnSpc>
            </a:pPr>
            <a:r>
              <a:rPr lang="en-US" altLang="zh-TW" dirty="0" smtClean="0">
                <a:ea typeface="PMingLiU" pitchFamily="18" charset="-120"/>
              </a:rPr>
              <a:t>CPU</a:t>
            </a:r>
            <a:endParaRPr lang="en-US" altLang="zh-TW" dirty="0" smtClean="0">
              <a:ea typeface="PMingLiU" pitchFamily="18" charset="-120"/>
            </a:endParaRPr>
          </a:p>
          <a:p>
            <a:pPr lvl="2" algn="just">
              <a:lnSpc>
                <a:spcPct val="90000"/>
              </a:lnSpc>
            </a:pPr>
            <a:r>
              <a:rPr lang="en-US" altLang="zh-TW" dirty="0" smtClean="0">
                <a:ea typeface="PMingLiU" pitchFamily="18" charset="-120"/>
              </a:rPr>
              <a:t>Controls the operation of the computer and performs its data processing functions.</a:t>
            </a:r>
            <a:endParaRPr lang="en-US" altLang="zh-TW" dirty="0" smtClean="0">
              <a:ea typeface="PMingLiU" pitchFamily="18" charset="-120"/>
            </a:endParaRPr>
          </a:p>
          <a:p>
            <a:pPr lvl="1" algn="just">
              <a:lnSpc>
                <a:spcPct val="90000"/>
              </a:lnSpc>
            </a:pPr>
            <a:r>
              <a:rPr lang="en-US" altLang="zh-TW" dirty="0" smtClean="0">
                <a:ea typeface="PMingLiU" pitchFamily="18" charset="-120"/>
              </a:rPr>
              <a:t>Main memory</a:t>
            </a:r>
            <a:endParaRPr lang="en-US" altLang="zh-TW" dirty="0" smtClean="0">
              <a:ea typeface="PMingLiU" pitchFamily="18" charset="-120"/>
            </a:endParaRPr>
          </a:p>
          <a:p>
            <a:pPr lvl="2" algn="just">
              <a:lnSpc>
                <a:spcPct val="90000"/>
              </a:lnSpc>
            </a:pPr>
            <a:r>
              <a:rPr lang="en-US" altLang="zh-TW" dirty="0" smtClean="0">
                <a:ea typeface="PMingLiU" pitchFamily="18" charset="-120"/>
              </a:rPr>
              <a:t>Stores data</a:t>
            </a:r>
            <a:endParaRPr lang="en-US" altLang="zh-TW" dirty="0" smtClean="0">
              <a:ea typeface="PMingLiU" pitchFamily="18" charset="-120"/>
            </a:endParaRPr>
          </a:p>
          <a:p>
            <a:pPr lvl="1" algn="just">
              <a:lnSpc>
                <a:spcPct val="90000"/>
              </a:lnSpc>
            </a:pPr>
            <a:r>
              <a:rPr lang="en-US" altLang="zh-TW" dirty="0" smtClean="0">
                <a:ea typeface="PMingLiU" pitchFamily="18" charset="-120"/>
              </a:rPr>
              <a:t>I/O</a:t>
            </a:r>
            <a:endParaRPr lang="en-US" altLang="zh-TW" dirty="0" smtClean="0">
              <a:ea typeface="PMingLiU" pitchFamily="18" charset="-120"/>
            </a:endParaRPr>
          </a:p>
          <a:p>
            <a:pPr lvl="2" algn="just">
              <a:lnSpc>
                <a:spcPct val="90000"/>
              </a:lnSpc>
            </a:pPr>
            <a:r>
              <a:rPr lang="en-US" altLang="zh-TW" dirty="0" smtClean="0">
                <a:ea typeface="PMingLiU" pitchFamily="18" charset="-120"/>
              </a:rPr>
              <a:t>Moves data between the computer and its external environment</a:t>
            </a:r>
            <a:endParaRPr lang="en-US" altLang="zh-TW" dirty="0" smtClean="0">
              <a:ea typeface="PMingLiU" pitchFamily="18" charset="-120"/>
            </a:endParaRPr>
          </a:p>
          <a:p>
            <a:pPr lvl="1" algn="just">
              <a:lnSpc>
                <a:spcPct val="90000"/>
              </a:lnSpc>
            </a:pPr>
            <a:r>
              <a:rPr lang="en-US" altLang="zh-TW" dirty="0" smtClean="0">
                <a:ea typeface="PMingLiU" pitchFamily="18" charset="-120"/>
              </a:rPr>
              <a:t>System interconnection</a:t>
            </a:r>
            <a:endParaRPr lang="en-US" altLang="zh-TW" dirty="0" smtClean="0">
              <a:ea typeface="PMingLiU" pitchFamily="18" charset="-120"/>
            </a:endParaRPr>
          </a:p>
          <a:p>
            <a:pPr lvl="2" algn="just">
              <a:lnSpc>
                <a:spcPct val="90000"/>
              </a:lnSpc>
            </a:pPr>
            <a:r>
              <a:rPr lang="en-US" altLang="zh-TW" dirty="0" smtClean="0">
                <a:ea typeface="PMingLiU" pitchFamily="18" charset="-120"/>
              </a:rPr>
              <a:t>Provides for communication among CPU, main memory, and I/O</a:t>
            </a:r>
            <a:endParaRPr lang="en-US" altLang="zh-TW" dirty="0" smtClean="0">
              <a:ea typeface="PMingLiU" pitchFamily="18" charset="-120"/>
            </a:endParaRPr>
          </a:p>
        </p:txBody>
      </p:sp>
      <p:graphicFrame>
        <p:nvGraphicFramePr>
          <p:cNvPr id="1026" name="Object 4"/>
          <p:cNvGraphicFramePr>
            <a:graphicFrameLocks noGrp="1" noChangeAspect="1"/>
          </p:cNvGraphicFramePr>
          <p:nvPr>
            <p:ph sz="half" idx="2"/>
          </p:nvPr>
        </p:nvGraphicFramePr>
        <p:xfrm>
          <a:off x="5435600" y="1981200"/>
          <a:ext cx="3708400" cy="3919538"/>
        </p:xfrm>
        <a:graphic>
          <a:graphicData uri="http://schemas.openxmlformats.org/presentationml/2006/ole">
            <mc:AlternateContent xmlns:mc="http://schemas.openxmlformats.org/markup-compatibility/2006">
              <mc:Choice xmlns:v="urn:schemas-microsoft-com:vml" Requires="v">
                <p:oleObj spid="_x0000_s1047" name="點陣圖影像" r:id="rId1" imgW="5238750" imgH="4610100" progId="PBrush">
                  <p:embed/>
                </p:oleObj>
              </mc:Choice>
              <mc:Fallback>
                <p:oleObj name="點陣圖影像" r:id="rId1" imgW="5238750" imgH="4610100" progId="PBrush">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35600" y="1981200"/>
                        <a:ext cx="3708400" cy="3919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Oval 5" descr="50%"/>
          <p:cNvSpPr>
            <a:spLocks noChangeArrowheads="1"/>
          </p:cNvSpPr>
          <p:nvPr/>
        </p:nvSpPr>
        <p:spPr bwMode="auto">
          <a:xfrm>
            <a:off x="3886200" y="2057400"/>
            <a:ext cx="4724400" cy="4648200"/>
          </a:xfrm>
          <a:prstGeom prst="ellipse">
            <a:avLst/>
          </a:prstGeom>
          <a:pattFill prst="pct50">
            <a:fgClr>
              <a:schemeClr val="tx1"/>
            </a:fgClr>
            <a:bgClr>
              <a:schemeClr val="bg1"/>
            </a:bgClr>
          </a:pattFill>
          <a:ln w="9525">
            <a:solidFill>
              <a:schemeClr val="tx1"/>
            </a:solidFill>
            <a:round/>
          </a:ln>
        </p:spPr>
        <p:txBody>
          <a:bodyPr wrap="none" lIns="90000" tIns="46800" rIns="90000" bIns="46800" anchor="ctr"/>
          <a:lstStyle/>
          <a:p>
            <a:pPr algn="ctr"/>
            <a:endParaRPr lang="en-GB" sz="1600">
              <a:latin typeface="Arial" panose="020B0604020202020204" pitchFamily="34" charset="0"/>
            </a:endParaRPr>
          </a:p>
        </p:txBody>
      </p:sp>
      <p:sp>
        <p:nvSpPr>
          <p:cNvPr id="20483" name="Oval 9"/>
          <p:cNvSpPr>
            <a:spLocks noChangeArrowheads="1"/>
          </p:cNvSpPr>
          <p:nvPr/>
        </p:nvSpPr>
        <p:spPr bwMode="auto">
          <a:xfrm>
            <a:off x="5410200" y="3581400"/>
            <a:ext cx="1524000" cy="1524000"/>
          </a:xfrm>
          <a:prstGeom prst="ellipse">
            <a:avLst/>
          </a:prstGeom>
          <a:solidFill>
            <a:schemeClr val="bg1"/>
          </a:solidFill>
          <a:ln w="9525">
            <a:solidFill>
              <a:schemeClr val="tx1"/>
            </a:solidFill>
            <a:round/>
          </a:ln>
        </p:spPr>
        <p:txBody>
          <a:bodyPr wrap="none" lIns="90000" tIns="46800" rIns="90000" bIns="46800" anchor="ctr"/>
          <a:lstStyle/>
          <a:p>
            <a:endParaRPr lang="en-IN"/>
          </a:p>
        </p:txBody>
      </p:sp>
      <p:sp>
        <p:nvSpPr>
          <p:cNvPr id="20484" name="Oval 6"/>
          <p:cNvSpPr>
            <a:spLocks noChangeArrowheads="1"/>
          </p:cNvSpPr>
          <p:nvPr/>
        </p:nvSpPr>
        <p:spPr bwMode="auto">
          <a:xfrm>
            <a:off x="4648200" y="2743200"/>
            <a:ext cx="1371600" cy="1371600"/>
          </a:xfrm>
          <a:prstGeom prst="ellipse">
            <a:avLst/>
          </a:prstGeom>
          <a:solidFill>
            <a:schemeClr val="bg1"/>
          </a:solidFill>
          <a:ln w="9525">
            <a:solidFill>
              <a:schemeClr val="tx1"/>
            </a:solidFill>
            <a:round/>
          </a:ln>
        </p:spPr>
        <p:txBody>
          <a:bodyPr wrap="none" lIns="90000" tIns="46800" rIns="90000" bIns="46800" anchor="ctr"/>
          <a:lstStyle/>
          <a:p>
            <a:endParaRPr lang="en-IN"/>
          </a:p>
        </p:txBody>
      </p:sp>
      <p:sp>
        <p:nvSpPr>
          <p:cNvPr id="20485" name="Rectangle 2"/>
          <p:cNvSpPr>
            <a:spLocks noGrp="1" noChangeArrowheads="1"/>
          </p:cNvSpPr>
          <p:nvPr>
            <p:ph type="title"/>
          </p:nvPr>
        </p:nvSpPr>
        <p:spPr>
          <a:noFill/>
        </p:spPr>
        <p:txBody>
          <a:bodyPr lIns="90000" tIns="46800" rIns="90000" bIns="46800"/>
          <a:lstStyle/>
          <a:p>
            <a:r>
              <a:rPr lang="en-GB" smtClean="0"/>
              <a:t>Structure - Top Level</a:t>
            </a:r>
            <a:endParaRPr lang="en-GB" smtClean="0"/>
          </a:p>
        </p:txBody>
      </p:sp>
      <p:sp>
        <p:nvSpPr>
          <p:cNvPr id="20486" name="Oval 4"/>
          <p:cNvSpPr>
            <a:spLocks noChangeArrowheads="1"/>
          </p:cNvSpPr>
          <p:nvPr/>
        </p:nvSpPr>
        <p:spPr bwMode="auto">
          <a:xfrm>
            <a:off x="533400" y="3657600"/>
            <a:ext cx="1066800" cy="1066800"/>
          </a:xfrm>
          <a:prstGeom prst="ellipse">
            <a:avLst/>
          </a:prstGeom>
          <a:noFill/>
          <a:ln w="9525">
            <a:solidFill>
              <a:schemeClr val="tx1"/>
            </a:solidFill>
            <a:round/>
          </a:ln>
        </p:spPr>
        <p:txBody>
          <a:bodyPr wrap="none" lIns="90000" tIns="46800" rIns="90000" bIns="46800" anchor="ctr"/>
          <a:lstStyle/>
          <a:p>
            <a:endParaRPr lang="en-IN"/>
          </a:p>
        </p:txBody>
      </p:sp>
      <p:sp>
        <p:nvSpPr>
          <p:cNvPr id="20487" name="Oval 7"/>
          <p:cNvSpPr>
            <a:spLocks noChangeArrowheads="1"/>
          </p:cNvSpPr>
          <p:nvPr/>
        </p:nvSpPr>
        <p:spPr bwMode="auto">
          <a:xfrm>
            <a:off x="6400800" y="2743200"/>
            <a:ext cx="1371600" cy="1371600"/>
          </a:xfrm>
          <a:prstGeom prst="ellipse">
            <a:avLst/>
          </a:prstGeom>
          <a:solidFill>
            <a:schemeClr val="bg1"/>
          </a:solidFill>
          <a:ln w="9525">
            <a:solidFill>
              <a:schemeClr val="tx1"/>
            </a:solidFill>
            <a:round/>
          </a:ln>
        </p:spPr>
        <p:txBody>
          <a:bodyPr wrap="none" lIns="90000" tIns="46800" rIns="90000" bIns="46800" anchor="ctr"/>
          <a:lstStyle/>
          <a:p>
            <a:endParaRPr lang="en-IN"/>
          </a:p>
        </p:txBody>
      </p:sp>
      <p:sp>
        <p:nvSpPr>
          <p:cNvPr id="20488" name="Oval 8"/>
          <p:cNvSpPr>
            <a:spLocks noChangeArrowheads="1"/>
          </p:cNvSpPr>
          <p:nvPr/>
        </p:nvSpPr>
        <p:spPr bwMode="auto">
          <a:xfrm>
            <a:off x="5486400" y="4800600"/>
            <a:ext cx="1371600" cy="1371600"/>
          </a:xfrm>
          <a:prstGeom prst="ellipse">
            <a:avLst/>
          </a:prstGeom>
          <a:solidFill>
            <a:schemeClr val="bg1"/>
          </a:solidFill>
          <a:ln w="9525">
            <a:solidFill>
              <a:schemeClr val="tx1"/>
            </a:solidFill>
            <a:round/>
          </a:ln>
        </p:spPr>
        <p:txBody>
          <a:bodyPr wrap="none" lIns="90000" tIns="46800" rIns="90000" bIns="46800" anchor="ctr"/>
          <a:lstStyle/>
          <a:p>
            <a:endParaRPr lang="en-IN"/>
          </a:p>
        </p:txBody>
      </p:sp>
      <p:sp>
        <p:nvSpPr>
          <p:cNvPr id="20489" name="Text Box 10"/>
          <p:cNvSpPr txBox="1">
            <a:spLocks noChangeArrowheads="1"/>
          </p:cNvSpPr>
          <p:nvPr/>
        </p:nvSpPr>
        <p:spPr bwMode="auto">
          <a:xfrm>
            <a:off x="519113" y="3946525"/>
            <a:ext cx="1073150" cy="336550"/>
          </a:xfrm>
          <a:prstGeom prst="rect">
            <a:avLst/>
          </a:prstGeom>
          <a:noFill/>
          <a:ln w="9525">
            <a:noFill/>
            <a:miter lim="800000"/>
          </a:ln>
        </p:spPr>
        <p:txBody>
          <a:bodyPr wrap="none" lIns="90000" tIns="46800" rIns="90000" bIns="46800">
            <a:spAutoFit/>
          </a:bodyPr>
          <a:lstStyle/>
          <a:p>
            <a:r>
              <a:rPr lang="en-GB" sz="1600">
                <a:latin typeface="Arial" panose="020B0604020202020204" pitchFamily="34" charset="0"/>
              </a:rPr>
              <a:t>Computer</a:t>
            </a:r>
            <a:endParaRPr lang="en-GB"/>
          </a:p>
        </p:txBody>
      </p:sp>
      <p:sp>
        <p:nvSpPr>
          <p:cNvPr id="20490" name="Text Box 12"/>
          <p:cNvSpPr txBox="1">
            <a:spLocks noChangeArrowheads="1"/>
          </p:cNvSpPr>
          <p:nvPr/>
        </p:nvSpPr>
        <p:spPr bwMode="auto">
          <a:xfrm>
            <a:off x="6629400" y="3048000"/>
            <a:ext cx="915988" cy="581025"/>
          </a:xfrm>
          <a:prstGeom prst="rect">
            <a:avLst/>
          </a:prstGeom>
          <a:noFill/>
          <a:ln w="9525">
            <a:noFill/>
            <a:miter lim="800000"/>
          </a:ln>
        </p:spPr>
        <p:txBody>
          <a:bodyPr wrap="none" lIns="90000" tIns="46800" rIns="90000" bIns="46800">
            <a:spAutoFit/>
          </a:bodyPr>
          <a:lstStyle/>
          <a:p>
            <a:r>
              <a:rPr lang="en-GB" sz="1600">
                <a:latin typeface="Arial" panose="020B0604020202020204" pitchFamily="34" charset="0"/>
              </a:rPr>
              <a:t>Main </a:t>
            </a:r>
            <a:endParaRPr lang="en-GB" sz="1600">
              <a:latin typeface="Arial" panose="020B0604020202020204" pitchFamily="34" charset="0"/>
            </a:endParaRPr>
          </a:p>
          <a:p>
            <a:r>
              <a:rPr lang="en-GB" sz="1600">
                <a:latin typeface="Arial" panose="020B0604020202020204" pitchFamily="34" charset="0"/>
              </a:rPr>
              <a:t>Memory</a:t>
            </a:r>
            <a:endParaRPr lang="en-GB" sz="1600">
              <a:latin typeface="Arial" panose="020B0604020202020204" pitchFamily="34" charset="0"/>
            </a:endParaRPr>
          </a:p>
        </p:txBody>
      </p:sp>
      <p:sp>
        <p:nvSpPr>
          <p:cNvPr id="20491" name="Text Box 13"/>
          <p:cNvSpPr txBox="1">
            <a:spLocks noChangeArrowheads="1"/>
          </p:cNvSpPr>
          <p:nvPr/>
        </p:nvSpPr>
        <p:spPr bwMode="auto">
          <a:xfrm>
            <a:off x="5791200" y="5133975"/>
            <a:ext cx="792163" cy="581025"/>
          </a:xfrm>
          <a:prstGeom prst="rect">
            <a:avLst/>
          </a:prstGeom>
          <a:noFill/>
          <a:ln w="9525">
            <a:noFill/>
            <a:miter lim="800000"/>
          </a:ln>
        </p:spPr>
        <p:txBody>
          <a:bodyPr wrap="none" lIns="90000" tIns="46800" rIns="90000" bIns="46800">
            <a:spAutoFit/>
          </a:bodyPr>
          <a:lstStyle/>
          <a:p>
            <a:r>
              <a:rPr lang="en-GB" sz="1600">
                <a:latin typeface="Arial" panose="020B0604020202020204" pitchFamily="34" charset="0"/>
              </a:rPr>
              <a:t>Input</a:t>
            </a:r>
            <a:endParaRPr lang="en-GB" sz="1600">
              <a:latin typeface="Arial" panose="020B0604020202020204" pitchFamily="34" charset="0"/>
            </a:endParaRPr>
          </a:p>
          <a:p>
            <a:r>
              <a:rPr lang="en-GB" sz="1600">
                <a:latin typeface="Arial" panose="020B0604020202020204" pitchFamily="34" charset="0"/>
              </a:rPr>
              <a:t>Output</a:t>
            </a:r>
            <a:endParaRPr lang="en-GB" sz="1600">
              <a:latin typeface="Arial" panose="020B0604020202020204" pitchFamily="34" charset="0"/>
            </a:endParaRPr>
          </a:p>
        </p:txBody>
      </p:sp>
      <p:sp>
        <p:nvSpPr>
          <p:cNvPr id="20492" name="Text Box 14"/>
          <p:cNvSpPr txBox="1">
            <a:spLocks noChangeArrowheads="1"/>
          </p:cNvSpPr>
          <p:nvPr/>
        </p:nvSpPr>
        <p:spPr bwMode="auto">
          <a:xfrm>
            <a:off x="5410200" y="4067175"/>
            <a:ext cx="1570038" cy="581025"/>
          </a:xfrm>
          <a:prstGeom prst="rect">
            <a:avLst/>
          </a:prstGeom>
          <a:noFill/>
          <a:ln w="9525">
            <a:noFill/>
            <a:miter lim="800000"/>
          </a:ln>
        </p:spPr>
        <p:txBody>
          <a:bodyPr wrap="none" lIns="90000" tIns="46800" rIns="90000" bIns="46800">
            <a:spAutoFit/>
          </a:bodyPr>
          <a:lstStyle/>
          <a:p>
            <a:r>
              <a:rPr lang="en-GB" sz="1600">
                <a:latin typeface="Arial" panose="020B0604020202020204" pitchFamily="34" charset="0"/>
              </a:rPr>
              <a:t>Systems</a:t>
            </a:r>
            <a:endParaRPr lang="en-GB" sz="1600">
              <a:latin typeface="Arial" panose="020B0604020202020204" pitchFamily="34" charset="0"/>
            </a:endParaRPr>
          </a:p>
          <a:p>
            <a:r>
              <a:rPr lang="en-GB" sz="1600">
                <a:latin typeface="Arial" panose="020B0604020202020204" pitchFamily="34" charset="0"/>
              </a:rPr>
              <a:t>Interconnection</a:t>
            </a:r>
            <a:endParaRPr lang="en-GB" sz="1600">
              <a:latin typeface="Arial" panose="020B0604020202020204" pitchFamily="34" charset="0"/>
            </a:endParaRPr>
          </a:p>
        </p:txBody>
      </p:sp>
      <p:sp>
        <p:nvSpPr>
          <p:cNvPr id="20493" name="Line 15"/>
          <p:cNvSpPr>
            <a:spLocks noChangeShapeType="1"/>
          </p:cNvSpPr>
          <p:nvPr/>
        </p:nvSpPr>
        <p:spPr bwMode="auto">
          <a:xfrm flipV="1">
            <a:off x="1066800" y="2209800"/>
            <a:ext cx="4343400" cy="1447800"/>
          </a:xfrm>
          <a:prstGeom prst="line">
            <a:avLst/>
          </a:prstGeom>
          <a:noFill/>
          <a:ln w="9525">
            <a:solidFill>
              <a:schemeClr val="tx1"/>
            </a:solidFill>
            <a:round/>
          </a:ln>
        </p:spPr>
        <p:txBody>
          <a:bodyPr wrap="none" lIns="90000" tIns="46800" rIns="90000" bIns="46800" anchor="ctr"/>
          <a:lstStyle/>
          <a:p>
            <a:endParaRPr lang="en-US"/>
          </a:p>
        </p:txBody>
      </p:sp>
      <p:sp>
        <p:nvSpPr>
          <p:cNvPr id="20494" name="Line 16"/>
          <p:cNvSpPr>
            <a:spLocks noChangeShapeType="1"/>
          </p:cNvSpPr>
          <p:nvPr/>
        </p:nvSpPr>
        <p:spPr bwMode="auto">
          <a:xfrm>
            <a:off x="1066800" y="4724400"/>
            <a:ext cx="4191000" cy="1752600"/>
          </a:xfrm>
          <a:prstGeom prst="line">
            <a:avLst/>
          </a:prstGeom>
          <a:noFill/>
          <a:ln w="9525">
            <a:solidFill>
              <a:schemeClr val="tx1"/>
            </a:solidFill>
            <a:round/>
          </a:ln>
        </p:spPr>
        <p:txBody>
          <a:bodyPr wrap="none" lIns="90000" tIns="46800" rIns="90000" bIns="46800" anchor="ctr"/>
          <a:lstStyle/>
          <a:p>
            <a:endParaRPr lang="en-US"/>
          </a:p>
        </p:txBody>
      </p:sp>
      <p:sp>
        <p:nvSpPr>
          <p:cNvPr id="20495" name="Text Box 19"/>
          <p:cNvSpPr txBox="1">
            <a:spLocks noChangeArrowheads="1"/>
          </p:cNvSpPr>
          <p:nvPr/>
        </p:nvSpPr>
        <p:spPr bwMode="auto">
          <a:xfrm>
            <a:off x="290513" y="2346325"/>
            <a:ext cx="1206500" cy="336550"/>
          </a:xfrm>
          <a:prstGeom prst="rect">
            <a:avLst/>
          </a:prstGeom>
          <a:noFill/>
          <a:ln w="9525">
            <a:noFill/>
            <a:miter lim="800000"/>
          </a:ln>
        </p:spPr>
        <p:txBody>
          <a:bodyPr wrap="none" lIns="90000" tIns="46800" rIns="90000" bIns="46800">
            <a:spAutoFit/>
          </a:bodyPr>
          <a:lstStyle/>
          <a:p>
            <a:r>
              <a:rPr lang="en-GB" sz="1600">
                <a:latin typeface="Arial" panose="020B0604020202020204" pitchFamily="34" charset="0"/>
              </a:rPr>
              <a:t>Peripherals</a:t>
            </a:r>
            <a:endParaRPr lang="en-GB" sz="1600">
              <a:latin typeface="Arial" panose="020B0604020202020204" pitchFamily="34" charset="0"/>
            </a:endParaRPr>
          </a:p>
        </p:txBody>
      </p:sp>
      <p:sp>
        <p:nvSpPr>
          <p:cNvPr id="20496" name="Text Box 20"/>
          <p:cNvSpPr txBox="1">
            <a:spLocks noChangeArrowheads="1"/>
          </p:cNvSpPr>
          <p:nvPr/>
        </p:nvSpPr>
        <p:spPr bwMode="auto">
          <a:xfrm>
            <a:off x="138113" y="5622925"/>
            <a:ext cx="1590675" cy="581025"/>
          </a:xfrm>
          <a:prstGeom prst="rect">
            <a:avLst/>
          </a:prstGeom>
          <a:noFill/>
          <a:ln w="9525">
            <a:noFill/>
            <a:miter lim="800000"/>
          </a:ln>
        </p:spPr>
        <p:txBody>
          <a:bodyPr wrap="none" lIns="90000" tIns="46800" rIns="90000" bIns="46800">
            <a:spAutoFit/>
          </a:bodyPr>
          <a:lstStyle/>
          <a:p>
            <a:r>
              <a:rPr lang="en-GB" sz="1600">
                <a:latin typeface="Arial" panose="020B0604020202020204" pitchFamily="34" charset="0"/>
              </a:rPr>
              <a:t>Communication</a:t>
            </a:r>
            <a:endParaRPr lang="en-GB" sz="1600">
              <a:latin typeface="Arial" panose="020B0604020202020204" pitchFamily="34" charset="0"/>
            </a:endParaRPr>
          </a:p>
          <a:p>
            <a:r>
              <a:rPr lang="en-GB" sz="1600">
                <a:latin typeface="Arial" panose="020B0604020202020204" pitchFamily="34" charset="0"/>
              </a:rPr>
              <a:t>lines</a:t>
            </a:r>
            <a:endParaRPr lang="en-GB" sz="1600">
              <a:latin typeface="Arial" panose="020B0604020202020204" pitchFamily="34" charset="0"/>
            </a:endParaRPr>
          </a:p>
        </p:txBody>
      </p:sp>
      <p:sp>
        <p:nvSpPr>
          <p:cNvPr id="20497" name="Text Box 11"/>
          <p:cNvSpPr txBox="1">
            <a:spLocks noChangeArrowheads="1"/>
          </p:cNvSpPr>
          <p:nvPr/>
        </p:nvSpPr>
        <p:spPr bwMode="auto">
          <a:xfrm>
            <a:off x="4800600" y="2971800"/>
            <a:ext cx="1241425" cy="825500"/>
          </a:xfrm>
          <a:prstGeom prst="rect">
            <a:avLst/>
          </a:prstGeom>
          <a:noFill/>
          <a:ln w="9525">
            <a:noFill/>
            <a:miter lim="800000"/>
          </a:ln>
        </p:spPr>
        <p:txBody>
          <a:bodyPr wrap="none" lIns="90000" tIns="46800" rIns="90000" bIns="46800">
            <a:spAutoFit/>
          </a:bodyPr>
          <a:lstStyle/>
          <a:p>
            <a:r>
              <a:rPr lang="en-GB" sz="1600">
                <a:latin typeface="Arial" panose="020B0604020202020204" pitchFamily="34" charset="0"/>
              </a:rPr>
              <a:t>Central</a:t>
            </a:r>
            <a:endParaRPr lang="en-GB" sz="1600">
              <a:latin typeface="Arial" panose="020B0604020202020204" pitchFamily="34" charset="0"/>
            </a:endParaRPr>
          </a:p>
          <a:p>
            <a:r>
              <a:rPr lang="en-GB" sz="1600">
                <a:latin typeface="Arial" panose="020B0604020202020204" pitchFamily="34" charset="0"/>
              </a:rPr>
              <a:t>Processing </a:t>
            </a:r>
            <a:endParaRPr lang="en-GB" sz="1600">
              <a:latin typeface="Arial" panose="020B0604020202020204" pitchFamily="34" charset="0"/>
            </a:endParaRPr>
          </a:p>
          <a:p>
            <a:r>
              <a:rPr lang="en-GB" sz="1600">
                <a:latin typeface="Arial" panose="020B0604020202020204" pitchFamily="34" charset="0"/>
              </a:rPr>
              <a:t>Unit</a:t>
            </a:r>
            <a:endParaRPr lang="en-GB" sz="1600">
              <a:latin typeface="Arial" panose="020B0604020202020204" pitchFamily="34" charset="0"/>
            </a:endParaRPr>
          </a:p>
        </p:txBody>
      </p:sp>
      <p:sp>
        <p:nvSpPr>
          <p:cNvPr id="20498" name="Line 21"/>
          <p:cNvSpPr>
            <a:spLocks noChangeShapeType="1"/>
          </p:cNvSpPr>
          <p:nvPr/>
        </p:nvSpPr>
        <p:spPr bwMode="auto">
          <a:xfrm>
            <a:off x="914400" y="2743200"/>
            <a:ext cx="0" cy="914400"/>
          </a:xfrm>
          <a:prstGeom prst="line">
            <a:avLst/>
          </a:prstGeom>
          <a:noFill/>
          <a:ln w="9525">
            <a:solidFill>
              <a:schemeClr val="tx1"/>
            </a:solidFill>
            <a:round/>
            <a:headEnd type="triangle" w="med" len="med"/>
            <a:tailEnd type="triangle" w="med" len="med"/>
          </a:ln>
        </p:spPr>
        <p:txBody>
          <a:bodyPr wrap="none" lIns="90000" tIns="46800" rIns="90000" bIns="46800" anchor="ctr"/>
          <a:lstStyle/>
          <a:p>
            <a:endParaRPr lang="en-US"/>
          </a:p>
        </p:txBody>
      </p:sp>
      <p:sp>
        <p:nvSpPr>
          <p:cNvPr id="20499" name="Line 22"/>
          <p:cNvSpPr>
            <a:spLocks noChangeShapeType="1"/>
          </p:cNvSpPr>
          <p:nvPr/>
        </p:nvSpPr>
        <p:spPr bwMode="auto">
          <a:xfrm>
            <a:off x="914400" y="4724400"/>
            <a:ext cx="0" cy="914400"/>
          </a:xfrm>
          <a:prstGeom prst="line">
            <a:avLst/>
          </a:prstGeom>
          <a:noFill/>
          <a:ln w="9525">
            <a:solidFill>
              <a:schemeClr val="tx1"/>
            </a:solidFill>
            <a:round/>
            <a:headEnd type="triangle" w="med" len="med"/>
            <a:tailEnd type="triangle" w="med" len="med"/>
          </a:ln>
        </p:spPr>
        <p:txBody>
          <a:bodyPr wrap="none" lIns="90000" tIns="46800" rIns="90000" bIns="46800" anchor="ctr"/>
          <a:lstStyle/>
          <a:p>
            <a:endParaRPr lang="en-US"/>
          </a:p>
        </p:txBody>
      </p:sp>
      <p:sp>
        <p:nvSpPr>
          <p:cNvPr id="20500" name="Text Box 24"/>
          <p:cNvSpPr txBox="1">
            <a:spLocks noChangeArrowheads="1"/>
          </p:cNvSpPr>
          <p:nvPr/>
        </p:nvSpPr>
        <p:spPr bwMode="auto">
          <a:xfrm>
            <a:off x="5603875" y="2257425"/>
            <a:ext cx="1295400" cy="396875"/>
          </a:xfrm>
          <a:prstGeom prst="rect">
            <a:avLst/>
          </a:prstGeom>
          <a:noFill/>
          <a:ln w="9525">
            <a:noFill/>
            <a:miter lim="800000"/>
          </a:ln>
        </p:spPr>
        <p:txBody>
          <a:bodyPr wrap="none" lIns="90000" tIns="46800" rIns="90000" bIns="46800" anchor="ctr">
            <a:spAutoFit/>
          </a:bodyPr>
          <a:lstStyle/>
          <a:p>
            <a:pPr algn="ctr"/>
            <a:r>
              <a:rPr lang="en-US" altLang="zh-TW" sz="2000">
                <a:latin typeface="Arial" panose="020B0604020202020204" pitchFamily="34" charset="0"/>
                <a:ea typeface="PMingLiU" pitchFamily="18" charset="-120"/>
              </a:rPr>
              <a:t>Computer</a:t>
            </a:r>
            <a:endParaRPr lang="en-US" altLang="zh-TW" sz="1600">
              <a:latin typeface="Arial" panose="020B0604020202020204" pitchFamily="34" charset="0"/>
              <a:ea typeface="PMingLiU" pitchFamily="18" charset="-12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Oval 20" descr="50%"/>
          <p:cNvSpPr>
            <a:spLocks noChangeArrowheads="1"/>
          </p:cNvSpPr>
          <p:nvPr/>
        </p:nvSpPr>
        <p:spPr bwMode="auto">
          <a:xfrm>
            <a:off x="3886200" y="2057400"/>
            <a:ext cx="4724400" cy="4648200"/>
          </a:xfrm>
          <a:prstGeom prst="ellipse">
            <a:avLst/>
          </a:prstGeom>
          <a:pattFill prst="pct50">
            <a:fgClr>
              <a:schemeClr val="tx1"/>
            </a:fgClr>
            <a:bgClr>
              <a:schemeClr val="bg1"/>
            </a:bgClr>
          </a:pattFill>
          <a:ln w="9525">
            <a:solidFill>
              <a:schemeClr val="tx1"/>
            </a:solidFill>
            <a:round/>
          </a:ln>
        </p:spPr>
        <p:txBody>
          <a:bodyPr wrap="none" lIns="90000" tIns="46800" rIns="90000" bIns="46800" anchor="ctr"/>
          <a:lstStyle/>
          <a:p>
            <a:pPr algn="ctr"/>
            <a:endParaRPr lang="en-GB" sz="1600">
              <a:latin typeface="Arial" panose="020B0604020202020204" pitchFamily="34" charset="0"/>
            </a:endParaRPr>
          </a:p>
        </p:txBody>
      </p:sp>
      <p:sp>
        <p:nvSpPr>
          <p:cNvPr id="21507" name="Oval 25"/>
          <p:cNvSpPr>
            <a:spLocks noChangeArrowheads="1"/>
          </p:cNvSpPr>
          <p:nvPr/>
        </p:nvSpPr>
        <p:spPr bwMode="auto">
          <a:xfrm>
            <a:off x="5410200" y="3581400"/>
            <a:ext cx="1524000" cy="1524000"/>
          </a:xfrm>
          <a:prstGeom prst="ellipse">
            <a:avLst/>
          </a:prstGeom>
          <a:solidFill>
            <a:schemeClr val="bg1"/>
          </a:solidFill>
          <a:ln w="9525">
            <a:solidFill>
              <a:schemeClr val="tx1"/>
            </a:solidFill>
            <a:round/>
          </a:ln>
        </p:spPr>
        <p:txBody>
          <a:bodyPr wrap="none" lIns="90000" tIns="46800" rIns="90000" bIns="46800" anchor="ctr"/>
          <a:lstStyle/>
          <a:p>
            <a:endParaRPr lang="en-IN"/>
          </a:p>
        </p:txBody>
      </p:sp>
      <p:sp>
        <p:nvSpPr>
          <p:cNvPr id="21508" name="Rectangle 2"/>
          <p:cNvSpPr>
            <a:spLocks noGrp="1" noChangeArrowheads="1"/>
          </p:cNvSpPr>
          <p:nvPr>
            <p:ph type="title"/>
          </p:nvPr>
        </p:nvSpPr>
        <p:spPr>
          <a:noFill/>
        </p:spPr>
        <p:txBody>
          <a:bodyPr lIns="90000" tIns="46800" rIns="90000" bIns="46800"/>
          <a:lstStyle/>
          <a:p>
            <a:r>
              <a:rPr lang="en-GB" dirty="0" smtClean="0"/>
              <a:t>Structure - The CPU</a:t>
            </a:r>
            <a:endParaRPr lang="en-GB" dirty="0" smtClean="0"/>
          </a:p>
        </p:txBody>
      </p:sp>
      <p:sp>
        <p:nvSpPr>
          <p:cNvPr id="21509" name="Oval 21"/>
          <p:cNvSpPr>
            <a:spLocks noChangeArrowheads="1"/>
          </p:cNvSpPr>
          <p:nvPr/>
        </p:nvSpPr>
        <p:spPr bwMode="auto">
          <a:xfrm>
            <a:off x="4648200" y="2743200"/>
            <a:ext cx="1371600" cy="1371600"/>
          </a:xfrm>
          <a:prstGeom prst="ellipse">
            <a:avLst/>
          </a:prstGeom>
          <a:solidFill>
            <a:schemeClr val="bg1"/>
          </a:solidFill>
          <a:ln w="9525">
            <a:solidFill>
              <a:schemeClr val="tx1"/>
            </a:solidFill>
            <a:round/>
          </a:ln>
        </p:spPr>
        <p:txBody>
          <a:bodyPr wrap="none" lIns="90000" tIns="46800" rIns="90000" bIns="46800" anchor="ctr"/>
          <a:lstStyle/>
          <a:p>
            <a:endParaRPr lang="en-IN"/>
          </a:p>
        </p:txBody>
      </p:sp>
      <p:sp>
        <p:nvSpPr>
          <p:cNvPr id="21510" name="Oval 22"/>
          <p:cNvSpPr>
            <a:spLocks noChangeArrowheads="1"/>
          </p:cNvSpPr>
          <p:nvPr/>
        </p:nvSpPr>
        <p:spPr bwMode="auto">
          <a:xfrm>
            <a:off x="76200" y="2971800"/>
            <a:ext cx="1981200" cy="2057400"/>
          </a:xfrm>
          <a:prstGeom prst="ellipse">
            <a:avLst/>
          </a:prstGeom>
          <a:noFill/>
          <a:ln w="9525">
            <a:solidFill>
              <a:schemeClr val="tx1"/>
            </a:solidFill>
            <a:round/>
          </a:ln>
        </p:spPr>
        <p:txBody>
          <a:bodyPr wrap="none" lIns="90000" tIns="46800" rIns="90000" bIns="46800" anchor="ctr"/>
          <a:lstStyle/>
          <a:p>
            <a:endParaRPr lang="en-IN"/>
          </a:p>
        </p:txBody>
      </p:sp>
      <p:sp>
        <p:nvSpPr>
          <p:cNvPr id="21511" name="Oval 23"/>
          <p:cNvSpPr>
            <a:spLocks noChangeArrowheads="1"/>
          </p:cNvSpPr>
          <p:nvPr/>
        </p:nvSpPr>
        <p:spPr bwMode="auto">
          <a:xfrm>
            <a:off x="6400800" y="2743200"/>
            <a:ext cx="1371600" cy="1371600"/>
          </a:xfrm>
          <a:prstGeom prst="ellipse">
            <a:avLst/>
          </a:prstGeom>
          <a:solidFill>
            <a:schemeClr val="bg1"/>
          </a:solidFill>
          <a:ln w="9525">
            <a:solidFill>
              <a:schemeClr val="tx1"/>
            </a:solidFill>
            <a:round/>
          </a:ln>
        </p:spPr>
        <p:txBody>
          <a:bodyPr wrap="none" lIns="90000" tIns="46800" rIns="90000" bIns="46800" anchor="ctr"/>
          <a:lstStyle/>
          <a:p>
            <a:endParaRPr lang="en-IN"/>
          </a:p>
        </p:txBody>
      </p:sp>
      <p:sp>
        <p:nvSpPr>
          <p:cNvPr id="21512" name="Oval 24"/>
          <p:cNvSpPr>
            <a:spLocks noChangeArrowheads="1"/>
          </p:cNvSpPr>
          <p:nvPr/>
        </p:nvSpPr>
        <p:spPr bwMode="auto">
          <a:xfrm>
            <a:off x="5486400" y="4800600"/>
            <a:ext cx="1371600" cy="1371600"/>
          </a:xfrm>
          <a:prstGeom prst="ellipse">
            <a:avLst/>
          </a:prstGeom>
          <a:solidFill>
            <a:schemeClr val="bg1"/>
          </a:solidFill>
          <a:ln w="9525">
            <a:solidFill>
              <a:schemeClr val="tx1"/>
            </a:solidFill>
            <a:round/>
          </a:ln>
        </p:spPr>
        <p:txBody>
          <a:bodyPr wrap="none" lIns="90000" tIns="46800" rIns="90000" bIns="46800" anchor="ctr"/>
          <a:lstStyle/>
          <a:p>
            <a:endParaRPr lang="en-IN"/>
          </a:p>
        </p:txBody>
      </p:sp>
      <p:sp>
        <p:nvSpPr>
          <p:cNvPr id="21513" name="Text Box 26"/>
          <p:cNvSpPr txBox="1">
            <a:spLocks noChangeArrowheads="1"/>
          </p:cNvSpPr>
          <p:nvPr/>
        </p:nvSpPr>
        <p:spPr bwMode="auto">
          <a:xfrm>
            <a:off x="603250" y="3016250"/>
            <a:ext cx="1073150" cy="336550"/>
          </a:xfrm>
          <a:prstGeom prst="rect">
            <a:avLst/>
          </a:prstGeom>
          <a:noFill/>
          <a:ln w="9525">
            <a:noFill/>
            <a:miter lim="800000"/>
          </a:ln>
        </p:spPr>
        <p:txBody>
          <a:bodyPr wrap="none" lIns="90000" tIns="46800" rIns="90000" bIns="46800">
            <a:spAutoFit/>
          </a:bodyPr>
          <a:lstStyle/>
          <a:p>
            <a:r>
              <a:rPr lang="en-GB" sz="1600">
                <a:latin typeface="Arial" panose="020B0604020202020204" pitchFamily="34" charset="0"/>
              </a:rPr>
              <a:t>Computer</a:t>
            </a:r>
            <a:endParaRPr lang="en-GB"/>
          </a:p>
        </p:txBody>
      </p:sp>
      <p:sp>
        <p:nvSpPr>
          <p:cNvPr id="21514" name="Text Box 27"/>
          <p:cNvSpPr txBox="1">
            <a:spLocks noChangeArrowheads="1"/>
          </p:cNvSpPr>
          <p:nvPr/>
        </p:nvSpPr>
        <p:spPr bwMode="auto">
          <a:xfrm>
            <a:off x="6553200" y="2971800"/>
            <a:ext cx="1084263" cy="825500"/>
          </a:xfrm>
          <a:prstGeom prst="rect">
            <a:avLst/>
          </a:prstGeom>
          <a:noFill/>
          <a:ln w="9525">
            <a:noFill/>
            <a:miter lim="800000"/>
          </a:ln>
        </p:spPr>
        <p:txBody>
          <a:bodyPr wrap="none" lIns="90000" tIns="46800" rIns="90000" bIns="46800">
            <a:spAutoFit/>
          </a:bodyPr>
          <a:lstStyle/>
          <a:p>
            <a:r>
              <a:rPr lang="en-GB" sz="1600">
                <a:latin typeface="Arial" panose="020B0604020202020204" pitchFamily="34" charset="0"/>
              </a:rPr>
              <a:t>Arithmetic</a:t>
            </a:r>
            <a:endParaRPr lang="en-GB" sz="1600">
              <a:latin typeface="Arial" panose="020B0604020202020204" pitchFamily="34" charset="0"/>
            </a:endParaRPr>
          </a:p>
          <a:p>
            <a:r>
              <a:rPr lang="en-GB" sz="1600">
                <a:latin typeface="Arial" panose="020B0604020202020204" pitchFamily="34" charset="0"/>
              </a:rPr>
              <a:t>and </a:t>
            </a:r>
            <a:endParaRPr lang="en-GB" sz="1600">
              <a:latin typeface="Arial" panose="020B0604020202020204" pitchFamily="34" charset="0"/>
            </a:endParaRPr>
          </a:p>
          <a:p>
            <a:r>
              <a:rPr lang="en-GB" sz="1600">
                <a:solidFill>
                  <a:srgbClr val="FF0000"/>
                </a:solidFill>
                <a:latin typeface="Arial" panose="020B0604020202020204" pitchFamily="34" charset="0"/>
              </a:rPr>
              <a:t>Logi</a:t>
            </a:r>
            <a:r>
              <a:rPr lang="en-GB" altLang="zh-TW" sz="1600">
                <a:solidFill>
                  <a:srgbClr val="FF0000"/>
                </a:solidFill>
                <a:latin typeface="Arial" panose="020B0604020202020204" pitchFamily="34" charset="0"/>
                <a:ea typeface="PMingLiU" pitchFamily="18" charset="-120"/>
              </a:rPr>
              <a:t>c</a:t>
            </a:r>
            <a:r>
              <a:rPr lang="en-GB" sz="1600">
                <a:latin typeface="Arial" panose="020B0604020202020204" pitchFamily="34" charset="0"/>
              </a:rPr>
              <a:t> Unit</a:t>
            </a:r>
            <a:endParaRPr lang="en-GB" sz="1600">
              <a:latin typeface="Arial" panose="020B0604020202020204" pitchFamily="34" charset="0"/>
            </a:endParaRPr>
          </a:p>
        </p:txBody>
      </p:sp>
      <p:sp>
        <p:nvSpPr>
          <p:cNvPr id="21515" name="Text Box 28"/>
          <p:cNvSpPr txBox="1">
            <a:spLocks noChangeArrowheads="1"/>
          </p:cNvSpPr>
          <p:nvPr/>
        </p:nvSpPr>
        <p:spPr bwMode="auto">
          <a:xfrm>
            <a:off x="5715000" y="5133975"/>
            <a:ext cx="835025" cy="581025"/>
          </a:xfrm>
          <a:prstGeom prst="rect">
            <a:avLst/>
          </a:prstGeom>
          <a:noFill/>
          <a:ln w="9525">
            <a:noFill/>
            <a:miter lim="800000"/>
          </a:ln>
        </p:spPr>
        <p:txBody>
          <a:bodyPr wrap="none" lIns="90000" tIns="46800" rIns="90000" bIns="46800">
            <a:spAutoFit/>
          </a:bodyPr>
          <a:lstStyle/>
          <a:p>
            <a:r>
              <a:rPr lang="en-GB" sz="1600">
                <a:latin typeface="Arial" panose="020B0604020202020204" pitchFamily="34" charset="0"/>
              </a:rPr>
              <a:t>Control</a:t>
            </a:r>
            <a:endParaRPr lang="en-GB" sz="1600">
              <a:latin typeface="Arial" panose="020B0604020202020204" pitchFamily="34" charset="0"/>
            </a:endParaRPr>
          </a:p>
          <a:p>
            <a:r>
              <a:rPr lang="en-GB" sz="1600">
                <a:latin typeface="Arial" panose="020B0604020202020204" pitchFamily="34" charset="0"/>
              </a:rPr>
              <a:t>Unit</a:t>
            </a:r>
            <a:endParaRPr lang="en-GB" sz="1600">
              <a:latin typeface="Arial" panose="020B0604020202020204" pitchFamily="34" charset="0"/>
            </a:endParaRPr>
          </a:p>
        </p:txBody>
      </p:sp>
      <p:sp>
        <p:nvSpPr>
          <p:cNvPr id="21516" name="Text Box 29"/>
          <p:cNvSpPr txBox="1">
            <a:spLocks noChangeArrowheads="1"/>
          </p:cNvSpPr>
          <p:nvPr/>
        </p:nvSpPr>
        <p:spPr bwMode="auto">
          <a:xfrm>
            <a:off x="5410200" y="4067175"/>
            <a:ext cx="1570038" cy="581025"/>
          </a:xfrm>
          <a:prstGeom prst="rect">
            <a:avLst/>
          </a:prstGeom>
          <a:noFill/>
          <a:ln w="9525">
            <a:noFill/>
            <a:miter lim="800000"/>
          </a:ln>
        </p:spPr>
        <p:txBody>
          <a:bodyPr wrap="none" lIns="90000" tIns="46800" rIns="90000" bIns="46800">
            <a:spAutoFit/>
          </a:bodyPr>
          <a:lstStyle/>
          <a:p>
            <a:r>
              <a:rPr lang="en-GB" sz="1600">
                <a:latin typeface="Arial" panose="020B0604020202020204" pitchFamily="34" charset="0"/>
              </a:rPr>
              <a:t>Internal CPU</a:t>
            </a:r>
            <a:endParaRPr lang="en-GB" sz="1600">
              <a:latin typeface="Arial" panose="020B0604020202020204" pitchFamily="34" charset="0"/>
            </a:endParaRPr>
          </a:p>
          <a:p>
            <a:r>
              <a:rPr lang="en-GB" sz="1600">
                <a:latin typeface="Arial" panose="020B0604020202020204" pitchFamily="34" charset="0"/>
              </a:rPr>
              <a:t>Interconnection</a:t>
            </a:r>
            <a:endParaRPr lang="en-GB" sz="1600">
              <a:latin typeface="Arial" panose="020B0604020202020204" pitchFamily="34" charset="0"/>
            </a:endParaRPr>
          </a:p>
        </p:txBody>
      </p:sp>
      <p:sp>
        <p:nvSpPr>
          <p:cNvPr id="21517" name="Line 30"/>
          <p:cNvSpPr>
            <a:spLocks noChangeShapeType="1"/>
          </p:cNvSpPr>
          <p:nvPr/>
        </p:nvSpPr>
        <p:spPr bwMode="auto">
          <a:xfrm flipV="1">
            <a:off x="1524000" y="2209800"/>
            <a:ext cx="3886200" cy="1371600"/>
          </a:xfrm>
          <a:prstGeom prst="line">
            <a:avLst/>
          </a:prstGeom>
          <a:noFill/>
          <a:ln w="9525">
            <a:solidFill>
              <a:schemeClr val="tx1"/>
            </a:solidFill>
            <a:round/>
          </a:ln>
        </p:spPr>
        <p:txBody>
          <a:bodyPr wrap="none" lIns="90000" tIns="46800" rIns="90000" bIns="46800" anchor="ctr"/>
          <a:lstStyle/>
          <a:p>
            <a:endParaRPr lang="en-US"/>
          </a:p>
        </p:txBody>
      </p:sp>
      <p:sp>
        <p:nvSpPr>
          <p:cNvPr id="21518" name="Line 31"/>
          <p:cNvSpPr>
            <a:spLocks noChangeShapeType="1"/>
          </p:cNvSpPr>
          <p:nvPr/>
        </p:nvSpPr>
        <p:spPr bwMode="auto">
          <a:xfrm>
            <a:off x="1524000" y="4343400"/>
            <a:ext cx="3733800" cy="2133600"/>
          </a:xfrm>
          <a:prstGeom prst="line">
            <a:avLst/>
          </a:prstGeom>
          <a:noFill/>
          <a:ln w="9525">
            <a:solidFill>
              <a:schemeClr val="tx1"/>
            </a:solidFill>
            <a:round/>
          </a:ln>
        </p:spPr>
        <p:txBody>
          <a:bodyPr wrap="none" lIns="90000" tIns="46800" rIns="90000" bIns="46800" anchor="ctr"/>
          <a:lstStyle/>
          <a:p>
            <a:endParaRPr lang="en-US"/>
          </a:p>
        </p:txBody>
      </p:sp>
      <p:sp>
        <p:nvSpPr>
          <p:cNvPr id="21519" name="Text Box 34"/>
          <p:cNvSpPr txBox="1">
            <a:spLocks noChangeArrowheads="1"/>
          </p:cNvSpPr>
          <p:nvPr/>
        </p:nvSpPr>
        <p:spPr bwMode="auto">
          <a:xfrm>
            <a:off x="4829175" y="3168650"/>
            <a:ext cx="1038225" cy="336550"/>
          </a:xfrm>
          <a:prstGeom prst="rect">
            <a:avLst/>
          </a:prstGeom>
          <a:noFill/>
          <a:ln w="9525">
            <a:noFill/>
            <a:miter lim="800000"/>
          </a:ln>
        </p:spPr>
        <p:txBody>
          <a:bodyPr wrap="none" lIns="90000" tIns="46800" rIns="90000" bIns="46800">
            <a:spAutoFit/>
          </a:bodyPr>
          <a:lstStyle/>
          <a:p>
            <a:r>
              <a:rPr lang="en-GB" sz="1600">
                <a:latin typeface="Arial" panose="020B0604020202020204" pitchFamily="34" charset="0"/>
              </a:rPr>
              <a:t>Registers</a:t>
            </a:r>
            <a:endParaRPr lang="en-GB" sz="1600">
              <a:latin typeface="Arial" panose="020B0604020202020204" pitchFamily="34" charset="0"/>
            </a:endParaRPr>
          </a:p>
        </p:txBody>
      </p:sp>
      <p:sp>
        <p:nvSpPr>
          <p:cNvPr id="21520" name="Oval 37"/>
          <p:cNvSpPr>
            <a:spLocks noChangeArrowheads="1"/>
          </p:cNvSpPr>
          <p:nvPr/>
        </p:nvSpPr>
        <p:spPr bwMode="auto">
          <a:xfrm>
            <a:off x="1219200" y="3581400"/>
            <a:ext cx="685800" cy="762000"/>
          </a:xfrm>
          <a:prstGeom prst="ellipse">
            <a:avLst/>
          </a:prstGeom>
          <a:noFill/>
          <a:ln w="9525">
            <a:solidFill>
              <a:schemeClr val="tx1"/>
            </a:solidFill>
            <a:round/>
          </a:ln>
        </p:spPr>
        <p:txBody>
          <a:bodyPr wrap="none" lIns="90000" tIns="46800" rIns="90000" bIns="46800" anchor="ctr"/>
          <a:lstStyle/>
          <a:p>
            <a:endParaRPr lang="en-IN"/>
          </a:p>
        </p:txBody>
      </p:sp>
      <p:sp>
        <p:nvSpPr>
          <p:cNvPr id="21521" name="Text Box 38"/>
          <p:cNvSpPr txBox="1">
            <a:spLocks noChangeArrowheads="1"/>
          </p:cNvSpPr>
          <p:nvPr/>
        </p:nvSpPr>
        <p:spPr bwMode="auto">
          <a:xfrm>
            <a:off x="1327150" y="3810000"/>
            <a:ext cx="501650" cy="274638"/>
          </a:xfrm>
          <a:prstGeom prst="rect">
            <a:avLst/>
          </a:prstGeom>
          <a:noFill/>
          <a:ln w="9525">
            <a:noFill/>
            <a:miter lim="800000"/>
          </a:ln>
        </p:spPr>
        <p:txBody>
          <a:bodyPr wrap="none" lIns="90000" tIns="46800" rIns="90000" bIns="46800" anchor="ctr">
            <a:spAutoFit/>
          </a:bodyPr>
          <a:lstStyle/>
          <a:p>
            <a:pPr algn="ctr"/>
            <a:r>
              <a:rPr lang="en-US" altLang="zh-TW" sz="1200">
                <a:latin typeface="Arial" panose="020B0604020202020204" pitchFamily="34" charset="0"/>
                <a:ea typeface="PMingLiU" pitchFamily="18" charset="-120"/>
              </a:rPr>
              <a:t>CPU</a:t>
            </a:r>
            <a:endParaRPr lang="en-US" altLang="zh-TW" sz="1600">
              <a:latin typeface="Arial" panose="020B0604020202020204" pitchFamily="34" charset="0"/>
              <a:ea typeface="PMingLiU" pitchFamily="18" charset="-120"/>
            </a:endParaRPr>
          </a:p>
        </p:txBody>
      </p:sp>
      <p:sp>
        <p:nvSpPr>
          <p:cNvPr id="21522" name="Oval 39"/>
          <p:cNvSpPr>
            <a:spLocks noChangeArrowheads="1"/>
          </p:cNvSpPr>
          <p:nvPr/>
        </p:nvSpPr>
        <p:spPr bwMode="auto">
          <a:xfrm>
            <a:off x="304800" y="3276600"/>
            <a:ext cx="609600" cy="609600"/>
          </a:xfrm>
          <a:prstGeom prst="ellipse">
            <a:avLst/>
          </a:prstGeom>
          <a:noFill/>
          <a:ln w="9525">
            <a:solidFill>
              <a:schemeClr val="tx1"/>
            </a:solidFill>
            <a:round/>
          </a:ln>
        </p:spPr>
        <p:txBody>
          <a:bodyPr wrap="none" lIns="90000" tIns="46800" rIns="90000" bIns="46800" anchor="ctr"/>
          <a:lstStyle/>
          <a:p>
            <a:pPr algn="ctr"/>
            <a:r>
              <a:rPr lang="en-US" altLang="zh-TW" sz="1200">
                <a:latin typeface="Arial" panose="020B0604020202020204" pitchFamily="34" charset="0"/>
                <a:ea typeface="PMingLiU" pitchFamily="18" charset="-120"/>
              </a:rPr>
              <a:t>I/O</a:t>
            </a:r>
            <a:endParaRPr lang="en-US" altLang="zh-TW" sz="1600">
              <a:latin typeface="Arial" panose="020B0604020202020204" pitchFamily="34" charset="0"/>
              <a:ea typeface="PMingLiU" pitchFamily="18" charset="-120"/>
            </a:endParaRPr>
          </a:p>
        </p:txBody>
      </p:sp>
      <p:sp>
        <p:nvSpPr>
          <p:cNvPr id="21523" name="Oval 40"/>
          <p:cNvSpPr>
            <a:spLocks noChangeArrowheads="1"/>
          </p:cNvSpPr>
          <p:nvPr/>
        </p:nvSpPr>
        <p:spPr bwMode="auto">
          <a:xfrm>
            <a:off x="381000" y="4191000"/>
            <a:ext cx="685800" cy="685800"/>
          </a:xfrm>
          <a:prstGeom prst="ellipse">
            <a:avLst/>
          </a:prstGeom>
          <a:noFill/>
          <a:ln w="9525">
            <a:solidFill>
              <a:schemeClr val="tx1"/>
            </a:solidFill>
            <a:round/>
          </a:ln>
        </p:spPr>
        <p:txBody>
          <a:bodyPr wrap="none" lIns="90000" tIns="46800" rIns="90000" bIns="46800" anchor="ctr"/>
          <a:lstStyle/>
          <a:p>
            <a:endParaRPr lang="en-IN"/>
          </a:p>
        </p:txBody>
      </p:sp>
      <p:sp>
        <p:nvSpPr>
          <p:cNvPr id="21524" name="Oval 41"/>
          <p:cNvSpPr>
            <a:spLocks noChangeArrowheads="1"/>
          </p:cNvSpPr>
          <p:nvPr/>
        </p:nvSpPr>
        <p:spPr bwMode="auto">
          <a:xfrm>
            <a:off x="609600" y="3581400"/>
            <a:ext cx="685800" cy="762000"/>
          </a:xfrm>
          <a:prstGeom prst="ellipse">
            <a:avLst/>
          </a:prstGeom>
          <a:noFill/>
          <a:ln w="9525">
            <a:solidFill>
              <a:schemeClr val="tx1"/>
            </a:solidFill>
            <a:round/>
          </a:ln>
        </p:spPr>
        <p:txBody>
          <a:bodyPr wrap="none" lIns="90000" tIns="46800" rIns="90000" bIns="46800" anchor="ctr"/>
          <a:lstStyle/>
          <a:p>
            <a:endParaRPr lang="en-IN"/>
          </a:p>
        </p:txBody>
      </p:sp>
      <p:sp>
        <p:nvSpPr>
          <p:cNvPr id="21525" name="Text Box 43"/>
          <p:cNvSpPr txBox="1">
            <a:spLocks noChangeArrowheads="1"/>
          </p:cNvSpPr>
          <p:nvPr/>
        </p:nvSpPr>
        <p:spPr bwMode="auto">
          <a:xfrm>
            <a:off x="381000" y="4373563"/>
            <a:ext cx="730250" cy="274637"/>
          </a:xfrm>
          <a:prstGeom prst="rect">
            <a:avLst/>
          </a:prstGeom>
          <a:noFill/>
          <a:ln w="9525">
            <a:noFill/>
            <a:miter lim="800000"/>
          </a:ln>
        </p:spPr>
        <p:txBody>
          <a:bodyPr wrap="none" lIns="90000" tIns="46800" rIns="90000" bIns="46800" anchor="ctr">
            <a:spAutoFit/>
          </a:bodyPr>
          <a:lstStyle/>
          <a:p>
            <a:pPr algn="ctr"/>
            <a:r>
              <a:rPr lang="en-US" altLang="zh-TW" sz="1200">
                <a:latin typeface="Arial" panose="020B0604020202020204" pitchFamily="34" charset="0"/>
                <a:ea typeface="PMingLiU" pitchFamily="18" charset="-120"/>
              </a:rPr>
              <a:t>Memory</a:t>
            </a:r>
            <a:endParaRPr lang="en-US" altLang="zh-TW" sz="1600">
              <a:latin typeface="Arial" panose="020B0604020202020204" pitchFamily="34" charset="0"/>
              <a:ea typeface="PMingLiU" pitchFamily="18" charset="-120"/>
            </a:endParaRPr>
          </a:p>
        </p:txBody>
      </p:sp>
      <p:sp>
        <p:nvSpPr>
          <p:cNvPr id="21526" name="Text Box 44"/>
          <p:cNvSpPr txBox="1">
            <a:spLocks noChangeArrowheads="1"/>
          </p:cNvSpPr>
          <p:nvPr/>
        </p:nvSpPr>
        <p:spPr bwMode="auto">
          <a:xfrm>
            <a:off x="606425" y="3810000"/>
            <a:ext cx="688975" cy="457200"/>
          </a:xfrm>
          <a:prstGeom prst="rect">
            <a:avLst/>
          </a:prstGeom>
          <a:noFill/>
          <a:ln w="9525">
            <a:noFill/>
            <a:miter lim="800000"/>
          </a:ln>
        </p:spPr>
        <p:txBody>
          <a:bodyPr wrap="none" lIns="90000" tIns="46800" rIns="90000" bIns="46800" anchor="ctr">
            <a:spAutoFit/>
          </a:bodyPr>
          <a:lstStyle/>
          <a:p>
            <a:pPr algn="ctr"/>
            <a:r>
              <a:rPr lang="en-US" altLang="zh-TW" sz="1200">
                <a:latin typeface="Arial" panose="020B0604020202020204" pitchFamily="34" charset="0"/>
                <a:ea typeface="PMingLiU" pitchFamily="18" charset="-120"/>
              </a:rPr>
              <a:t>System</a:t>
            </a:r>
            <a:endParaRPr lang="en-US" altLang="zh-TW" sz="1200">
              <a:latin typeface="Arial" panose="020B0604020202020204" pitchFamily="34" charset="0"/>
              <a:ea typeface="PMingLiU" pitchFamily="18" charset="-120"/>
            </a:endParaRPr>
          </a:p>
          <a:p>
            <a:pPr algn="ctr"/>
            <a:r>
              <a:rPr lang="en-US" altLang="zh-TW" sz="1200">
                <a:latin typeface="Arial" panose="020B0604020202020204" pitchFamily="34" charset="0"/>
                <a:ea typeface="PMingLiU" pitchFamily="18" charset="-120"/>
              </a:rPr>
              <a:t>Bus</a:t>
            </a:r>
            <a:endParaRPr lang="en-US" altLang="zh-TW" sz="1200">
              <a:latin typeface="Arial" panose="020B0604020202020204" pitchFamily="34" charset="0"/>
              <a:ea typeface="PMingLiU" pitchFamily="18" charset="-120"/>
            </a:endParaRPr>
          </a:p>
        </p:txBody>
      </p:sp>
      <p:sp>
        <p:nvSpPr>
          <p:cNvPr id="21527" name="Text Box 46"/>
          <p:cNvSpPr txBox="1">
            <a:spLocks noChangeArrowheads="1"/>
          </p:cNvSpPr>
          <p:nvPr/>
        </p:nvSpPr>
        <p:spPr bwMode="auto">
          <a:xfrm>
            <a:off x="5910263" y="2317750"/>
            <a:ext cx="719137" cy="396875"/>
          </a:xfrm>
          <a:prstGeom prst="rect">
            <a:avLst/>
          </a:prstGeom>
          <a:noFill/>
          <a:ln w="9525">
            <a:noFill/>
            <a:miter lim="800000"/>
          </a:ln>
        </p:spPr>
        <p:txBody>
          <a:bodyPr wrap="none" lIns="90000" tIns="46800" rIns="90000" bIns="46800" anchor="ctr">
            <a:spAutoFit/>
          </a:bodyPr>
          <a:lstStyle/>
          <a:p>
            <a:pPr algn="ctr"/>
            <a:r>
              <a:rPr lang="en-US" altLang="zh-TW" sz="2000">
                <a:latin typeface="Arial" panose="020B0604020202020204" pitchFamily="34" charset="0"/>
                <a:ea typeface="PMingLiU" pitchFamily="18" charset="-120"/>
              </a:rPr>
              <a:t>CPU</a:t>
            </a:r>
            <a:endParaRPr lang="en-US" altLang="zh-TW" sz="1600">
              <a:latin typeface="Arial" panose="020B0604020202020204" pitchFamily="34" charset="0"/>
              <a:ea typeface="PMingLiU" pitchFamily="18" charset="-12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Structure - The CPU</a:t>
            </a:r>
            <a:endParaRPr lang="en-US" dirty="0"/>
          </a:p>
        </p:txBody>
      </p:sp>
      <p:sp>
        <p:nvSpPr>
          <p:cNvPr id="3" name="Content Placeholder 2"/>
          <p:cNvSpPr>
            <a:spLocks noGrp="1"/>
          </p:cNvSpPr>
          <p:nvPr>
            <p:ph sz="quarter" idx="1"/>
          </p:nvPr>
        </p:nvSpPr>
        <p:spPr/>
        <p:txBody>
          <a:bodyPr>
            <a:normAutofit lnSpcReduction="10000"/>
          </a:bodyPr>
          <a:lstStyle/>
          <a:p>
            <a:pPr algn="just">
              <a:lnSpc>
                <a:spcPct val="150000"/>
              </a:lnSpc>
            </a:pPr>
            <a:r>
              <a:rPr lang="en-US" sz="2600" b="1" dirty="0" smtClean="0"/>
              <a:t>Control unit: </a:t>
            </a:r>
            <a:r>
              <a:rPr lang="en-US" sz="2600" dirty="0" smtClean="0"/>
              <a:t>Control the operation of CPU and hence the computer.</a:t>
            </a:r>
            <a:endParaRPr lang="en-US" sz="2600" dirty="0" smtClean="0"/>
          </a:p>
          <a:p>
            <a:pPr algn="just">
              <a:lnSpc>
                <a:spcPct val="150000"/>
              </a:lnSpc>
            </a:pPr>
            <a:r>
              <a:rPr lang="en-US" sz="2600" b="1" dirty="0" smtClean="0"/>
              <a:t>Arithmetic and logic unit(ALU): </a:t>
            </a:r>
            <a:r>
              <a:rPr lang="en-US" sz="2600" dirty="0" smtClean="0"/>
              <a:t>Performs computers data processing function.</a:t>
            </a:r>
            <a:endParaRPr lang="en-US" sz="2600" dirty="0" smtClean="0"/>
          </a:p>
          <a:p>
            <a:pPr algn="just">
              <a:lnSpc>
                <a:spcPct val="150000"/>
              </a:lnSpc>
            </a:pPr>
            <a:r>
              <a:rPr lang="en-US" sz="2600" b="1" dirty="0" smtClean="0"/>
              <a:t>Registers: </a:t>
            </a:r>
            <a:r>
              <a:rPr lang="en-US" sz="2600" dirty="0" smtClean="0"/>
              <a:t>Provides storage internal to the CPU</a:t>
            </a:r>
            <a:endParaRPr lang="en-US" sz="2600" dirty="0" smtClean="0"/>
          </a:p>
          <a:p>
            <a:pPr algn="just">
              <a:lnSpc>
                <a:spcPct val="150000"/>
              </a:lnSpc>
            </a:pPr>
            <a:r>
              <a:rPr lang="en-US" sz="2600" b="1" dirty="0" smtClean="0"/>
              <a:t>CPU Interconnection: </a:t>
            </a:r>
            <a:r>
              <a:rPr lang="en-US" sz="2600" dirty="0" smtClean="0"/>
              <a:t>some mechanisms that provide for communication among the control unit, ALU and registers</a:t>
            </a:r>
            <a:endParaRPr lang="en-US" sz="260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2530" name="Oval 35" descr="50%"/>
          <p:cNvSpPr>
            <a:spLocks noChangeArrowheads="1"/>
          </p:cNvSpPr>
          <p:nvPr/>
        </p:nvSpPr>
        <p:spPr bwMode="auto">
          <a:xfrm>
            <a:off x="3886200" y="2057400"/>
            <a:ext cx="4724400" cy="4648200"/>
          </a:xfrm>
          <a:prstGeom prst="ellipse">
            <a:avLst/>
          </a:prstGeom>
          <a:pattFill prst="pct50">
            <a:fgClr>
              <a:schemeClr val="tx1"/>
            </a:fgClr>
            <a:bgClr>
              <a:schemeClr val="bg1"/>
            </a:bgClr>
          </a:pattFill>
          <a:ln w="9525">
            <a:solidFill>
              <a:schemeClr val="tx1"/>
            </a:solidFill>
            <a:round/>
          </a:ln>
        </p:spPr>
        <p:txBody>
          <a:bodyPr wrap="none" lIns="90000" tIns="46800" rIns="90000" bIns="46800" anchor="ctr"/>
          <a:lstStyle/>
          <a:p>
            <a:endParaRPr lang="en-IN"/>
          </a:p>
        </p:txBody>
      </p:sp>
      <p:sp>
        <p:nvSpPr>
          <p:cNvPr id="22531" name="Oval 40"/>
          <p:cNvSpPr>
            <a:spLocks noChangeArrowheads="1"/>
          </p:cNvSpPr>
          <p:nvPr/>
        </p:nvSpPr>
        <p:spPr bwMode="auto">
          <a:xfrm>
            <a:off x="5410200" y="3581400"/>
            <a:ext cx="1828800" cy="1828800"/>
          </a:xfrm>
          <a:prstGeom prst="ellipse">
            <a:avLst/>
          </a:prstGeom>
          <a:solidFill>
            <a:schemeClr val="bg1"/>
          </a:solidFill>
          <a:ln w="9525">
            <a:solidFill>
              <a:schemeClr val="tx1"/>
            </a:solidFill>
            <a:round/>
          </a:ln>
        </p:spPr>
        <p:txBody>
          <a:bodyPr wrap="none" lIns="90000" tIns="46800" rIns="90000" bIns="46800" anchor="ctr"/>
          <a:lstStyle/>
          <a:p>
            <a:endParaRPr lang="en-IN"/>
          </a:p>
        </p:txBody>
      </p:sp>
      <p:sp>
        <p:nvSpPr>
          <p:cNvPr id="22532" name="Rectangle 2"/>
          <p:cNvSpPr>
            <a:spLocks noGrp="1" noChangeArrowheads="1"/>
          </p:cNvSpPr>
          <p:nvPr>
            <p:ph type="title"/>
          </p:nvPr>
        </p:nvSpPr>
        <p:spPr>
          <a:noFill/>
        </p:spPr>
        <p:txBody>
          <a:bodyPr lIns="90000" tIns="46800" rIns="90000" bIns="46800"/>
          <a:lstStyle/>
          <a:p>
            <a:r>
              <a:rPr lang="en-GB" smtClean="0"/>
              <a:t>Structure - The Control Unit</a:t>
            </a:r>
            <a:endParaRPr lang="en-GB" smtClean="0"/>
          </a:p>
        </p:txBody>
      </p:sp>
      <p:sp>
        <p:nvSpPr>
          <p:cNvPr id="22533" name="Oval 36"/>
          <p:cNvSpPr>
            <a:spLocks noChangeArrowheads="1"/>
          </p:cNvSpPr>
          <p:nvPr/>
        </p:nvSpPr>
        <p:spPr bwMode="auto">
          <a:xfrm>
            <a:off x="4648200" y="2743200"/>
            <a:ext cx="1371600" cy="1371600"/>
          </a:xfrm>
          <a:prstGeom prst="ellipse">
            <a:avLst/>
          </a:prstGeom>
          <a:solidFill>
            <a:schemeClr val="bg1"/>
          </a:solidFill>
          <a:ln w="9525">
            <a:solidFill>
              <a:schemeClr val="tx1"/>
            </a:solidFill>
            <a:round/>
          </a:ln>
        </p:spPr>
        <p:txBody>
          <a:bodyPr wrap="none" lIns="90000" tIns="46800" rIns="90000" bIns="46800" anchor="ctr"/>
          <a:lstStyle/>
          <a:p>
            <a:endParaRPr lang="en-IN"/>
          </a:p>
        </p:txBody>
      </p:sp>
      <p:sp>
        <p:nvSpPr>
          <p:cNvPr id="22534" name="Oval 37"/>
          <p:cNvSpPr>
            <a:spLocks noChangeArrowheads="1"/>
          </p:cNvSpPr>
          <p:nvPr/>
        </p:nvSpPr>
        <p:spPr bwMode="auto">
          <a:xfrm>
            <a:off x="76200" y="2971800"/>
            <a:ext cx="1981200" cy="2057400"/>
          </a:xfrm>
          <a:prstGeom prst="ellipse">
            <a:avLst/>
          </a:prstGeom>
          <a:noFill/>
          <a:ln w="9525">
            <a:solidFill>
              <a:schemeClr val="tx1"/>
            </a:solidFill>
            <a:round/>
          </a:ln>
        </p:spPr>
        <p:txBody>
          <a:bodyPr wrap="none" lIns="90000" tIns="46800" rIns="90000" bIns="46800" anchor="ctr"/>
          <a:lstStyle/>
          <a:p>
            <a:endParaRPr lang="en-IN"/>
          </a:p>
        </p:txBody>
      </p:sp>
      <p:sp>
        <p:nvSpPr>
          <p:cNvPr id="22535" name="Oval 39"/>
          <p:cNvSpPr>
            <a:spLocks noChangeArrowheads="1"/>
          </p:cNvSpPr>
          <p:nvPr/>
        </p:nvSpPr>
        <p:spPr bwMode="auto">
          <a:xfrm>
            <a:off x="5715000" y="5029200"/>
            <a:ext cx="1371600" cy="1371600"/>
          </a:xfrm>
          <a:prstGeom prst="ellipse">
            <a:avLst/>
          </a:prstGeom>
          <a:solidFill>
            <a:schemeClr val="bg1"/>
          </a:solidFill>
          <a:ln w="9525">
            <a:solidFill>
              <a:schemeClr val="tx1"/>
            </a:solidFill>
            <a:round/>
          </a:ln>
        </p:spPr>
        <p:txBody>
          <a:bodyPr wrap="none" lIns="90000" tIns="46800" rIns="90000" bIns="46800" anchor="ctr"/>
          <a:lstStyle/>
          <a:p>
            <a:endParaRPr lang="en-IN"/>
          </a:p>
        </p:txBody>
      </p:sp>
      <p:sp>
        <p:nvSpPr>
          <p:cNvPr id="22536" name="Text Box 41"/>
          <p:cNvSpPr txBox="1">
            <a:spLocks noChangeArrowheads="1"/>
          </p:cNvSpPr>
          <p:nvPr/>
        </p:nvSpPr>
        <p:spPr bwMode="auto">
          <a:xfrm>
            <a:off x="763588" y="3016250"/>
            <a:ext cx="608012" cy="336550"/>
          </a:xfrm>
          <a:prstGeom prst="rect">
            <a:avLst/>
          </a:prstGeom>
          <a:noFill/>
          <a:ln w="9525">
            <a:noFill/>
            <a:miter lim="800000"/>
          </a:ln>
        </p:spPr>
        <p:txBody>
          <a:bodyPr wrap="none" lIns="90000" tIns="46800" rIns="90000" bIns="46800">
            <a:spAutoFit/>
          </a:bodyPr>
          <a:lstStyle/>
          <a:p>
            <a:r>
              <a:rPr lang="en-GB" sz="1600">
                <a:latin typeface="Arial" panose="020B0604020202020204" pitchFamily="34" charset="0"/>
              </a:rPr>
              <a:t>CPU</a:t>
            </a:r>
            <a:endParaRPr lang="en-GB"/>
          </a:p>
        </p:txBody>
      </p:sp>
      <p:sp>
        <p:nvSpPr>
          <p:cNvPr id="22537" name="Text Box 43"/>
          <p:cNvSpPr txBox="1">
            <a:spLocks noChangeArrowheads="1"/>
          </p:cNvSpPr>
          <p:nvPr/>
        </p:nvSpPr>
        <p:spPr bwMode="auto">
          <a:xfrm>
            <a:off x="5942013" y="5362575"/>
            <a:ext cx="915987" cy="581025"/>
          </a:xfrm>
          <a:prstGeom prst="rect">
            <a:avLst/>
          </a:prstGeom>
          <a:noFill/>
          <a:ln w="9525">
            <a:noFill/>
            <a:miter lim="800000"/>
          </a:ln>
        </p:spPr>
        <p:txBody>
          <a:bodyPr wrap="none" lIns="90000" tIns="46800" rIns="90000" bIns="46800">
            <a:spAutoFit/>
          </a:bodyPr>
          <a:lstStyle/>
          <a:p>
            <a:r>
              <a:rPr lang="en-GB" sz="1600">
                <a:latin typeface="Arial" panose="020B0604020202020204" pitchFamily="34" charset="0"/>
              </a:rPr>
              <a:t>Control</a:t>
            </a:r>
            <a:endParaRPr lang="en-GB" sz="1600">
              <a:latin typeface="Arial" panose="020B0604020202020204" pitchFamily="34" charset="0"/>
            </a:endParaRPr>
          </a:p>
          <a:p>
            <a:r>
              <a:rPr lang="en-GB" sz="1600">
                <a:latin typeface="Arial" panose="020B0604020202020204" pitchFamily="34" charset="0"/>
              </a:rPr>
              <a:t>Memory</a:t>
            </a:r>
            <a:endParaRPr lang="en-GB" sz="1600">
              <a:latin typeface="Arial" panose="020B0604020202020204" pitchFamily="34" charset="0"/>
            </a:endParaRPr>
          </a:p>
        </p:txBody>
      </p:sp>
      <p:sp>
        <p:nvSpPr>
          <p:cNvPr id="22538" name="Text Box 44"/>
          <p:cNvSpPr txBox="1">
            <a:spLocks noChangeArrowheads="1"/>
          </p:cNvSpPr>
          <p:nvPr/>
        </p:nvSpPr>
        <p:spPr bwMode="auto">
          <a:xfrm>
            <a:off x="5672138" y="4067175"/>
            <a:ext cx="1490662" cy="825500"/>
          </a:xfrm>
          <a:prstGeom prst="rect">
            <a:avLst/>
          </a:prstGeom>
          <a:noFill/>
          <a:ln w="9525">
            <a:noFill/>
            <a:miter lim="800000"/>
          </a:ln>
        </p:spPr>
        <p:txBody>
          <a:bodyPr wrap="none" lIns="90000" tIns="46800" rIns="90000" bIns="46800">
            <a:spAutoFit/>
          </a:bodyPr>
          <a:lstStyle/>
          <a:p>
            <a:r>
              <a:rPr lang="en-GB" sz="1600">
                <a:latin typeface="Arial" panose="020B0604020202020204" pitchFamily="34" charset="0"/>
              </a:rPr>
              <a:t>Control Unit </a:t>
            </a:r>
            <a:endParaRPr lang="en-GB" sz="1600">
              <a:latin typeface="Arial" panose="020B0604020202020204" pitchFamily="34" charset="0"/>
            </a:endParaRPr>
          </a:p>
          <a:p>
            <a:r>
              <a:rPr lang="en-GB" sz="1600">
                <a:latin typeface="Arial" panose="020B0604020202020204" pitchFamily="34" charset="0"/>
              </a:rPr>
              <a:t>Registers and </a:t>
            </a:r>
            <a:endParaRPr lang="en-GB" sz="1600">
              <a:latin typeface="Arial" panose="020B0604020202020204" pitchFamily="34" charset="0"/>
            </a:endParaRPr>
          </a:p>
          <a:p>
            <a:r>
              <a:rPr lang="en-GB" sz="1600">
                <a:latin typeface="Arial" panose="020B0604020202020204" pitchFamily="34" charset="0"/>
              </a:rPr>
              <a:t>Decoders</a:t>
            </a:r>
            <a:endParaRPr lang="en-GB" sz="1600">
              <a:latin typeface="Arial" panose="020B0604020202020204" pitchFamily="34" charset="0"/>
            </a:endParaRPr>
          </a:p>
        </p:txBody>
      </p:sp>
      <p:sp>
        <p:nvSpPr>
          <p:cNvPr id="22539" name="Line 45"/>
          <p:cNvSpPr>
            <a:spLocks noChangeShapeType="1"/>
          </p:cNvSpPr>
          <p:nvPr/>
        </p:nvSpPr>
        <p:spPr bwMode="auto">
          <a:xfrm flipV="1">
            <a:off x="1524000" y="2209800"/>
            <a:ext cx="3886200" cy="1371600"/>
          </a:xfrm>
          <a:prstGeom prst="line">
            <a:avLst/>
          </a:prstGeom>
          <a:noFill/>
          <a:ln w="9525">
            <a:solidFill>
              <a:schemeClr val="tx1"/>
            </a:solidFill>
            <a:round/>
          </a:ln>
        </p:spPr>
        <p:txBody>
          <a:bodyPr wrap="none" lIns="90000" tIns="46800" rIns="90000" bIns="46800" anchor="ctr"/>
          <a:lstStyle/>
          <a:p>
            <a:endParaRPr lang="en-US"/>
          </a:p>
        </p:txBody>
      </p:sp>
      <p:sp>
        <p:nvSpPr>
          <p:cNvPr id="22540" name="Line 46"/>
          <p:cNvSpPr>
            <a:spLocks noChangeShapeType="1"/>
          </p:cNvSpPr>
          <p:nvPr/>
        </p:nvSpPr>
        <p:spPr bwMode="auto">
          <a:xfrm>
            <a:off x="1524000" y="4343400"/>
            <a:ext cx="3733800" cy="2133600"/>
          </a:xfrm>
          <a:prstGeom prst="line">
            <a:avLst/>
          </a:prstGeom>
          <a:noFill/>
          <a:ln w="9525">
            <a:solidFill>
              <a:schemeClr val="tx1"/>
            </a:solidFill>
            <a:round/>
          </a:ln>
        </p:spPr>
        <p:txBody>
          <a:bodyPr wrap="none" lIns="90000" tIns="46800" rIns="90000" bIns="46800" anchor="ctr"/>
          <a:lstStyle/>
          <a:p>
            <a:endParaRPr lang="en-US"/>
          </a:p>
        </p:txBody>
      </p:sp>
      <p:sp>
        <p:nvSpPr>
          <p:cNvPr id="22541" name="Text Box 47"/>
          <p:cNvSpPr txBox="1">
            <a:spLocks noChangeArrowheads="1"/>
          </p:cNvSpPr>
          <p:nvPr/>
        </p:nvSpPr>
        <p:spPr bwMode="auto">
          <a:xfrm>
            <a:off x="4829175" y="3168650"/>
            <a:ext cx="1250950" cy="581025"/>
          </a:xfrm>
          <a:prstGeom prst="rect">
            <a:avLst/>
          </a:prstGeom>
          <a:noFill/>
          <a:ln w="9525">
            <a:noFill/>
            <a:miter lim="800000"/>
          </a:ln>
        </p:spPr>
        <p:txBody>
          <a:bodyPr wrap="none" lIns="90000" tIns="46800" rIns="90000" bIns="46800">
            <a:spAutoFit/>
          </a:bodyPr>
          <a:lstStyle/>
          <a:p>
            <a:r>
              <a:rPr lang="en-GB" sz="1600">
                <a:latin typeface="Arial" panose="020B0604020202020204" pitchFamily="34" charset="0"/>
              </a:rPr>
              <a:t>Sequencing</a:t>
            </a:r>
            <a:endParaRPr lang="en-GB" sz="1600">
              <a:latin typeface="Arial" panose="020B0604020202020204" pitchFamily="34" charset="0"/>
            </a:endParaRPr>
          </a:p>
          <a:p>
            <a:r>
              <a:rPr lang="en-GB" sz="1600">
                <a:latin typeface="Arial" panose="020B0604020202020204" pitchFamily="34" charset="0"/>
              </a:rPr>
              <a:t>Logi</a:t>
            </a:r>
            <a:r>
              <a:rPr lang="en-GB" altLang="zh-TW" sz="1600">
                <a:latin typeface="Arial" panose="020B0604020202020204" pitchFamily="34" charset="0"/>
                <a:ea typeface="PMingLiU" pitchFamily="18" charset="-120"/>
              </a:rPr>
              <a:t>c</a:t>
            </a:r>
            <a:endParaRPr lang="en-GB" sz="1600">
              <a:latin typeface="Arial" panose="020B0604020202020204" pitchFamily="34" charset="0"/>
            </a:endParaRPr>
          </a:p>
        </p:txBody>
      </p:sp>
      <p:sp>
        <p:nvSpPr>
          <p:cNvPr id="22542" name="Oval 48"/>
          <p:cNvSpPr>
            <a:spLocks noChangeArrowheads="1"/>
          </p:cNvSpPr>
          <p:nvPr/>
        </p:nvSpPr>
        <p:spPr bwMode="auto">
          <a:xfrm>
            <a:off x="1219200" y="3581400"/>
            <a:ext cx="685800" cy="762000"/>
          </a:xfrm>
          <a:prstGeom prst="ellipse">
            <a:avLst/>
          </a:prstGeom>
          <a:noFill/>
          <a:ln w="9525">
            <a:solidFill>
              <a:schemeClr val="tx1"/>
            </a:solidFill>
            <a:round/>
          </a:ln>
        </p:spPr>
        <p:txBody>
          <a:bodyPr wrap="none" lIns="90000" tIns="46800" rIns="90000" bIns="46800" anchor="ctr"/>
          <a:lstStyle/>
          <a:p>
            <a:endParaRPr lang="en-IN"/>
          </a:p>
        </p:txBody>
      </p:sp>
      <p:sp>
        <p:nvSpPr>
          <p:cNvPr id="22543" name="Text Box 49"/>
          <p:cNvSpPr txBox="1">
            <a:spLocks noChangeArrowheads="1"/>
          </p:cNvSpPr>
          <p:nvPr/>
        </p:nvSpPr>
        <p:spPr bwMode="auto">
          <a:xfrm>
            <a:off x="1246188" y="3719513"/>
            <a:ext cx="669925" cy="457200"/>
          </a:xfrm>
          <a:prstGeom prst="rect">
            <a:avLst/>
          </a:prstGeom>
          <a:noFill/>
          <a:ln w="9525">
            <a:noFill/>
            <a:miter lim="800000"/>
          </a:ln>
        </p:spPr>
        <p:txBody>
          <a:bodyPr wrap="none" lIns="90000" tIns="46800" rIns="90000" bIns="46800" anchor="ctr">
            <a:spAutoFit/>
          </a:bodyPr>
          <a:lstStyle/>
          <a:p>
            <a:pPr algn="ctr"/>
            <a:r>
              <a:rPr lang="en-US" altLang="zh-TW" sz="1200">
                <a:latin typeface="Arial" panose="020B0604020202020204" pitchFamily="34" charset="0"/>
                <a:ea typeface="PMingLiU" pitchFamily="18" charset="-120"/>
              </a:rPr>
              <a:t>Control</a:t>
            </a:r>
            <a:endParaRPr lang="en-US" altLang="zh-TW" sz="1200">
              <a:latin typeface="Arial" panose="020B0604020202020204" pitchFamily="34" charset="0"/>
              <a:ea typeface="PMingLiU" pitchFamily="18" charset="-120"/>
            </a:endParaRPr>
          </a:p>
          <a:p>
            <a:pPr algn="ctr"/>
            <a:r>
              <a:rPr lang="en-US" altLang="zh-TW" sz="1200">
                <a:latin typeface="Arial" panose="020B0604020202020204" pitchFamily="34" charset="0"/>
                <a:ea typeface="PMingLiU" pitchFamily="18" charset="-120"/>
              </a:rPr>
              <a:t>Unit</a:t>
            </a:r>
            <a:endParaRPr lang="en-US" altLang="zh-TW" sz="1600">
              <a:latin typeface="Arial" panose="020B0604020202020204" pitchFamily="34" charset="0"/>
              <a:ea typeface="PMingLiU" pitchFamily="18" charset="-120"/>
            </a:endParaRPr>
          </a:p>
        </p:txBody>
      </p:sp>
      <p:sp>
        <p:nvSpPr>
          <p:cNvPr id="22544" name="Oval 50"/>
          <p:cNvSpPr>
            <a:spLocks noChangeArrowheads="1"/>
          </p:cNvSpPr>
          <p:nvPr/>
        </p:nvSpPr>
        <p:spPr bwMode="auto">
          <a:xfrm>
            <a:off x="304800" y="3276600"/>
            <a:ext cx="609600" cy="609600"/>
          </a:xfrm>
          <a:prstGeom prst="ellipse">
            <a:avLst/>
          </a:prstGeom>
          <a:noFill/>
          <a:ln w="9525">
            <a:solidFill>
              <a:schemeClr val="tx1"/>
            </a:solidFill>
            <a:round/>
          </a:ln>
        </p:spPr>
        <p:txBody>
          <a:bodyPr wrap="none" lIns="90000" tIns="46800" rIns="90000" bIns="46800" anchor="ctr"/>
          <a:lstStyle/>
          <a:p>
            <a:pPr algn="ctr"/>
            <a:r>
              <a:rPr lang="en-US" altLang="zh-TW" sz="1200">
                <a:latin typeface="Arial" panose="020B0604020202020204" pitchFamily="34" charset="0"/>
                <a:ea typeface="PMingLiU" pitchFamily="18" charset="-120"/>
              </a:rPr>
              <a:t>ALU</a:t>
            </a:r>
            <a:endParaRPr lang="en-US" altLang="zh-TW" sz="1600">
              <a:latin typeface="Arial" panose="020B0604020202020204" pitchFamily="34" charset="0"/>
              <a:ea typeface="PMingLiU" pitchFamily="18" charset="-120"/>
            </a:endParaRPr>
          </a:p>
        </p:txBody>
      </p:sp>
      <p:sp>
        <p:nvSpPr>
          <p:cNvPr id="22545" name="Oval 51"/>
          <p:cNvSpPr>
            <a:spLocks noChangeArrowheads="1"/>
          </p:cNvSpPr>
          <p:nvPr/>
        </p:nvSpPr>
        <p:spPr bwMode="auto">
          <a:xfrm>
            <a:off x="381000" y="4191000"/>
            <a:ext cx="685800" cy="685800"/>
          </a:xfrm>
          <a:prstGeom prst="ellipse">
            <a:avLst/>
          </a:prstGeom>
          <a:noFill/>
          <a:ln w="9525">
            <a:solidFill>
              <a:schemeClr val="tx1"/>
            </a:solidFill>
            <a:round/>
          </a:ln>
        </p:spPr>
        <p:txBody>
          <a:bodyPr wrap="none" lIns="90000" tIns="46800" rIns="90000" bIns="46800" anchor="ctr"/>
          <a:lstStyle/>
          <a:p>
            <a:endParaRPr lang="en-IN"/>
          </a:p>
        </p:txBody>
      </p:sp>
      <p:sp>
        <p:nvSpPr>
          <p:cNvPr id="22546" name="Oval 52"/>
          <p:cNvSpPr>
            <a:spLocks noChangeArrowheads="1"/>
          </p:cNvSpPr>
          <p:nvPr/>
        </p:nvSpPr>
        <p:spPr bwMode="auto">
          <a:xfrm>
            <a:off x="609600" y="3581400"/>
            <a:ext cx="685800" cy="762000"/>
          </a:xfrm>
          <a:prstGeom prst="ellipse">
            <a:avLst/>
          </a:prstGeom>
          <a:noFill/>
          <a:ln w="9525">
            <a:solidFill>
              <a:schemeClr val="tx1"/>
            </a:solidFill>
            <a:round/>
          </a:ln>
        </p:spPr>
        <p:txBody>
          <a:bodyPr wrap="none" lIns="90000" tIns="46800" rIns="90000" bIns="46800" anchor="ctr"/>
          <a:lstStyle/>
          <a:p>
            <a:endParaRPr lang="en-IN"/>
          </a:p>
        </p:txBody>
      </p:sp>
      <p:sp>
        <p:nvSpPr>
          <p:cNvPr id="22547" name="Text Box 53"/>
          <p:cNvSpPr txBox="1">
            <a:spLocks noChangeArrowheads="1"/>
          </p:cNvSpPr>
          <p:nvPr/>
        </p:nvSpPr>
        <p:spPr bwMode="auto">
          <a:xfrm>
            <a:off x="338138" y="4373563"/>
            <a:ext cx="822325" cy="274637"/>
          </a:xfrm>
          <a:prstGeom prst="rect">
            <a:avLst/>
          </a:prstGeom>
          <a:noFill/>
          <a:ln w="9525">
            <a:noFill/>
            <a:miter lim="800000"/>
          </a:ln>
        </p:spPr>
        <p:txBody>
          <a:bodyPr wrap="none" lIns="90000" tIns="46800" rIns="90000" bIns="46800" anchor="ctr">
            <a:spAutoFit/>
          </a:bodyPr>
          <a:lstStyle/>
          <a:p>
            <a:pPr algn="ctr"/>
            <a:r>
              <a:rPr lang="en-US" altLang="zh-TW" sz="1200">
                <a:latin typeface="Arial" panose="020B0604020202020204" pitchFamily="34" charset="0"/>
                <a:ea typeface="PMingLiU" pitchFamily="18" charset="-120"/>
              </a:rPr>
              <a:t>Registers</a:t>
            </a:r>
            <a:endParaRPr lang="en-US" altLang="zh-TW" sz="1600">
              <a:latin typeface="Arial" panose="020B0604020202020204" pitchFamily="34" charset="0"/>
              <a:ea typeface="PMingLiU" pitchFamily="18" charset="-120"/>
            </a:endParaRPr>
          </a:p>
        </p:txBody>
      </p:sp>
      <p:sp>
        <p:nvSpPr>
          <p:cNvPr id="22548" name="Text Box 54"/>
          <p:cNvSpPr txBox="1">
            <a:spLocks noChangeArrowheads="1"/>
          </p:cNvSpPr>
          <p:nvPr/>
        </p:nvSpPr>
        <p:spPr bwMode="auto">
          <a:xfrm>
            <a:off x="609600" y="3810000"/>
            <a:ext cx="687388" cy="457200"/>
          </a:xfrm>
          <a:prstGeom prst="rect">
            <a:avLst/>
          </a:prstGeom>
          <a:noFill/>
          <a:ln w="9525">
            <a:noFill/>
            <a:miter lim="800000"/>
          </a:ln>
        </p:spPr>
        <p:txBody>
          <a:bodyPr wrap="none" lIns="90000" tIns="46800" rIns="90000" bIns="46800" anchor="ctr">
            <a:spAutoFit/>
          </a:bodyPr>
          <a:lstStyle/>
          <a:p>
            <a:pPr algn="ctr"/>
            <a:r>
              <a:rPr lang="en-US" altLang="zh-TW" sz="1200">
                <a:latin typeface="Arial" panose="020B0604020202020204" pitchFamily="34" charset="0"/>
                <a:ea typeface="PMingLiU" pitchFamily="18" charset="-120"/>
              </a:rPr>
              <a:t>Internal</a:t>
            </a:r>
            <a:endParaRPr lang="en-US" altLang="zh-TW" sz="1200">
              <a:latin typeface="Arial" panose="020B0604020202020204" pitchFamily="34" charset="0"/>
              <a:ea typeface="PMingLiU" pitchFamily="18" charset="-120"/>
            </a:endParaRPr>
          </a:p>
          <a:p>
            <a:pPr algn="ctr"/>
            <a:r>
              <a:rPr lang="en-US" altLang="zh-TW" sz="1200">
                <a:latin typeface="Arial" panose="020B0604020202020204" pitchFamily="34" charset="0"/>
                <a:ea typeface="PMingLiU" pitchFamily="18" charset="-120"/>
              </a:rPr>
              <a:t>Bus</a:t>
            </a:r>
            <a:endParaRPr lang="en-US" altLang="zh-TW" sz="1200">
              <a:latin typeface="Arial" panose="020B0604020202020204" pitchFamily="34" charset="0"/>
              <a:ea typeface="PMingLiU" pitchFamily="18" charset="-120"/>
            </a:endParaRPr>
          </a:p>
        </p:txBody>
      </p:sp>
      <p:sp>
        <p:nvSpPr>
          <p:cNvPr id="22549" name="Text Box 55"/>
          <p:cNvSpPr txBox="1">
            <a:spLocks noChangeArrowheads="1"/>
          </p:cNvSpPr>
          <p:nvPr/>
        </p:nvSpPr>
        <p:spPr bwMode="auto">
          <a:xfrm>
            <a:off x="5411788" y="2286000"/>
            <a:ext cx="1522412" cy="396875"/>
          </a:xfrm>
          <a:prstGeom prst="rect">
            <a:avLst/>
          </a:prstGeom>
          <a:noFill/>
          <a:ln w="9525">
            <a:noFill/>
            <a:miter lim="800000"/>
          </a:ln>
        </p:spPr>
        <p:txBody>
          <a:bodyPr wrap="none" lIns="90000" tIns="46800" rIns="90000" bIns="46800" anchor="ctr">
            <a:spAutoFit/>
          </a:bodyPr>
          <a:lstStyle/>
          <a:p>
            <a:pPr algn="ctr">
              <a:spcBef>
                <a:spcPct val="50000"/>
              </a:spcBef>
            </a:pPr>
            <a:r>
              <a:rPr lang="en-US" altLang="zh-TW" sz="2000">
                <a:latin typeface="Arial" panose="020B0604020202020204" pitchFamily="34" charset="0"/>
                <a:ea typeface="PMingLiU" pitchFamily="18" charset="-120"/>
              </a:rPr>
              <a:t>Control Unit</a:t>
            </a:r>
            <a:endParaRPr lang="en-US" altLang="zh-TW" sz="1600">
              <a:latin typeface="Arial" panose="020B0604020202020204" pitchFamily="34" charset="0"/>
              <a:ea typeface="PMingLiU" pitchFamily="18" charset="-120"/>
            </a:endParaRPr>
          </a:p>
        </p:txBody>
      </p:sp>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Line 4"/>
          <p:cNvSpPr>
            <a:spLocks noChangeShapeType="1"/>
          </p:cNvSpPr>
          <p:nvPr/>
        </p:nvSpPr>
        <p:spPr bwMode="auto">
          <a:xfrm flipH="1" flipV="1">
            <a:off x="3200400" y="5334000"/>
            <a:ext cx="381000" cy="1066800"/>
          </a:xfrm>
          <a:prstGeom prst="line">
            <a:avLst/>
          </a:prstGeom>
          <a:noFill/>
          <a:ln w="9525">
            <a:solidFill>
              <a:schemeClr val="tx1"/>
            </a:solidFill>
            <a:round/>
            <a:tailEnd type="triangle" w="med" len="med"/>
          </a:ln>
        </p:spPr>
        <p:txBody>
          <a:bodyPr/>
          <a:lstStyle/>
          <a:p>
            <a:endParaRPr lang="en-US"/>
          </a:p>
        </p:txBody>
      </p:sp>
      <p:sp>
        <p:nvSpPr>
          <p:cNvPr id="22532" name="Text Box 5"/>
          <p:cNvSpPr txBox="1">
            <a:spLocks noChangeArrowheads="1"/>
          </p:cNvSpPr>
          <p:nvPr/>
        </p:nvSpPr>
        <p:spPr bwMode="auto">
          <a:xfrm>
            <a:off x="2362200" y="4953000"/>
            <a:ext cx="1447800" cy="822325"/>
          </a:xfrm>
          <a:prstGeom prst="rect">
            <a:avLst/>
          </a:prstGeom>
          <a:noFill/>
          <a:ln w="9525">
            <a:noFill/>
            <a:miter lim="800000"/>
          </a:ln>
        </p:spPr>
        <p:txBody>
          <a:bodyPr>
            <a:spAutoFit/>
          </a:bodyPr>
          <a:lstStyle/>
          <a:p>
            <a:pPr algn="ctr">
              <a:spcBef>
                <a:spcPct val="50000"/>
              </a:spcBef>
            </a:pPr>
            <a:r>
              <a:rPr lang="en-US"/>
              <a:t>Vacuum Tube</a:t>
            </a:r>
            <a:endParaRPr lang="en-US"/>
          </a:p>
        </p:txBody>
      </p:sp>
      <p:sp>
        <p:nvSpPr>
          <p:cNvPr id="22533" name="Line 6"/>
          <p:cNvSpPr>
            <a:spLocks noChangeShapeType="1"/>
          </p:cNvSpPr>
          <p:nvPr/>
        </p:nvSpPr>
        <p:spPr bwMode="auto">
          <a:xfrm flipV="1">
            <a:off x="3352800" y="2819400"/>
            <a:ext cx="3200400" cy="3810000"/>
          </a:xfrm>
          <a:prstGeom prst="line">
            <a:avLst/>
          </a:prstGeom>
          <a:noFill/>
          <a:ln w="9525">
            <a:solidFill>
              <a:schemeClr val="tx1"/>
            </a:solidFill>
            <a:round/>
            <a:tailEnd type="triangle" w="med" len="med"/>
          </a:ln>
        </p:spPr>
        <p:txBody>
          <a:bodyPr/>
          <a:lstStyle/>
          <a:p>
            <a:endParaRPr lang="en-US"/>
          </a:p>
        </p:txBody>
      </p:sp>
      <p:sp>
        <p:nvSpPr>
          <p:cNvPr id="22534" name="Line 7"/>
          <p:cNvSpPr>
            <a:spLocks noChangeShapeType="1"/>
          </p:cNvSpPr>
          <p:nvPr/>
        </p:nvSpPr>
        <p:spPr bwMode="auto">
          <a:xfrm flipH="1" flipV="1">
            <a:off x="4114800" y="4343400"/>
            <a:ext cx="533400" cy="762000"/>
          </a:xfrm>
          <a:prstGeom prst="line">
            <a:avLst/>
          </a:prstGeom>
          <a:noFill/>
          <a:ln w="9525">
            <a:solidFill>
              <a:schemeClr val="tx1"/>
            </a:solidFill>
            <a:round/>
            <a:tailEnd type="triangle" w="med" len="med"/>
          </a:ln>
        </p:spPr>
        <p:txBody>
          <a:bodyPr/>
          <a:lstStyle/>
          <a:p>
            <a:endParaRPr lang="en-US"/>
          </a:p>
        </p:txBody>
      </p:sp>
      <p:sp>
        <p:nvSpPr>
          <p:cNvPr id="22535" name="Line 8"/>
          <p:cNvSpPr>
            <a:spLocks noChangeShapeType="1"/>
          </p:cNvSpPr>
          <p:nvPr/>
        </p:nvSpPr>
        <p:spPr bwMode="auto">
          <a:xfrm flipH="1" flipV="1">
            <a:off x="5105400" y="3200400"/>
            <a:ext cx="533400" cy="762000"/>
          </a:xfrm>
          <a:prstGeom prst="line">
            <a:avLst/>
          </a:prstGeom>
          <a:noFill/>
          <a:ln w="9525">
            <a:solidFill>
              <a:schemeClr val="tx1"/>
            </a:solidFill>
            <a:round/>
            <a:tailEnd type="triangle" w="med" len="med"/>
          </a:ln>
        </p:spPr>
        <p:txBody>
          <a:bodyPr/>
          <a:lstStyle/>
          <a:p>
            <a:endParaRPr lang="en-US"/>
          </a:p>
        </p:txBody>
      </p:sp>
      <p:sp>
        <p:nvSpPr>
          <p:cNvPr id="22536" name="Text Box 9"/>
          <p:cNvSpPr txBox="1">
            <a:spLocks noChangeArrowheads="1"/>
          </p:cNvSpPr>
          <p:nvPr/>
        </p:nvSpPr>
        <p:spPr bwMode="auto">
          <a:xfrm>
            <a:off x="3733800" y="4038600"/>
            <a:ext cx="1447800" cy="457200"/>
          </a:xfrm>
          <a:prstGeom prst="rect">
            <a:avLst/>
          </a:prstGeom>
          <a:noFill/>
          <a:ln w="9525">
            <a:noFill/>
            <a:miter lim="800000"/>
          </a:ln>
        </p:spPr>
        <p:txBody>
          <a:bodyPr>
            <a:spAutoFit/>
          </a:bodyPr>
          <a:lstStyle/>
          <a:p>
            <a:pPr>
              <a:spcBef>
                <a:spcPct val="50000"/>
              </a:spcBef>
            </a:pPr>
            <a:r>
              <a:rPr lang="en-US"/>
              <a:t>Transistor</a:t>
            </a:r>
            <a:endParaRPr lang="en-US"/>
          </a:p>
        </p:txBody>
      </p:sp>
      <p:sp>
        <p:nvSpPr>
          <p:cNvPr id="22537" name="Text Box 10"/>
          <p:cNvSpPr txBox="1">
            <a:spLocks noChangeArrowheads="1"/>
          </p:cNvSpPr>
          <p:nvPr/>
        </p:nvSpPr>
        <p:spPr bwMode="auto">
          <a:xfrm>
            <a:off x="4191000" y="2667000"/>
            <a:ext cx="1676400" cy="822325"/>
          </a:xfrm>
          <a:prstGeom prst="rect">
            <a:avLst/>
          </a:prstGeom>
          <a:noFill/>
          <a:ln w="9525">
            <a:noFill/>
            <a:miter lim="800000"/>
          </a:ln>
        </p:spPr>
        <p:txBody>
          <a:bodyPr>
            <a:spAutoFit/>
          </a:bodyPr>
          <a:lstStyle/>
          <a:p>
            <a:pPr algn="ctr">
              <a:spcBef>
                <a:spcPct val="50000"/>
              </a:spcBef>
            </a:pPr>
            <a:r>
              <a:rPr lang="en-US" dirty="0"/>
              <a:t>Integrated Circuit</a:t>
            </a:r>
            <a:endParaRPr lang="en-US" dirty="0"/>
          </a:p>
        </p:txBody>
      </p:sp>
      <p:sp>
        <p:nvSpPr>
          <p:cNvPr id="22538" name="Text Box 11"/>
          <p:cNvSpPr txBox="1">
            <a:spLocks noChangeArrowheads="1"/>
          </p:cNvSpPr>
          <p:nvPr/>
        </p:nvSpPr>
        <p:spPr bwMode="auto">
          <a:xfrm>
            <a:off x="5638800" y="2133600"/>
            <a:ext cx="1752600" cy="369332"/>
          </a:xfrm>
          <a:prstGeom prst="rect">
            <a:avLst/>
          </a:prstGeom>
          <a:noFill/>
          <a:ln w="9525">
            <a:noFill/>
            <a:miter lim="800000"/>
          </a:ln>
        </p:spPr>
        <p:txBody>
          <a:bodyPr wrap="square">
            <a:spAutoFit/>
          </a:bodyPr>
          <a:lstStyle/>
          <a:p>
            <a:pPr algn="ctr">
              <a:spcBef>
                <a:spcPct val="50000"/>
              </a:spcBef>
            </a:pPr>
            <a:r>
              <a:rPr lang="en-US" dirty="0"/>
              <a:t>Microchip </a:t>
            </a:r>
            <a:endParaRPr lang="en-US" dirty="0"/>
          </a:p>
        </p:txBody>
      </p:sp>
      <p:sp>
        <p:nvSpPr>
          <p:cNvPr id="14" name="Title 1"/>
          <p:cNvSpPr>
            <a:spLocks noGrp="1"/>
          </p:cNvSpPr>
          <p:nvPr>
            <p:ph type="title"/>
          </p:nvPr>
        </p:nvSpPr>
        <p:spPr/>
        <p:txBody>
          <a:bodyPr>
            <a:normAutofit fontScale="90000"/>
          </a:bodyPr>
          <a:lstStyle/>
          <a:p>
            <a:pPr algn="ctr"/>
            <a:r>
              <a:rPr lang="en-US" dirty="0" smtClean="0"/>
              <a:t>Evolution (a brief history) of computers</a:t>
            </a:r>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First Generation: Vacuum Tubes</a:t>
            </a:r>
            <a:endParaRPr lang="en-US" dirty="0"/>
          </a:p>
        </p:txBody>
      </p:sp>
      <p:sp>
        <p:nvSpPr>
          <p:cNvPr id="3" name="Content Placeholder 2"/>
          <p:cNvSpPr>
            <a:spLocks noGrp="1"/>
          </p:cNvSpPr>
          <p:nvPr>
            <p:ph sz="quarter" idx="1"/>
          </p:nvPr>
        </p:nvSpPr>
        <p:spPr>
          <a:xfrm>
            <a:off x="457200" y="1600200"/>
            <a:ext cx="8458200" cy="4495800"/>
          </a:xfrm>
        </p:spPr>
        <p:txBody>
          <a:bodyPr/>
          <a:lstStyle/>
          <a:p>
            <a:pPr algn="just"/>
            <a:r>
              <a:rPr lang="en-US" sz="2600" dirty="0" smtClean="0"/>
              <a:t>ENIAC(Electronic Numerical Integrator and computer) : World’s first general purpose electronic digital computer.</a:t>
            </a:r>
            <a:endParaRPr lang="en-US" sz="2600" dirty="0" smtClean="0"/>
          </a:p>
          <a:p>
            <a:pPr algn="just"/>
            <a:r>
              <a:rPr lang="en-US" sz="2600" dirty="0" smtClean="0"/>
              <a:t>ENIAC was a decimal rather than a binary machine.</a:t>
            </a:r>
            <a:endParaRPr lang="en-US" sz="2600" dirty="0" smtClean="0"/>
          </a:p>
          <a:p>
            <a:pPr algn="just"/>
            <a:r>
              <a:rPr lang="en-US" sz="2600" dirty="0" smtClean="0"/>
              <a:t>Memory consist of 20 accumulators(Each one hold 10 digit decimal no.)</a:t>
            </a:r>
            <a:endParaRPr lang="en-US" sz="2600" dirty="0" smtClean="0"/>
          </a:p>
          <a:p>
            <a:pPr algn="just"/>
            <a:r>
              <a:rPr lang="en-US" sz="2600" dirty="0" smtClean="0"/>
              <a:t>A ring of 10 vacuum tubes represented each digit.</a:t>
            </a:r>
            <a:endParaRPr lang="en-US" sz="2600" dirty="0" smtClean="0"/>
          </a:p>
          <a:p>
            <a:pPr algn="just"/>
            <a:r>
              <a:rPr lang="en-US" sz="2600" dirty="0" smtClean="0"/>
              <a:t>Task of entering and altering programs for ENIAC was extremely tedious.</a:t>
            </a:r>
            <a:endParaRPr lang="en-US" sz="2600" dirty="0" smtClean="0"/>
          </a:p>
          <a:p>
            <a:endParaRPr lang="en-US" dirty="0" smtClean="0"/>
          </a:p>
          <a:p>
            <a:endParaRPr 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685800" y="304800"/>
            <a:ext cx="7772400" cy="1143000"/>
          </a:xfrm>
        </p:spPr>
        <p:txBody>
          <a:bodyPr/>
          <a:lstStyle/>
          <a:p>
            <a:r>
              <a:rPr lang="en-US" dirty="0" smtClean="0"/>
              <a:t>Vacuum Tubes - 1941 - 1956</a:t>
            </a:r>
            <a:endParaRPr lang="en-US" dirty="0" smtClean="0"/>
          </a:p>
        </p:txBody>
      </p:sp>
      <p:sp>
        <p:nvSpPr>
          <p:cNvPr id="9219" name="Rectangle 3"/>
          <p:cNvSpPr>
            <a:spLocks noGrp="1" noChangeArrowheads="1"/>
          </p:cNvSpPr>
          <p:nvPr>
            <p:ph type="body" sz="half" idx="1"/>
          </p:nvPr>
        </p:nvSpPr>
        <p:spPr>
          <a:xfrm>
            <a:off x="685800" y="1905000"/>
            <a:ext cx="5562600" cy="3048000"/>
          </a:xfrm>
        </p:spPr>
        <p:txBody>
          <a:bodyPr>
            <a:normAutofit/>
          </a:bodyPr>
          <a:lstStyle/>
          <a:p>
            <a:pPr algn="just"/>
            <a:r>
              <a:rPr lang="en-US" sz="2600" b="1" dirty="0" smtClean="0"/>
              <a:t>First Generation Electronic Computers</a:t>
            </a:r>
            <a:r>
              <a:rPr lang="en-US" sz="2600" dirty="0" smtClean="0"/>
              <a:t> used Vacuum Tubes</a:t>
            </a:r>
            <a:endParaRPr lang="en-US" sz="2600" dirty="0" smtClean="0"/>
          </a:p>
          <a:p>
            <a:pPr algn="just"/>
            <a:r>
              <a:rPr lang="en-US" sz="2600" dirty="0" smtClean="0"/>
              <a:t>Vacuum tubes are glass tubes with circuits inside.  </a:t>
            </a:r>
            <a:endParaRPr lang="en-US" sz="2600" dirty="0" smtClean="0"/>
          </a:p>
          <a:p>
            <a:pPr algn="just"/>
            <a:r>
              <a:rPr lang="en-US" sz="2600" dirty="0" smtClean="0"/>
              <a:t>Vacuum tubes have no air inside of them, which protects the circuitry.</a:t>
            </a:r>
            <a:endParaRPr lang="en-US" sz="2600" dirty="0" smtClean="0"/>
          </a:p>
        </p:txBody>
      </p:sp>
      <p:pic>
        <p:nvPicPr>
          <p:cNvPr id="8196" name="Picture 5" descr="tubeflicker"/>
          <p:cNvPicPr>
            <a:picLocks noChangeAspect="1" noChangeArrowheads="1"/>
          </p:cNvPicPr>
          <p:nvPr/>
        </p:nvPicPr>
        <p:blipFill>
          <a:blip r:embed="rId1" cstate="print"/>
          <a:srcRect/>
          <a:stretch>
            <a:fillRect/>
          </a:stretch>
        </p:blipFill>
        <p:spPr bwMode="auto">
          <a:xfrm>
            <a:off x="6934200" y="1524000"/>
            <a:ext cx="1774825" cy="42926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2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921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921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autoUpdateAnimBg="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1600200"/>
            <a:ext cx="3048000" cy="4495800"/>
          </a:xfrm>
        </p:spPr>
        <p:txBody>
          <a:bodyPr>
            <a:normAutofit/>
          </a:bodyPr>
          <a:lstStyle/>
          <a:p>
            <a:pPr algn="just"/>
            <a:r>
              <a:rPr lang="en-US" sz="2600" dirty="0" smtClean="0"/>
              <a:t>In 1946, John von Neumann and his colleagues began to design of new stored computer, referred to as IAS Computer.</a:t>
            </a:r>
            <a:endParaRPr lang="en-US" sz="2600" dirty="0" smtClean="0"/>
          </a:p>
          <a:p>
            <a:pPr algn="just">
              <a:buNone/>
            </a:pPr>
            <a:r>
              <a:rPr lang="en-US" sz="2600" dirty="0" smtClean="0"/>
              <a:t> </a:t>
            </a:r>
            <a:endParaRPr lang="en-US" sz="2600" dirty="0"/>
          </a:p>
        </p:txBody>
      </p:sp>
      <p:sp>
        <p:nvSpPr>
          <p:cNvPr id="4" name="Title 1"/>
          <p:cNvSpPr>
            <a:spLocks noGrp="1"/>
          </p:cNvSpPr>
          <p:nvPr>
            <p:ph type="title"/>
          </p:nvPr>
        </p:nvSpPr>
        <p:spPr/>
        <p:txBody>
          <a:bodyPr/>
          <a:lstStyle/>
          <a:p>
            <a:r>
              <a:rPr lang="en-US" dirty="0" smtClean="0"/>
              <a:t>First Generation: Vacuum Tubes</a:t>
            </a:r>
            <a:endParaRPr lang="en-US" dirty="0"/>
          </a:p>
        </p:txBody>
      </p:sp>
      <p:pic>
        <p:nvPicPr>
          <p:cNvPr id="34818" name="Picture 2"/>
          <p:cNvPicPr>
            <a:picLocks noChangeAspect="1" noChangeArrowheads="1"/>
          </p:cNvPicPr>
          <p:nvPr/>
        </p:nvPicPr>
        <p:blipFill>
          <a:blip r:embed="rId1" cstate="print"/>
          <a:srcRect/>
          <a:stretch>
            <a:fillRect/>
          </a:stretch>
        </p:blipFill>
        <p:spPr bwMode="auto">
          <a:xfrm>
            <a:off x="3352800" y="2057400"/>
            <a:ext cx="5634038" cy="4419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First Generation: Vacuum Tubes</a:t>
            </a:r>
            <a:endParaRPr lang="en-US" dirty="0"/>
          </a:p>
        </p:txBody>
      </p:sp>
      <p:sp>
        <p:nvSpPr>
          <p:cNvPr id="3" name="Content Placeholder 2"/>
          <p:cNvSpPr>
            <a:spLocks noGrp="1"/>
          </p:cNvSpPr>
          <p:nvPr>
            <p:ph sz="quarter" idx="1"/>
          </p:nvPr>
        </p:nvSpPr>
        <p:spPr/>
        <p:txBody>
          <a:bodyPr/>
          <a:lstStyle/>
          <a:p>
            <a:pPr algn="just"/>
            <a:r>
              <a:rPr lang="en-US" sz="2600" dirty="0" smtClean="0"/>
              <a:t>Main Memory: Stores both data and instructions</a:t>
            </a:r>
            <a:endParaRPr lang="en-US" sz="2600" dirty="0" smtClean="0"/>
          </a:p>
          <a:p>
            <a:pPr algn="just"/>
            <a:r>
              <a:rPr lang="en-US" sz="2600" dirty="0" smtClean="0"/>
              <a:t>ALU: Capable of operating on binary data</a:t>
            </a:r>
            <a:endParaRPr lang="en-US" sz="2600" dirty="0" smtClean="0"/>
          </a:p>
          <a:p>
            <a:pPr algn="just"/>
            <a:r>
              <a:rPr lang="en-US" sz="2600" dirty="0" smtClean="0"/>
              <a:t>PCU: Interprets the instructions in memory and causes them to be executed.</a:t>
            </a:r>
            <a:endParaRPr lang="en-US" sz="2600" dirty="0" smtClean="0"/>
          </a:p>
          <a:p>
            <a:pPr algn="just"/>
            <a:r>
              <a:rPr lang="en-US" sz="2600" dirty="0" smtClean="0"/>
              <a:t>I/O Equipment: Operated by control unit</a:t>
            </a:r>
            <a:endParaRPr lang="en-US" sz="2600" dirty="0" smtClean="0"/>
          </a:p>
          <a:p>
            <a:pPr algn="just"/>
            <a:r>
              <a:rPr lang="en-US" sz="2600" dirty="0" smtClean="0"/>
              <a:t>CPU: Fetching instructions from memory and executing them one at a time.</a:t>
            </a:r>
            <a:endParaRPr lang="en-US" sz="2600" dirty="0" smtClean="0"/>
          </a:p>
          <a:p>
            <a:endParaRPr lang="en-US" dirty="0" smtClean="0"/>
          </a:p>
          <a:p>
            <a:endParaRPr lang="en-US" dirty="0" smtClean="0"/>
          </a:p>
          <a:p>
            <a:endParaRPr lang="en-US"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p:txBody>
          <a:bodyPr/>
          <a:lstStyle/>
          <a:p>
            <a:pPr algn="just">
              <a:lnSpc>
                <a:spcPct val="150000"/>
              </a:lnSpc>
            </a:pPr>
            <a:r>
              <a:rPr lang="en-US" sz="2600" b="1" dirty="0" smtClean="0"/>
              <a:t>Memory of IAS </a:t>
            </a:r>
            <a:r>
              <a:rPr lang="en-US" sz="2600" dirty="0" smtClean="0"/>
              <a:t>consist of 1000 storage locations(words) of 40 binary digits(bits) each.</a:t>
            </a:r>
            <a:endParaRPr lang="en-US" sz="2600" dirty="0" smtClean="0"/>
          </a:p>
          <a:p>
            <a:pPr algn="just">
              <a:lnSpc>
                <a:spcPct val="150000"/>
              </a:lnSpc>
            </a:pPr>
            <a:r>
              <a:rPr lang="en-US" sz="2600" dirty="0" smtClean="0"/>
              <a:t>Both data and instruction stored there.</a:t>
            </a:r>
            <a:endParaRPr lang="en-US" sz="2600" dirty="0" smtClean="0"/>
          </a:p>
          <a:p>
            <a:pPr algn="just">
              <a:lnSpc>
                <a:spcPct val="150000"/>
              </a:lnSpc>
            </a:pPr>
            <a:r>
              <a:rPr lang="en-US" sz="2600" dirty="0" smtClean="0"/>
              <a:t>Hence numbers must be represented in binary form and each instruction also has to be a binary code.</a:t>
            </a:r>
            <a:endParaRPr lang="en-US" sz="2600" dirty="0" smtClean="0"/>
          </a:p>
          <a:p>
            <a:endParaRPr lang="en-US" dirty="0"/>
          </a:p>
        </p:txBody>
      </p:sp>
      <p:sp>
        <p:nvSpPr>
          <p:cNvPr id="4" name="Title 1"/>
          <p:cNvSpPr>
            <a:spLocks noGrp="1"/>
          </p:cNvSpPr>
          <p:nvPr>
            <p:ph type="title"/>
          </p:nvPr>
        </p:nvSpPr>
        <p:spPr/>
        <p:txBody>
          <a:bodyPr/>
          <a:lstStyle/>
          <a:p>
            <a:r>
              <a:rPr lang="en-US" dirty="0" smtClean="0"/>
              <a:t>First Generation: Vacuum Tubes</a:t>
            </a:r>
            <a:endParaRPr lang="en-US"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685800" y="381000"/>
            <a:ext cx="7772400" cy="838200"/>
          </a:xfrm>
        </p:spPr>
        <p:txBody>
          <a:bodyPr>
            <a:normAutofit/>
          </a:bodyPr>
          <a:lstStyle/>
          <a:p>
            <a:pPr algn="ctr"/>
            <a:r>
              <a:rPr lang="en-US" dirty="0" smtClean="0"/>
              <a:t>UNIVAC - 1951 </a:t>
            </a:r>
            <a:endParaRPr lang="en-US" dirty="0" smtClean="0"/>
          </a:p>
        </p:txBody>
      </p:sp>
      <p:sp>
        <p:nvSpPr>
          <p:cNvPr id="14339" name="Rectangle 3"/>
          <p:cNvSpPr>
            <a:spLocks noGrp="1" noChangeArrowheads="1"/>
          </p:cNvSpPr>
          <p:nvPr>
            <p:ph type="body" sz="half" idx="1"/>
          </p:nvPr>
        </p:nvSpPr>
        <p:spPr>
          <a:xfrm>
            <a:off x="685800" y="1828800"/>
            <a:ext cx="4114800" cy="4267200"/>
          </a:xfrm>
        </p:spPr>
        <p:txBody>
          <a:bodyPr>
            <a:normAutofit/>
          </a:bodyPr>
          <a:lstStyle/>
          <a:p>
            <a:pPr algn="just">
              <a:lnSpc>
                <a:spcPct val="90000"/>
              </a:lnSpc>
            </a:pPr>
            <a:r>
              <a:rPr lang="en-US" sz="2600" dirty="0" smtClean="0"/>
              <a:t>UNIVAC(Universal Automatic Computer)</a:t>
            </a:r>
            <a:endParaRPr lang="en-US" sz="2600" dirty="0" smtClean="0"/>
          </a:p>
          <a:p>
            <a:pPr algn="just">
              <a:lnSpc>
                <a:spcPct val="90000"/>
              </a:lnSpc>
            </a:pPr>
            <a:r>
              <a:rPr lang="en-US" sz="2600" dirty="0" smtClean="0"/>
              <a:t>First fully electronic </a:t>
            </a:r>
            <a:r>
              <a:rPr lang="en-US" sz="2600" b="1" dirty="0" smtClean="0"/>
              <a:t>digital</a:t>
            </a:r>
            <a:r>
              <a:rPr lang="en-US" sz="2600" dirty="0" smtClean="0"/>
              <a:t> computer built in the U.S. </a:t>
            </a:r>
            <a:endParaRPr lang="en-US" sz="2600" dirty="0" smtClean="0"/>
          </a:p>
          <a:p>
            <a:pPr algn="just">
              <a:lnSpc>
                <a:spcPct val="90000"/>
              </a:lnSpc>
            </a:pPr>
            <a:r>
              <a:rPr lang="en-US" sz="2600" dirty="0" smtClean="0"/>
              <a:t>UNIVAC weighed 30 tons </a:t>
            </a:r>
            <a:endParaRPr lang="en-US" sz="2600" dirty="0" smtClean="0"/>
          </a:p>
          <a:p>
            <a:pPr algn="just">
              <a:lnSpc>
                <a:spcPct val="90000"/>
              </a:lnSpc>
            </a:pPr>
            <a:r>
              <a:rPr lang="en-US" sz="2600" dirty="0" smtClean="0"/>
              <a:t>contained 18,000 vacuum tubes </a:t>
            </a:r>
            <a:endParaRPr lang="en-US" sz="2600" dirty="0" smtClean="0"/>
          </a:p>
          <a:p>
            <a:pPr algn="just">
              <a:lnSpc>
                <a:spcPct val="90000"/>
              </a:lnSpc>
            </a:pPr>
            <a:r>
              <a:rPr lang="en-US" sz="2600" dirty="0" smtClean="0"/>
              <a:t>Cost a paltry $487,000</a:t>
            </a:r>
            <a:endParaRPr lang="en-US" sz="2600" dirty="0" smtClean="0"/>
          </a:p>
          <a:p>
            <a:pPr>
              <a:lnSpc>
                <a:spcPct val="90000"/>
              </a:lnSpc>
            </a:pPr>
            <a:endParaRPr lang="en-US" sz="2800" dirty="0" smtClean="0"/>
          </a:p>
        </p:txBody>
      </p:sp>
      <p:pic>
        <p:nvPicPr>
          <p:cNvPr id="14341" name="Picture 5" descr="univac1107"/>
          <p:cNvPicPr>
            <a:picLocks noChangeAspect="1" noChangeArrowheads="1"/>
          </p:cNvPicPr>
          <p:nvPr/>
        </p:nvPicPr>
        <p:blipFill>
          <a:blip r:embed="rId1" cstate="print"/>
          <a:srcRect/>
          <a:stretch>
            <a:fillRect/>
          </a:stretch>
        </p:blipFill>
        <p:spPr bwMode="auto">
          <a:xfrm>
            <a:off x="5105400" y="1828800"/>
            <a:ext cx="3251200" cy="2127250"/>
          </a:xfrm>
          <a:prstGeom prst="rect">
            <a:avLst/>
          </a:prstGeom>
          <a:noFill/>
          <a:ln w="9525">
            <a:noFill/>
            <a:miter lim="800000"/>
            <a:headEnd/>
            <a:tailEnd/>
          </a:ln>
        </p:spPr>
      </p:pic>
      <p:pic>
        <p:nvPicPr>
          <p:cNvPr id="14342" name="Picture 6" descr="univac1107-2"/>
          <p:cNvPicPr>
            <a:picLocks noChangeAspect="1" noChangeArrowheads="1"/>
          </p:cNvPicPr>
          <p:nvPr/>
        </p:nvPicPr>
        <p:blipFill>
          <a:blip r:embed="rId2" cstate="print"/>
          <a:srcRect/>
          <a:stretch>
            <a:fillRect/>
          </a:stretch>
        </p:blipFill>
        <p:spPr bwMode="auto">
          <a:xfrm>
            <a:off x="5105400" y="4114800"/>
            <a:ext cx="3276600" cy="216217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433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433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433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433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433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499"/>
                                          </p:stCondLst>
                                        </p:cTn>
                                        <p:tgtEl>
                                          <p:spTgt spid="1434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499"/>
                                          </p:stCondLst>
                                        </p:cTn>
                                        <p:tgtEl>
                                          <p:spTgt spid="143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autoUpdateAnimBg="0" build="p"/>
    </p:bld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609600" y="304800"/>
            <a:ext cx="7772400" cy="685800"/>
          </a:xfrm>
        </p:spPr>
        <p:txBody>
          <a:bodyPr>
            <a:normAutofit fontScale="90000"/>
          </a:bodyPr>
          <a:lstStyle/>
          <a:p>
            <a:pPr algn="ctr"/>
            <a:r>
              <a:rPr lang="en-US" sz="4000" dirty="0" smtClean="0"/>
              <a:t>First Transistor</a:t>
            </a:r>
            <a:endParaRPr lang="en-US" sz="4000" dirty="0" smtClean="0"/>
          </a:p>
        </p:txBody>
      </p:sp>
      <p:sp>
        <p:nvSpPr>
          <p:cNvPr id="11268" name="Rectangle 4"/>
          <p:cNvSpPr>
            <a:spLocks noGrp="1" noChangeArrowheads="1"/>
          </p:cNvSpPr>
          <p:nvPr>
            <p:ph type="body" sz="half" idx="2"/>
          </p:nvPr>
        </p:nvSpPr>
        <p:spPr>
          <a:xfrm>
            <a:off x="5029200" y="1600200"/>
            <a:ext cx="3657600" cy="4572000"/>
          </a:xfrm>
        </p:spPr>
        <p:txBody>
          <a:bodyPr>
            <a:normAutofit/>
          </a:bodyPr>
          <a:lstStyle/>
          <a:p>
            <a:pPr algn="just"/>
            <a:r>
              <a:rPr lang="en-US" sz="2600" dirty="0" smtClean="0"/>
              <a:t>Uses Silicon</a:t>
            </a:r>
            <a:endParaRPr lang="en-US" sz="2600" dirty="0" smtClean="0"/>
          </a:p>
          <a:p>
            <a:pPr algn="just"/>
            <a:r>
              <a:rPr lang="en-US" sz="2600" dirty="0" smtClean="0"/>
              <a:t>developed in 1948</a:t>
            </a:r>
            <a:endParaRPr lang="en-US" sz="2600" dirty="0" smtClean="0"/>
          </a:p>
          <a:p>
            <a:pPr algn="just"/>
            <a:r>
              <a:rPr lang="en-US" sz="2600" dirty="0" smtClean="0"/>
              <a:t>Won a Nobel prize</a:t>
            </a:r>
            <a:endParaRPr lang="en-US" sz="2600" dirty="0" smtClean="0"/>
          </a:p>
          <a:p>
            <a:pPr algn="just"/>
            <a:r>
              <a:rPr lang="en-US" sz="2600" dirty="0" smtClean="0"/>
              <a:t>on-off switch</a:t>
            </a:r>
            <a:endParaRPr lang="en-US" sz="2600" dirty="0" smtClean="0"/>
          </a:p>
          <a:p>
            <a:pPr algn="just"/>
            <a:endParaRPr lang="en-US" sz="2600" dirty="0" smtClean="0"/>
          </a:p>
          <a:p>
            <a:pPr algn="just"/>
            <a:r>
              <a:rPr lang="en-US" sz="2600" dirty="0" smtClean="0"/>
              <a:t>Second Generation Computers used Transistors, starting in 1956</a:t>
            </a:r>
            <a:endParaRPr lang="en-US" sz="2600" dirty="0" smtClean="0"/>
          </a:p>
          <a:p>
            <a:endParaRPr lang="en-US" sz="2800" dirty="0" smtClean="0"/>
          </a:p>
          <a:p>
            <a:endParaRPr lang="en-US" sz="2800" dirty="0" smtClean="0"/>
          </a:p>
        </p:txBody>
      </p:sp>
      <p:pic>
        <p:nvPicPr>
          <p:cNvPr id="12292" name="Picture 5" descr="transistor"/>
          <p:cNvPicPr>
            <a:picLocks noChangeAspect="1" noChangeArrowheads="1"/>
          </p:cNvPicPr>
          <p:nvPr/>
        </p:nvPicPr>
        <p:blipFill>
          <a:blip r:embed="rId1" cstate="print"/>
          <a:srcRect l="20967" r="20969"/>
          <a:stretch>
            <a:fillRect/>
          </a:stretch>
        </p:blipFill>
        <p:spPr bwMode="auto">
          <a:xfrm>
            <a:off x="533400" y="1752600"/>
            <a:ext cx="4362450" cy="47244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iterate type="wd">
                                    <p:tmPct val="100000"/>
                                  </p:iterate>
                                  <p:childTnLst>
                                    <p:set>
                                      <p:cBhvr>
                                        <p:cTn id="6" dur="1" fill="hold">
                                          <p:stCondLst>
                                            <p:cond delay="0"/>
                                          </p:stCondLst>
                                        </p:cTn>
                                        <p:tgtEl>
                                          <p:spTgt spid="11268">
                                            <p:txEl>
                                              <p:pRg st="0" end="0"/>
                                            </p:txEl>
                                          </p:spTgt>
                                        </p:tgtEl>
                                        <p:attrNameLst>
                                          <p:attrName>style.visibility</p:attrName>
                                        </p:attrNameLst>
                                      </p:cBhvr>
                                      <p:to>
                                        <p:strVal val="visible"/>
                                      </p:to>
                                    </p:set>
                                    <p:anim calcmode="lin" valueType="num">
                                      <p:cBhvr additive="base">
                                        <p:cTn id="7" dur="300" fill="hold"/>
                                        <p:tgtEl>
                                          <p:spTgt spid="11268">
                                            <p:txEl>
                                              <p:pRg st="0" end="0"/>
                                            </p:txEl>
                                          </p:spTgt>
                                        </p:tgtEl>
                                        <p:attrNameLst>
                                          <p:attrName>ppt_x</p:attrName>
                                        </p:attrNameLst>
                                      </p:cBhvr>
                                      <p:tavLst>
                                        <p:tav tm="0">
                                          <p:val>
                                            <p:strVal val="#ppt_x"/>
                                          </p:val>
                                        </p:tav>
                                        <p:tav tm="100000">
                                          <p:val>
                                            <p:strVal val="#ppt_x"/>
                                          </p:val>
                                        </p:tav>
                                      </p:tavLst>
                                    </p:anim>
                                    <p:anim calcmode="lin" valueType="num">
                                      <p:cBhvr additive="base">
                                        <p:cTn id="8" dur="300" fill="hold"/>
                                        <p:tgtEl>
                                          <p:spTgt spid="11268">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fill="hold" grpId="0" nodeType="clickEffect">
                                  <p:stCondLst>
                                    <p:cond delay="0"/>
                                  </p:stCondLst>
                                  <p:iterate type="wd">
                                    <p:tmPct val="100000"/>
                                  </p:iterate>
                                  <p:childTnLst>
                                    <p:set>
                                      <p:cBhvr>
                                        <p:cTn id="12" dur="1" fill="hold">
                                          <p:stCondLst>
                                            <p:cond delay="0"/>
                                          </p:stCondLst>
                                        </p:cTn>
                                        <p:tgtEl>
                                          <p:spTgt spid="11268">
                                            <p:txEl>
                                              <p:pRg st="1" end="1"/>
                                            </p:txEl>
                                          </p:spTgt>
                                        </p:tgtEl>
                                        <p:attrNameLst>
                                          <p:attrName>style.visibility</p:attrName>
                                        </p:attrNameLst>
                                      </p:cBhvr>
                                      <p:to>
                                        <p:strVal val="visible"/>
                                      </p:to>
                                    </p:set>
                                    <p:anim calcmode="lin" valueType="num">
                                      <p:cBhvr additive="base">
                                        <p:cTn id="13" dur="300" fill="hold"/>
                                        <p:tgtEl>
                                          <p:spTgt spid="11268">
                                            <p:txEl>
                                              <p:pRg st="1" end="1"/>
                                            </p:txEl>
                                          </p:spTgt>
                                        </p:tgtEl>
                                        <p:attrNameLst>
                                          <p:attrName>ppt_x</p:attrName>
                                        </p:attrNameLst>
                                      </p:cBhvr>
                                      <p:tavLst>
                                        <p:tav tm="0">
                                          <p:val>
                                            <p:strVal val="#ppt_x"/>
                                          </p:val>
                                        </p:tav>
                                        <p:tav tm="100000">
                                          <p:val>
                                            <p:strVal val="#ppt_x"/>
                                          </p:val>
                                        </p:tav>
                                      </p:tavLst>
                                    </p:anim>
                                    <p:anim calcmode="lin" valueType="num">
                                      <p:cBhvr additive="base">
                                        <p:cTn id="14" dur="300" fill="hold"/>
                                        <p:tgtEl>
                                          <p:spTgt spid="11268">
                                            <p:txEl>
                                              <p:pRg st="1" end="1"/>
                                            </p:txEl>
                                          </p:spTgt>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1" fill="hold" grpId="0" nodeType="clickEffect">
                                  <p:stCondLst>
                                    <p:cond delay="0"/>
                                  </p:stCondLst>
                                  <p:iterate type="wd">
                                    <p:tmPct val="100000"/>
                                  </p:iterate>
                                  <p:childTnLst>
                                    <p:set>
                                      <p:cBhvr>
                                        <p:cTn id="18" dur="1" fill="hold">
                                          <p:stCondLst>
                                            <p:cond delay="0"/>
                                          </p:stCondLst>
                                        </p:cTn>
                                        <p:tgtEl>
                                          <p:spTgt spid="11268">
                                            <p:txEl>
                                              <p:pRg st="2" end="2"/>
                                            </p:txEl>
                                          </p:spTgt>
                                        </p:tgtEl>
                                        <p:attrNameLst>
                                          <p:attrName>style.visibility</p:attrName>
                                        </p:attrNameLst>
                                      </p:cBhvr>
                                      <p:to>
                                        <p:strVal val="visible"/>
                                      </p:to>
                                    </p:set>
                                    <p:anim calcmode="lin" valueType="num">
                                      <p:cBhvr additive="base">
                                        <p:cTn id="19" dur="300" fill="hold"/>
                                        <p:tgtEl>
                                          <p:spTgt spid="11268">
                                            <p:txEl>
                                              <p:pRg st="2" end="2"/>
                                            </p:txEl>
                                          </p:spTgt>
                                        </p:tgtEl>
                                        <p:attrNameLst>
                                          <p:attrName>ppt_x</p:attrName>
                                        </p:attrNameLst>
                                      </p:cBhvr>
                                      <p:tavLst>
                                        <p:tav tm="0">
                                          <p:val>
                                            <p:strVal val="#ppt_x"/>
                                          </p:val>
                                        </p:tav>
                                        <p:tav tm="100000">
                                          <p:val>
                                            <p:strVal val="#ppt_x"/>
                                          </p:val>
                                        </p:tav>
                                      </p:tavLst>
                                    </p:anim>
                                    <p:anim calcmode="lin" valueType="num">
                                      <p:cBhvr additive="base">
                                        <p:cTn id="20" dur="300" fill="hold"/>
                                        <p:tgtEl>
                                          <p:spTgt spid="11268">
                                            <p:txEl>
                                              <p:pRg st="2" end="2"/>
                                            </p:txEl>
                                          </p:spTgt>
                                        </p:tgtEl>
                                        <p:attrNameLst>
                                          <p:attrName>ppt_y</p:attrName>
                                        </p:attrNameLst>
                                      </p:cBhvr>
                                      <p:tavLst>
                                        <p:tav tm="0">
                                          <p:val>
                                            <p:strVal val="0-#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1" fill="hold" grpId="0" nodeType="clickEffect">
                                  <p:stCondLst>
                                    <p:cond delay="0"/>
                                  </p:stCondLst>
                                  <p:iterate type="wd">
                                    <p:tmPct val="100000"/>
                                  </p:iterate>
                                  <p:childTnLst>
                                    <p:set>
                                      <p:cBhvr>
                                        <p:cTn id="24" dur="1" fill="hold">
                                          <p:stCondLst>
                                            <p:cond delay="0"/>
                                          </p:stCondLst>
                                        </p:cTn>
                                        <p:tgtEl>
                                          <p:spTgt spid="11268">
                                            <p:txEl>
                                              <p:pRg st="3" end="3"/>
                                            </p:txEl>
                                          </p:spTgt>
                                        </p:tgtEl>
                                        <p:attrNameLst>
                                          <p:attrName>style.visibility</p:attrName>
                                        </p:attrNameLst>
                                      </p:cBhvr>
                                      <p:to>
                                        <p:strVal val="visible"/>
                                      </p:to>
                                    </p:set>
                                    <p:anim calcmode="lin" valueType="num">
                                      <p:cBhvr additive="base">
                                        <p:cTn id="25" dur="300" fill="hold"/>
                                        <p:tgtEl>
                                          <p:spTgt spid="11268">
                                            <p:txEl>
                                              <p:pRg st="3" end="3"/>
                                            </p:txEl>
                                          </p:spTgt>
                                        </p:tgtEl>
                                        <p:attrNameLst>
                                          <p:attrName>ppt_x</p:attrName>
                                        </p:attrNameLst>
                                      </p:cBhvr>
                                      <p:tavLst>
                                        <p:tav tm="0">
                                          <p:val>
                                            <p:strVal val="#ppt_x"/>
                                          </p:val>
                                        </p:tav>
                                        <p:tav tm="100000">
                                          <p:val>
                                            <p:strVal val="#ppt_x"/>
                                          </p:val>
                                        </p:tav>
                                      </p:tavLst>
                                    </p:anim>
                                    <p:anim calcmode="lin" valueType="num">
                                      <p:cBhvr additive="base">
                                        <p:cTn id="26" dur="300" fill="hold"/>
                                        <p:tgtEl>
                                          <p:spTgt spid="11268">
                                            <p:txEl>
                                              <p:pRg st="3" end="3"/>
                                            </p:txEl>
                                          </p:spTgt>
                                        </p:tgtEl>
                                        <p:attrNameLst>
                                          <p:attrName>ppt_y</p:attrName>
                                        </p:attrNameLst>
                                      </p:cBhvr>
                                      <p:tavLst>
                                        <p:tav tm="0">
                                          <p:val>
                                            <p:strVal val="0-#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1" fill="hold" grpId="0" nodeType="clickEffect">
                                  <p:stCondLst>
                                    <p:cond delay="0"/>
                                  </p:stCondLst>
                                  <p:iterate type="wd">
                                    <p:tmPct val="100000"/>
                                  </p:iterate>
                                  <p:childTnLst>
                                    <p:set>
                                      <p:cBhvr>
                                        <p:cTn id="30" dur="1" fill="hold">
                                          <p:stCondLst>
                                            <p:cond delay="0"/>
                                          </p:stCondLst>
                                        </p:cTn>
                                        <p:tgtEl>
                                          <p:spTgt spid="11268">
                                            <p:txEl>
                                              <p:pRg st="5" end="5"/>
                                            </p:txEl>
                                          </p:spTgt>
                                        </p:tgtEl>
                                        <p:attrNameLst>
                                          <p:attrName>style.visibility</p:attrName>
                                        </p:attrNameLst>
                                      </p:cBhvr>
                                      <p:to>
                                        <p:strVal val="visible"/>
                                      </p:to>
                                    </p:set>
                                    <p:anim calcmode="lin" valueType="num">
                                      <p:cBhvr additive="base">
                                        <p:cTn id="31" dur="300" fill="hold"/>
                                        <p:tgtEl>
                                          <p:spTgt spid="11268">
                                            <p:txEl>
                                              <p:pRg st="5" end="5"/>
                                            </p:txEl>
                                          </p:spTgt>
                                        </p:tgtEl>
                                        <p:attrNameLst>
                                          <p:attrName>ppt_x</p:attrName>
                                        </p:attrNameLst>
                                      </p:cBhvr>
                                      <p:tavLst>
                                        <p:tav tm="0">
                                          <p:val>
                                            <p:strVal val="#ppt_x"/>
                                          </p:val>
                                        </p:tav>
                                        <p:tav tm="100000">
                                          <p:val>
                                            <p:strVal val="#ppt_x"/>
                                          </p:val>
                                        </p:tav>
                                      </p:tavLst>
                                    </p:anim>
                                    <p:anim calcmode="lin" valueType="num">
                                      <p:cBhvr additive="base">
                                        <p:cTn id="32" dur="300" fill="hold"/>
                                        <p:tgtEl>
                                          <p:spTgt spid="11268">
                                            <p:txEl>
                                              <p:pRg st="5" end="5"/>
                                            </p:tx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8" grpId="0" autoUpdateAnimBg="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Second Generation: Transistors</a:t>
            </a:r>
            <a:endParaRPr lang="en-US" dirty="0"/>
          </a:p>
        </p:txBody>
      </p:sp>
      <p:sp>
        <p:nvSpPr>
          <p:cNvPr id="3" name="Content Placeholder 2"/>
          <p:cNvSpPr>
            <a:spLocks noGrp="1"/>
          </p:cNvSpPr>
          <p:nvPr>
            <p:ph sz="quarter" idx="1"/>
          </p:nvPr>
        </p:nvSpPr>
        <p:spPr/>
        <p:txBody>
          <a:bodyPr>
            <a:normAutofit/>
          </a:bodyPr>
          <a:lstStyle/>
          <a:p>
            <a:pPr algn="just"/>
            <a:r>
              <a:rPr lang="en-US" sz="2400" dirty="0" smtClean="0"/>
              <a:t>1956 – Computers began to incorporate </a:t>
            </a:r>
            <a:r>
              <a:rPr lang="en-US" sz="2400" b="1" i="1" dirty="0" smtClean="0"/>
              <a:t>Transistors</a:t>
            </a:r>
            <a:endParaRPr lang="en-US" sz="2400" b="1" i="1" dirty="0" smtClean="0"/>
          </a:p>
          <a:p>
            <a:pPr algn="just"/>
            <a:r>
              <a:rPr lang="en-US" sz="2400" dirty="0" smtClean="0"/>
              <a:t>In Electronic computer, vacuum tube replaced with transistor(smaller, cheaper and dissipates less heat than vacuum tube).</a:t>
            </a:r>
            <a:endParaRPr lang="en-US" sz="2400" dirty="0" smtClean="0"/>
          </a:p>
          <a:p>
            <a:pPr algn="just"/>
            <a:r>
              <a:rPr lang="en-US" sz="2400" dirty="0" smtClean="0"/>
              <a:t>Each new generation is characterized by greater processing power, large memory capacity and smaller size than previous one.</a:t>
            </a:r>
            <a:endParaRPr lang="en-US" sz="2400" dirty="0" smtClean="0"/>
          </a:p>
          <a:p>
            <a:pPr algn="just"/>
            <a:r>
              <a:rPr lang="en-US" sz="2400" dirty="0" smtClean="0"/>
              <a:t>Introduction of more complex arithmetic and logic units and control units.</a:t>
            </a:r>
            <a:endParaRPr lang="en-US" sz="2400" dirty="0" smtClean="0"/>
          </a:p>
          <a:p>
            <a:pPr algn="just"/>
            <a:r>
              <a:rPr lang="en-US" sz="2400" dirty="0" smtClean="0"/>
              <a:t>Use of high level programming languages.</a:t>
            </a:r>
            <a:endParaRPr lang="en-US" sz="2400" dirty="0" smtClean="0"/>
          </a:p>
          <a:p>
            <a:endParaRPr lang="en-US" dirty="0" smtClean="0"/>
          </a:p>
          <a:p>
            <a:endParaRPr lang="en-US" dirty="0" smtClean="0"/>
          </a:p>
          <a:p>
            <a:endParaRPr lang="en-US"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4" descr="first_integrated_circuit"/>
          <p:cNvPicPr>
            <a:picLocks noChangeAspect="1" noChangeArrowheads="1"/>
          </p:cNvPicPr>
          <p:nvPr/>
        </p:nvPicPr>
        <p:blipFill>
          <a:blip r:embed="rId1" cstate="print"/>
          <a:srcRect/>
          <a:stretch>
            <a:fillRect/>
          </a:stretch>
        </p:blipFill>
        <p:spPr bwMode="auto">
          <a:xfrm>
            <a:off x="0" y="1447800"/>
            <a:ext cx="9144000" cy="4852988"/>
          </a:xfrm>
          <a:prstGeom prst="rect">
            <a:avLst/>
          </a:prstGeom>
          <a:noFill/>
          <a:ln w="9525">
            <a:noFill/>
            <a:miter lim="800000"/>
            <a:headEnd/>
            <a:tailEnd/>
          </a:ln>
        </p:spPr>
      </p:pic>
      <p:sp>
        <p:nvSpPr>
          <p:cNvPr id="14340" name="Rectangle 6"/>
          <p:cNvSpPr>
            <a:spLocks noGrp="1" noChangeArrowheads="1"/>
          </p:cNvSpPr>
          <p:nvPr>
            <p:ph type="body" idx="1"/>
          </p:nvPr>
        </p:nvSpPr>
        <p:spPr>
          <a:xfrm>
            <a:off x="914400" y="5029200"/>
            <a:ext cx="8229600" cy="1828800"/>
          </a:xfrm>
        </p:spPr>
        <p:txBody>
          <a:bodyPr/>
          <a:lstStyle/>
          <a:p>
            <a:r>
              <a:rPr lang="en-US" sz="2400" dirty="0" smtClean="0">
                <a:solidFill>
                  <a:schemeClr val="bg1"/>
                </a:solidFill>
              </a:rPr>
              <a:t>Third Generation Computers used Integrated Circuits (chips).</a:t>
            </a:r>
            <a:endParaRPr lang="en-US" sz="2400" dirty="0" smtClean="0">
              <a:solidFill>
                <a:schemeClr val="bg1"/>
              </a:solidFill>
            </a:endParaRPr>
          </a:p>
          <a:p>
            <a:r>
              <a:rPr lang="en-US" sz="2400" dirty="0" smtClean="0">
                <a:solidFill>
                  <a:schemeClr val="bg1"/>
                </a:solidFill>
              </a:rPr>
              <a:t>Integrated Circuits are transistors, resistors, and capacitors integrated together into a single “chip”</a:t>
            </a:r>
            <a:endParaRPr lang="en-US" sz="2400" dirty="0" smtClean="0">
              <a:solidFill>
                <a:schemeClr val="bg1"/>
              </a:solidFill>
            </a:endParaRPr>
          </a:p>
        </p:txBody>
      </p:sp>
      <p:sp>
        <p:nvSpPr>
          <p:cNvPr id="5" name="Title 1"/>
          <p:cNvSpPr>
            <a:spLocks noGrp="1"/>
          </p:cNvSpPr>
          <p:nvPr>
            <p:ph type="title"/>
          </p:nvPr>
        </p:nvSpPr>
        <p:spPr>
          <a:xfrm>
            <a:off x="838200" y="228600"/>
            <a:ext cx="7772400" cy="1143000"/>
          </a:xfrm>
        </p:spPr>
        <p:txBody>
          <a:bodyPr>
            <a:normAutofit fontScale="90000"/>
          </a:bodyPr>
          <a:lstStyle/>
          <a:p>
            <a:r>
              <a:rPr lang="en-US" dirty="0" smtClean="0"/>
              <a:t>Third Generation: Integrated Circuits</a:t>
            </a:r>
            <a:endParaRPr lang="en-US"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3"/>
          <p:cNvSpPr>
            <a:spLocks noGrp="1" noChangeArrowheads="1"/>
          </p:cNvSpPr>
          <p:nvPr>
            <p:ph type="body" idx="1"/>
          </p:nvPr>
        </p:nvSpPr>
        <p:spPr/>
        <p:txBody>
          <a:bodyPr/>
          <a:lstStyle/>
          <a:p>
            <a:r>
              <a:rPr lang="en-US" dirty="0" smtClean="0"/>
              <a:t>1964-1971</a:t>
            </a:r>
            <a:endParaRPr lang="en-US" dirty="0" smtClean="0"/>
          </a:p>
          <a:p>
            <a:r>
              <a:rPr lang="en-US" dirty="0" smtClean="0"/>
              <a:t>Software – Instructions for Computer</a:t>
            </a:r>
            <a:endParaRPr lang="en-US" dirty="0" smtClean="0"/>
          </a:p>
          <a:p>
            <a:r>
              <a:rPr lang="en-US" dirty="0" smtClean="0"/>
              <a:t>Operating system is set of instructions loaded each time a computer is started.</a:t>
            </a:r>
            <a:endParaRPr lang="en-US" dirty="0" smtClean="0"/>
          </a:p>
          <a:p>
            <a:r>
              <a:rPr lang="en-US" dirty="0" smtClean="0"/>
              <a:t>Program is instructions loaded when needed.</a:t>
            </a:r>
            <a:endParaRPr lang="en-US" dirty="0" smtClean="0"/>
          </a:p>
          <a:p>
            <a:r>
              <a:rPr lang="en-US" dirty="0" smtClean="0"/>
              <a:t>Integrated Circuit</a:t>
            </a:r>
            <a:endParaRPr lang="en-US" dirty="0" smtClean="0"/>
          </a:p>
          <a:p>
            <a:r>
              <a:rPr lang="en-US" dirty="0" smtClean="0"/>
              <a:t>Getting smaller, cheaper</a:t>
            </a:r>
            <a:endParaRPr lang="en-US" dirty="0" smtClean="0"/>
          </a:p>
          <a:p>
            <a:endParaRPr lang="en-US" dirty="0" smtClean="0"/>
          </a:p>
          <a:p>
            <a:endParaRPr lang="en-US" dirty="0" smtClean="0"/>
          </a:p>
        </p:txBody>
      </p:sp>
      <p:sp>
        <p:nvSpPr>
          <p:cNvPr id="4" name="Title 1"/>
          <p:cNvSpPr>
            <a:spLocks noGrp="1"/>
          </p:cNvSpPr>
          <p:nvPr>
            <p:ph type="title"/>
          </p:nvPr>
        </p:nvSpPr>
        <p:spPr/>
        <p:txBody>
          <a:bodyPr>
            <a:normAutofit fontScale="90000"/>
          </a:bodyPr>
          <a:lstStyle/>
          <a:p>
            <a:r>
              <a:rPr lang="en-US" dirty="0" smtClean="0"/>
              <a:t>Third Generation: Integrated Circuits</a:t>
            </a:r>
            <a:endParaRPr lang="en-US"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685800" y="0"/>
            <a:ext cx="7772400" cy="1524000"/>
          </a:xfrm>
        </p:spPr>
        <p:txBody>
          <a:bodyPr/>
          <a:lstStyle/>
          <a:p>
            <a:r>
              <a:rPr lang="en-US" dirty="0" smtClean="0"/>
              <a:t>The First Microprocessor – 1971</a:t>
            </a:r>
            <a:endParaRPr lang="en-US" dirty="0" smtClean="0"/>
          </a:p>
        </p:txBody>
      </p:sp>
      <p:sp>
        <p:nvSpPr>
          <p:cNvPr id="18435" name="Rectangle 3"/>
          <p:cNvSpPr>
            <a:spLocks noGrp="1" noChangeArrowheads="1"/>
          </p:cNvSpPr>
          <p:nvPr>
            <p:ph type="body" sz="half" idx="1"/>
          </p:nvPr>
        </p:nvSpPr>
        <p:spPr>
          <a:xfrm>
            <a:off x="457200" y="2743200"/>
            <a:ext cx="6248400" cy="3810000"/>
          </a:xfrm>
        </p:spPr>
        <p:txBody>
          <a:bodyPr/>
          <a:lstStyle/>
          <a:p>
            <a:pPr>
              <a:spcBef>
                <a:spcPts val="500"/>
              </a:spcBef>
              <a:spcAft>
                <a:spcPts val="500"/>
              </a:spcAft>
            </a:pPr>
            <a:r>
              <a:rPr lang="en-US" sz="2800" dirty="0" smtClean="0"/>
              <a:t>The 4004 had 2,250 transistors</a:t>
            </a:r>
            <a:endParaRPr lang="en-US" sz="2800" dirty="0" smtClean="0"/>
          </a:p>
          <a:p>
            <a:pPr>
              <a:spcBef>
                <a:spcPts val="500"/>
              </a:spcBef>
              <a:spcAft>
                <a:spcPts val="500"/>
              </a:spcAft>
            </a:pPr>
            <a:r>
              <a:rPr lang="en-US" sz="2800" dirty="0" smtClean="0"/>
              <a:t>four-bit chunks (four 1’s or 0’)</a:t>
            </a:r>
            <a:endParaRPr lang="en-US" sz="2800" dirty="0" smtClean="0"/>
          </a:p>
          <a:p>
            <a:r>
              <a:rPr lang="en-US" sz="2800" dirty="0" smtClean="0"/>
              <a:t>Called “Microchip”</a:t>
            </a:r>
            <a:endParaRPr lang="en-US" sz="2800" dirty="0" smtClean="0"/>
          </a:p>
        </p:txBody>
      </p:sp>
      <p:sp>
        <p:nvSpPr>
          <p:cNvPr id="18437" name="WordArt 5"/>
          <p:cNvSpPr>
            <a:spLocks noChangeArrowheads="1" noChangeShapeType="1" noTextEdit="1"/>
          </p:cNvSpPr>
          <p:nvPr/>
        </p:nvSpPr>
        <p:spPr bwMode="auto">
          <a:xfrm>
            <a:off x="304800" y="2133600"/>
            <a:ext cx="4876800" cy="381000"/>
          </a:xfrm>
          <a:prstGeom prst="rect">
            <a:avLst/>
          </a:prstGeom>
        </p:spPr>
        <p:txBody>
          <a:bodyPr wrap="none" fromWordArt="1">
            <a:prstTxWarp prst="textPlain">
              <a:avLst>
                <a:gd name="adj" fmla="val 49364"/>
              </a:avLst>
            </a:prstTxWarp>
          </a:bodyPr>
          <a:lstStyle/>
          <a:p>
            <a:pPr algn="ctr"/>
            <a:r>
              <a:rPr lang="en-US" sz="1600" b="1" kern="10" dirty="0">
                <a:ln w="12700">
                  <a:solidFill>
                    <a:srgbClr val="EAEAEA"/>
                  </a:solidFill>
                  <a:round/>
                </a:ln>
              </a:rPr>
              <a:t>Intel 4004 Microprocessor</a:t>
            </a:r>
            <a:endParaRPr lang="en-US" sz="1600" b="1" kern="10" dirty="0">
              <a:ln w="12700">
                <a:solidFill>
                  <a:srgbClr val="EAEAEA"/>
                </a:solidFill>
                <a:round/>
              </a:ln>
            </a:endParaRPr>
          </a:p>
        </p:txBody>
      </p:sp>
      <p:pic>
        <p:nvPicPr>
          <p:cNvPr id="17413" name="Picture 6" descr="intel4004"/>
          <p:cNvPicPr>
            <a:picLocks noChangeAspect="1" noChangeArrowheads="1"/>
          </p:cNvPicPr>
          <p:nvPr/>
        </p:nvPicPr>
        <p:blipFill>
          <a:blip r:embed="rId1" cstate="print"/>
          <a:srcRect/>
          <a:stretch>
            <a:fillRect/>
          </a:stretch>
        </p:blipFill>
        <p:spPr bwMode="auto">
          <a:xfrm>
            <a:off x="5476875" y="1905000"/>
            <a:ext cx="3667125" cy="44196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437"/>
                                        </p:tgtEl>
                                        <p:attrNameLst>
                                          <p:attrName>style.visibility</p:attrName>
                                        </p:attrNameLst>
                                      </p:cBhvr>
                                      <p:to>
                                        <p:strVal val="visible"/>
                                      </p:to>
                                    </p:set>
                                    <p:animEffect transition="in" filter="wipe(left)">
                                      <p:cBhvr>
                                        <p:cTn id="7" dur="500"/>
                                        <p:tgtEl>
                                          <p:spTgt spid="1843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18435">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18435">
                                            <p:txEl>
                                              <p:pRg st="1" end="1"/>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499"/>
                                          </p:stCondLst>
                                        </p:cTn>
                                        <p:tgtEl>
                                          <p:spTgt spid="1843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autoUpdateAnimBg="0" build="p"/>
      <p:bldP spid="18437"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en-US" smtClean="0"/>
              <a:t>What is a Microchip?</a:t>
            </a:r>
            <a:endParaRPr lang="en-US" smtClean="0"/>
          </a:p>
        </p:txBody>
      </p:sp>
      <p:sp>
        <p:nvSpPr>
          <p:cNvPr id="18435" name="Rectangle 3"/>
          <p:cNvSpPr>
            <a:spLocks noGrp="1" noChangeArrowheads="1"/>
          </p:cNvSpPr>
          <p:nvPr>
            <p:ph type="body" idx="1"/>
          </p:nvPr>
        </p:nvSpPr>
        <p:spPr>
          <a:xfrm>
            <a:off x="685800" y="1828800"/>
            <a:ext cx="8077200" cy="4267200"/>
          </a:xfrm>
        </p:spPr>
        <p:txBody>
          <a:bodyPr>
            <a:normAutofit/>
          </a:bodyPr>
          <a:lstStyle/>
          <a:p>
            <a:pPr algn="just"/>
            <a:r>
              <a:rPr lang="en-US" sz="2600" dirty="0" smtClean="0"/>
              <a:t>Very Large Scale Integrated Circuit (VLSIC)</a:t>
            </a:r>
            <a:endParaRPr lang="en-US" sz="2600" dirty="0" smtClean="0"/>
          </a:p>
          <a:p>
            <a:pPr lvl="1" algn="just"/>
            <a:r>
              <a:rPr lang="en-US" dirty="0" smtClean="0"/>
              <a:t>Transistors, resistors, and capacitors</a:t>
            </a:r>
            <a:endParaRPr lang="en-US" dirty="0" smtClean="0"/>
          </a:p>
          <a:p>
            <a:pPr algn="just"/>
            <a:r>
              <a:rPr lang="en-US" sz="2600" dirty="0" smtClean="0"/>
              <a:t>4004 had 2,250 transistors</a:t>
            </a:r>
            <a:endParaRPr lang="en-US" sz="2600" dirty="0" smtClean="0"/>
          </a:p>
          <a:p>
            <a:pPr algn="just"/>
            <a:r>
              <a:rPr lang="en-US" sz="2600" dirty="0" smtClean="0"/>
              <a:t>Pentium IV has 42 MILLION transistors</a:t>
            </a:r>
            <a:endParaRPr lang="en-US" sz="2600" dirty="0" smtClean="0"/>
          </a:p>
          <a:p>
            <a:pPr lvl="1" algn="just"/>
            <a:r>
              <a:rPr lang="en-US" dirty="0" smtClean="0"/>
              <a:t>Each transistor 0.13 microns </a:t>
            </a:r>
            <a:endParaRPr lang="en-US" dirty="0" smtClean="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n-US" smtClean="0"/>
              <a:t>4</a:t>
            </a:r>
            <a:r>
              <a:rPr lang="en-US" baseline="30000" smtClean="0"/>
              <a:t>th</a:t>
            </a:r>
            <a:r>
              <a:rPr lang="en-US" smtClean="0"/>
              <a:t> Generation – 1971-present</a:t>
            </a:r>
            <a:endParaRPr lang="en-US" smtClean="0"/>
          </a:p>
        </p:txBody>
      </p:sp>
      <p:sp>
        <p:nvSpPr>
          <p:cNvPr id="19459" name="Rectangle 3"/>
          <p:cNvSpPr>
            <a:spLocks noGrp="1" noChangeArrowheads="1"/>
          </p:cNvSpPr>
          <p:nvPr>
            <p:ph type="body" idx="1"/>
          </p:nvPr>
        </p:nvSpPr>
        <p:spPr/>
        <p:txBody>
          <a:bodyPr/>
          <a:lstStyle/>
          <a:p>
            <a:r>
              <a:rPr lang="en-US" dirty="0" smtClean="0"/>
              <a:t>MICROCHIPS!</a:t>
            </a:r>
            <a:endParaRPr lang="en-US" dirty="0" smtClean="0"/>
          </a:p>
          <a:p>
            <a:r>
              <a:rPr lang="en-US" dirty="0" smtClean="0"/>
              <a:t>Getting smaller and smaller, but we are still using microchip technology.</a:t>
            </a:r>
            <a:endParaRPr lang="en-US" dirty="0" smtClean="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152400"/>
            <a:ext cx="8686800" cy="1143000"/>
          </a:xfrm>
        </p:spPr>
        <p:txBody>
          <a:bodyPr/>
          <a:lstStyle/>
          <a:p>
            <a:r>
              <a:rPr lang="en-US" dirty="0" smtClean="0"/>
              <a:t>Birth of Personal Computers - 1975</a:t>
            </a:r>
            <a:endParaRPr lang="en-US" dirty="0" smtClean="0"/>
          </a:p>
        </p:txBody>
      </p:sp>
      <p:sp>
        <p:nvSpPr>
          <p:cNvPr id="12291" name="Rectangle 3"/>
          <p:cNvSpPr>
            <a:spLocks noGrp="1" noChangeArrowheads="1"/>
          </p:cNvSpPr>
          <p:nvPr>
            <p:ph type="body" sz="half" idx="1"/>
          </p:nvPr>
        </p:nvSpPr>
        <p:spPr>
          <a:xfrm>
            <a:off x="152400" y="1828800"/>
            <a:ext cx="3962400" cy="4800600"/>
          </a:xfrm>
        </p:spPr>
        <p:txBody>
          <a:bodyPr/>
          <a:lstStyle/>
          <a:p>
            <a:pPr>
              <a:spcBef>
                <a:spcPts val="500"/>
              </a:spcBef>
              <a:spcAft>
                <a:spcPts val="500"/>
              </a:spcAft>
            </a:pPr>
            <a:r>
              <a:rPr lang="en-US" sz="2800" dirty="0" smtClean="0"/>
              <a:t>256 byte memory</a:t>
            </a:r>
            <a:endParaRPr lang="en-US" sz="2800" dirty="0" smtClean="0"/>
          </a:p>
          <a:p>
            <a:pPr>
              <a:spcBef>
                <a:spcPts val="500"/>
              </a:spcBef>
              <a:spcAft>
                <a:spcPts val="500"/>
              </a:spcAft>
            </a:pPr>
            <a:r>
              <a:rPr lang="en-US" sz="2800" dirty="0" smtClean="0"/>
              <a:t>2 MHz Intel 8080 chips</a:t>
            </a:r>
            <a:endParaRPr lang="en-US" sz="2800" dirty="0" smtClean="0"/>
          </a:p>
          <a:p>
            <a:pPr>
              <a:spcBef>
                <a:spcPts val="500"/>
              </a:spcBef>
              <a:spcAft>
                <a:spcPts val="500"/>
              </a:spcAft>
            </a:pPr>
            <a:r>
              <a:rPr lang="en-US" sz="2800" dirty="0" smtClean="0"/>
              <a:t>Just a box with flashing lights</a:t>
            </a:r>
            <a:endParaRPr lang="en-US" sz="2800" dirty="0" smtClean="0"/>
          </a:p>
          <a:p>
            <a:pPr>
              <a:spcBef>
                <a:spcPts val="500"/>
              </a:spcBef>
              <a:spcAft>
                <a:spcPts val="500"/>
              </a:spcAft>
            </a:pPr>
            <a:r>
              <a:rPr lang="en-US" sz="2800" dirty="0" smtClean="0"/>
              <a:t>cost $395 kit, $495 assembled.</a:t>
            </a:r>
            <a:endParaRPr lang="en-US" sz="2800" dirty="0" smtClean="0"/>
          </a:p>
          <a:p>
            <a:endParaRPr lang="en-US" sz="2800" dirty="0" smtClean="0"/>
          </a:p>
        </p:txBody>
      </p:sp>
      <p:pic>
        <p:nvPicPr>
          <p:cNvPr id="20485" name="Picture 9" descr="altair"/>
          <p:cNvPicPr>
            <a:picLocks noChangeAspect="1" noChangeArrowheads="1"/>
          </p:cNvPicPr>
          <p:nvPr/>
        </p:nvPicPr>
        <p:blipFill>
          <a:blip r:embed="rId1" cstate="print"/>
          <a:srcRect/>
          <a:stretch>
            <a:fillRect/>
          </a:stretch>
        </p:blipFill>
        <p:spPr bwMode="auto">
          <a:xfrm>
            <a:off x="4419600" y="2514600"/>
            <a:ext cx="4297363" cy="283845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291">
                                            <p:txEl>
                                              <p:pRg st="0" end="0"/>
                                            </p:txEl>
                                          </p:spTgt>
                                        </p:tgtEl>
                                        <p:attrNameLst>
                                          <p:attrName>style.visibility</p:attrName>
                                        </p:attrNameLst>
                                      </p:cBhvr>
                                      <p:to>
                                        <p:strVal val="visible"/>
                                      </p:to>
                                    </p:set>
                                    <p:animEffect transition="in" filter="wipe(left)">
                                      <p:cBhvr>
                                        <p:cTn id="7" dur="500"/>
                                        <p:tgtEl>
                                          <p:spTgt spid="122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291">
                                            <p:txEl>
                                              <p:pRg st="1" end="1"/>
                                            </p:txEl>
                                          </p:spTgt>
                                        </p:tgtEl>
                                        <p:attrNameLst>
                                          <p:attrName>style.visibility</p:attrName>
                                        </p:attrNameLst>
                                      </p:cBhvr>
                                      <p:to>
                                        <p:strVal val="visible"/>
                                      </p:to>
                                    </p:set>
                                    <p:animEffect transition="in" filter="wipe(left)">
                                      <p:cBhvr>
                                        <p:cTn id="12" dur="500"/>
                                        <p:tgtEl>
                                          <p:spTgt spid="1229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291">
                                            <p:txEl>
                                              <p:pRg st="2" end="2"/>
                                            </p:txEl>
                                          </p:spTgt>
                                        </p:tgtEl>
                                        <p:attrNameLst>
                                          <p:attrName>style.visibility</p:attrName>
                                        </p:attrNameLst>
                                      </p:cBhvr>
                                      <p:to>
                                        <p:strVal val="visible"/>
                                      </p:to>
                                    </p:set>
                                    <p:animEffect transition="in" filter="wipe(left)">
                                      <p:cBhvr>
                                        <p:cTn id="17" dur="500"/>
                                        <p:tgtEl>
                                          <p:spTgt spid="1229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291">
                                            <p:txEl>
                                              <p:pRg st="3" end="3"/>
                                            </p:txEl>
                                          </p:spTgt>
                                        </p:tgtEl>
                                        <p:attrNameLst>
                                          <p:attrName>style.visibility</p:attrName>
                                        </p:attrNameLst>
                                      </p:cBhvr>
                                      <p:to>
                                        <p:strVal val="visible"/>
                                      </p:to>
                                    </p:set>
                                    <p:animEffect transition="in" filter="wipe(left)">
                                      <p:cBhvr>
                                        <p:cTn id="22" dur="500"/>
                                        <p:tgtEl>
                                          <p:spTgt spid="1229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autoUpdateAnimBg="0" build="p"/>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533400" y="152400"/>
            <a:ext cx="8229600" cy="1066800"/>
          </a:xfrm>
        </p:spPr>
        <p:txBody>
          <a:bodyPr>
            <a:normAutofit/>
          </a:bodyPr>
          <a:lstStyle/>
          <a:p>
            <a:r>
              <a:rPr lang="en-US" dirty="0" smtClean="0"/>
              <a:t>IBM PC - 1981</a:t>
            </a:r>
            <a:endParaRPr lang="en-US" dirty="0" smtClean="0"/>
          </a:p>
        </p:txBody>
      </p:sp>
      <p:sp>
        <p:nvSpPr>
          <p:cNvPr id="32771" name="Rectangle 3"/>
          <p:cNvSpPr>
            <a:spLocks noGrp="1" noChangeArrowheads="1"/>
          </p:cNvSpPr>
          <p:nvPr>
            <p:ph type="body" sz="half" idx="2"/>
          </p:nvPr>
        </p:nvSpPr>
        <p:spPr>
          <a:xfrm>
            <a:off x="3276600" y="1600200"/>
            <a:ext cx="5715000" cy="4495800"/>
          </a:xfrm>
        </p:spPr>
        <p:txBody>
          <a:bodyPr/>
          <a:lstStyle/>
          <a:p>
            <a:r>
              <a:rPr lang="en-US" sz="2800" dirty="0" smtClean="0"/>
              <a:t>IBM-Intel-Microsoft </a:t>
            </a:r>
            <a:endParaRPr lang="en-US" sz="2800" dirty="0" smtClean="0"/>
          </a:p>
          <a:p>
            <a:r>
              <a:rPr lang="en-US" sz="2800" dirty="0" smtClean="0"/>
              <a:t>First wide-selling personal computer used in business</a:t>
            </a:r>
            <a:endParaRPr lang="en-US" sz="2800" dirty="0" smtClean="0"/>
          </a:p>
          <a:p>
            <a:r>
              <a:rPr lang="en-US" sz="2800" dirty="0" smtClean="0"/>
              <a:t>8088 Microchip - 29,000 transistors</a:t>
            </a:r>
            <a:endParaRPr lang="en-US" sz="2800" dirty="0" smtClean="0"/>
          </a:p>
          <a:p>
            <a:pPr lvl="1"/>
            <a:r>
              <a:rPr lang="en-US" sz="2400" dirty="0" smtClean="0"/>
              <a:t>4.77 </a:t>
            </a:r>
            <a:r>
              <a:rPr lang="en-US" sz="2400" dirty="0" err="1" smtClean="0"/>
              <a:t>Mhz</a:t>
            </a:r>
            <a:r>
              <a:rPr lang="en-US" sz="2400" dirty="0" smtClean="0"/>
              <a:t> processing speed</a:t>
            </a:r>
            <a:endParaRPr lang="en-US" sz="2400" dirty="0" smtClean="0"/>
          </a:p>
          <a:p>
            <a:r>
              <a:rPr lang="en-US" sz="2800" dirty="0" smtClean="0"/>
              <a:t>256 K RAM (Random Access Memory) standard</a:t>
            </a:r>
            <a:endParaRPr lang="en-US" sz="2800" dirty="0" smtClean="0"/>
          </a:p>
          <a:p>
            <a:r>
              <a:rPr lang="en-US" sz="2800" dirty="0" smtClean="0"/>
              <a:t>One or two floppy disk drives</a:t>
            </a:r>
            <a:endParaRPr lang="en-US" sz="2800" dirty="0" smtClean="0"/>
          </a:p>
        </p:txBody>
      </p:sp>
      <p:pic>
        <p:nvPicPr>
          <p:cNvPr id="24580" name="Picture 4" descr="ibmxt"/>
          <p:cNvPicPr>
            <a:picLocks noChangeAspect="1" noChangeArrowheads="1"/>
          </p:cNvPicPr>
          <p:nvPr/>
        </p:nvPicPr>
        <p:blipFill>
          <a:blip r:embed="rId1" cstate="print"/>
          <a:srcRect/>
          <a:stretch>
            <a:fillRect/>
          </a:stretch>
        </p:blipFill>
        <p:spPr bwMode="auto">
          <a:xfrm>
            <a:off x="304800" y="2209800"/>
            <a:ext cx="2743200" cy="2843213"/>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27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277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2771">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32771">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32771">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3277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autoUpdateAnimBg="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2667000" y="0"/>
            <a:ext cx="5791200" cy="1447800"/>
          </a:xfrm>
        </p:spPr>
        <p:txBody>
          <a:bodyPr/>
          <a:lstStyle/>
          <a:p>
            <a:r>
              <a:rPr lang="en-US" dirty="0" smtClean="0"/>
              <a:t>Apple Computers</a:t>
            </a:r>
            <a:endParaRPr lang="en-US" dirty="0" smtClean="0"/>
          </a:p>
        </p:txBody>
      </p:sp>
      <p:sp>
        <p:nvSpPr>
          <p:cNvPr id="25603" name="Rectangle 3"/>
          <p:cNvSpPr>
            <a:spLocks noGrp="1" noChangeArrowheads="1"/>
          </p:cNvSpPr>
          <p:nvPr>
            <p:ph type="body" sz="half" idx="2"/>
          </p:nvPr>
        </p:nvSpPr>
        <p:spPr>
          <a:xfrm>
            <a:off x="3810000" y="1828800"/>
            <a:ext cx="5334000" cy="4267200"/>
          </a:xfrm>
        </p:spPr>
        <p:txBody>
          <a:bodyPr/>
          <a:lstStyle/>
          <a:p>
            <a:pPr>
              <a:lnSpc>
                <a:spcPct val="90000"/>
              </a:lnSpc>
            </a:pPr>
            <a:r>
              <a:rPr lang="en-US" sz="2800" dirty="0" smtClean="0"/>
              <a:t>Founded 1977</a:t>
            </a:r>
            <a:endParaRPr lang="en-US" sz="2800" dirty="0" smtClean="0"/>
          </a:p>
          <a:p>
            <a:pPr>
              <a:lnSpc>
                <a:spcPct val="90000"/>
              </a:lnSpc>
            </a:pPr>
            <a:r>
              <a:rPr lang="en-US" sz="2800" dirty="0" smtClean="0"/>
              <a:t>Apple II released 1977</a:t>
            </a:r>
            <a:endParaRPr lang="en-US" sz="2800" dirty="0" smtClean="0"/>
          </a:p>
          <a:p>
            <a:pPr lvl="1">
              <a:lnSpc>
                <a:spcPct val="90000"/>
              </a:lnSpc>
            </a:pPr>
            <a:r>
              <a:rPr lang="en-US" sz="2400" dirty="0" smtClean="0"/>
              <a:t>widely used in schools</a:t>
            </a:r>
            <a:endParaRPr lang="en-US" sz="2400" dirty="0" smtClean="0"/>
          </a:p>
          <a:p>
            <a:pPr lvl="1">
              <a:lnSpc>
                <a:spcPct val="90000"/>
              </a:lnSpc>
            </a:pPr>
            <a:endParaRPr lang="en-US" sz="2400" dirty="0" smtClean="0"/>
          </a:p>
          <a:p>
            <a:pPr>
              <a:lnSpc>
                <a:spcPct val="90000"/>
              </a:lnSpc>
            </a:pPr>
            <a:r>
              <a:rPr lang="en-US" sz="2800" dirty="0" smtClean="0"/>
              <a:t>Macintosh</a:t>
            </a:r>
            <a:endParaRPr lang="en-US" sz="2800" dirty="0" smtClean="0"/>
          </a:p>
          <a:p>
            <a:pPr lvl="1">
              <a:lnSpc>
                <a:spcPct val="90000"/>
              </a:lnSpc>
            </a:pPr>
            <a:r>
              <a:rPr lang="en-US" sz="2400" dirty="0" smtClean="0"/>
              <a:t>released in 1984, Motorola 68000 Microchip processor</a:t>
            </a:r>
            <a:endParaRPr lang="en-US" sz="2400" dirty="0" smtClean="0"/>
          </a:p>
          <a:p>
            <a:pPr lvl="1">
              <a:lnSpc>
                <a:spcPct val="90000"/>
              </a:lnSpc>
            </a:pPr>
            <a:r>
              <a:rPr lang="en-US" sz="2400" dirty="0" smtClean="0"/>
              <a:t>first commercial computer with graphical user interface (GUI) and pointing device (mouse)</a:t>
            </a:r>
            <a:endParaRPr lang="en-US" sz="2400" dirty="0" smtClean="0"/>
          </a:p>
        </p:txBody>
      </p:sp>
      <p:pic>
        <p:nvPicPr>
          <p:cNvPr id="25604" name="Picture 8" descr="macse"/>
          <p:cNvPicPr>
            <a:picLocks noChangeAspect="1" noChangeArrowheads="1"/>
          </p:cNvPicPr>
          <p:nvPr/>
        </p:nvPicPr>
        <p:blipFill>
          <a:blip r:embed="rId1" cstate="print"/>
          <a:srcRect/>
          <a:stretch>
            <a:fillRect/>
          </a:stretch>
        </p:blipFill>
        <p:spPr bwMode="auto">
          <a:xfrm>
            <a:off x="273050" y="1828800"/>
            <a:ext cx="3460750" cy="3962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762000" y="0"/>
            <a:ext cx="7772400" cy="1143000"/>
          </a:xfrm>
        </p:spPr>
        <p:txBody>
          <a:bodyPr/>
          <a:lstStyle/>
          <a:p>
            <a:r>
              <a:rPr lang="en-US" smtClean="0"/>
              <a:t>Computers Progress</a:t>
            </a:r>
            <a:endParaRPr lang="en-US" smtClean="0"/>
          </a:p>
        </p:txBody>
      </p:sp>
      <p:graphicFrame>
        <p:nvGraphicFramePr>
          <p:cNvPr id="26627" name="Object 3"/>
          <p:cNvGraphicFramePr>
            <a:graphicFrameLocks noGrp="1" noChangeAspect="1"/>
          </p:cNvGraphicFramePr>
          <p:nvPr>
            <p:ph type="tbl" idx="1"/>
          </p:nvPr>
        </p:nvGraphicFramePr>
        <p:xfrm>
          <a:off x="685800" y="1676401"/>
          <a:ext cx="7696200" cy="5181600"/>
        </p:xfrm>
        <a:graphic>
          <a:graphicData uri="http://schemas.openxmlformats.org/presentationml/2006/ole">
            <mc:AlternateContent xmlns:mc="http://schemas.openxmlformats.org/markup-compatibility/2006">
              <mc:Choice xmlns:v="urn:schemas-microsoft-com:vml" Requires="v">
                <p:oleObj spid="_x0000_s35863" name="Document" r:id="rId1" imgW="6946900" imgH="5582285" progId="Word.Document.8">
                  <p:embed/>
                </p:oleObj>
              </mc:Choice>
              <mc:Fallback>
                <p:oleObj name="Document" r:id="rId1" imgW="6946900" imgH="5582285" progId="Word.Document.8">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676401"/>
                        <a:ext cx="7696200" cy="5181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685800" y="0"/>
            <a:ext cx="7772400" cy="1752600"/>
          </a:xfrm>
        </p:spPr>
        <p:txBody>
          <a:bodyPr/>
          <a:lstStyle/>
          <a:p>
            <a:r>
              <a:rPr lang="en-US" dirty="0" smtClean="0"/>
              <a:t>1990s: Pentiums and Power Macs</a:t>
            </a:r>
            <a:endParaRPr lang="en-US" dirty="0" smtClean="0"/>
          </a:p>
        </p:txBody>
      </p:sp>
      <p:sp>
        <p:nvSpPr>
          <p:cNvPr id="27651" name="Rectangle 3"/>
          <p:cNvSpPr>
            <a:spLocks noGrp="1" noChangeArrowheads="1"/>
          </p:cNvSpPr>
          <p:nvPr>
            <p:ph type="body" sz="half" idx="1"/>
          </p:nvPr>
        </p:nvSpPr>
        <p:spPr>
          <a:xfrm>
            <a:off x="381000" y="1752600"/>
            <a:ext cx="8305800" cy="4343400"/>
          </a:xfrm>
        </p:spPr>
        <p:txBody>
          <a:bodyPr/>
          <a:lstStyle/>
          <a:p>
            <a:pPr algn="just"/>
            <a:r>
              <a:rPr lang="en-US" sz="2800" dirty="0" smtClean="0"/>
              <a:t>Early 1990s began penetration of computers into every niche: every desk, most homes, etc.</a:t>
            </a:r>
            <a:endParaRPr lang="en-US" sz="2800" dirty="0" smtClean="0"/>
          </a:p>
          <a:p>
            <a:pPr algn="just"/>
            <a:r>
              <a:rPr lang="en-US" sz="2800" dirty="0" smtClean="0"/>
              <a:t>Faster, less expensive computers paved way for this</a:t>
            </a:r>
            <a:endParaRPr lang="en-US" sz="2800" dirty="0" smtClean="0"/>
          </a:p>
          <a:p>
            <a:pPr algn="just"/>
            <a:r>
              <a:rPr lang="en-US" sz="2800" b="1" dirty="0" smtClean="0"/>
              <a:t>Windows 95 </a:t>
            </a:r>
            <a:r>
              <a:rPr lang="en-US" sz="2800" dirty="0" smtClean="0"/>
              <a:t>was first decent GUI for “PCs”</a:t>
            </a:r>
            <a:endParaRPr lang="en-US" sz="2800" dirty="0" smtClean="0"/>
          </a:p>
          <a:p>
            <a:pPr algn="just"/>
            <a:r>
              <a:rPr lang="en-US" sz="2800" dirty="0" smtClean="0"/>
              <a:t>Macs became more PC compatible - easy file transfers</a:t>
            </a:r>
            <a:endParaRPr lang="en-US" sz="2800" dirty="0" smtClean="0"/>
          </a:p>
          <a:p>
            <a:pPr algn="just"/>
            <a:r>
              <a:rPr lang="en-US" sz="2800" dirty="0" smtClean="0"/>
              <a:t>Prices have plummeted </a:t>
            </a:r>
            <a:endParaRPr lang="en-US" sz="2800" dirty="0" smtClean="0"/>
          </a:p>
          <a:p>
            <a:pPr lvl="1" algn="just"/>
            <a:r>
              <a:rPr lang="en-US" sz="2400" dirty="0" smtClean="0"/>
              <a:t>$2000 for entry level to $500</a:t>
            </a:r>
            <a:endParaRPr lang="en-US" sz="2400" dirty="0" smtClean="0"/>
          </a:p>
          <a:p>
            <a:pPr lvl="1" algn="just"/>
            <a:r>
              <a:rPr lang="en-US" sz="2400" dirty="0" smtClean="0"/>
              <a:t>$6000 for top of line to $1500</a:t>
            </a:r>
            <a:endParaRPr lang="en-US" sz="2400" dirty="0" smtClean="0"/>
          </a:p>
          <a:p>
            <a:endParaRPr lang="en-US" sz="2800" dirty="0" smtClean="0"/>
          </a:p>
          <a:p>
            <a:endParaRPr lang="en-US" sz="2800" dirty="0" smtClean="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en-US" smtClean="0"/>
              <a:t>21</a:t>
            </a:r>
            <a:r>
              <a:rPr lang="en-US" baseline="30000" smtClean="0"/>
              <a:t>st</a:t>
            </a:r>
            <a:r>
              <a:rPr lang="en-US" smtClean="0"/>
              <a:t> Century Computing</a:t>
            </a:r>
            <a:endParaRPr lang="en-US" smtClean="0"/>
          </a:p>
        </p:txBody>
      </p:sp>
      <p:sp>
        <p:nvSpPr>
          <p:cNvPr id="28675" name="Rectangle 3"/>
          <p:cNvSpPr>
            <a:spLocks noGrp="1" noChangeArrowheads="1"/>
          </p:cNvSpPr>
          <p:nvPr>
            <p:ph type="body" idx="1"/>
          </p:nvPr>
        </p:nvSpPr>
        <p:spPr>
          <a:xfrm>
            <a:off x="612648" y="1676400"/>
            <a:ext cx="8153400" cy="4419600"/>
          </a:xfrm>
        </p:spPr>
        <p:txBody>
          <a:bodyPr/>
          <a:lstStyle/>
          <a:p>
            <a:r>
              <a:rPr lang="en-US" dirty="0" smtClean="0"/>
              <a:t>Great increases in speed, storage, and memory</a:t>
            </a:r>
            <a:endParaRPr lang="en-US" dirty="0" smtClean="0"/>
          </a:p>
          <a:p>
            <a:r>
              <a:rPr lang="en-US" dirty="0" smtClean="0"/>
              <a:t>Increased networking, speed in Internet</a:t>
            </a:r>
            <a:endParaRPr lang="en-US" dirty="0" smtClean="0"/>
          </a:p>
          <a:p>
            <a:r>
              <a:rPr lang="en-US" dirty="0" smtClean="0"/>
              <a:t>Widespread use of CD-RW</a:t>
            </a:r>
            <a:endParaRPr lang="en-US" dirty="0" smtClean="0"/>
          </a:p>
          <a:p>
            <a:r>
              <a:rPr lang="en-US" dirty="0" smtClean="0"/>
              <a:t>Cell Phone</a:t>
            </a:r>
            <a:endParaRPr lang="en-US" dirty="0" smtClean="0"/>
          </a:p>
          <a:p>
            <a:r>
              <a:rPr lang="en-US" dirty="0" smtClean="0"/>
              <a:t>WIRELESS!!!</a:t>
            </a:r>
            <a:endParaRPr lang="en-US" dirty="0" smtClean="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th-TH" sz="4000" smtClean="0">
                <a:latin typeface="Poor Richard" panose="02080502050505020702" pitchFamily="18" charset="0"/>
                <a:cs typeface="Tahoma" panose="020B0604030504040204" pitchFamily="34" charset="0"/>
              </a:rPr>
              <a:t>Interconnection Structures</a:t>
            </a:r>
            <a:endParaRPr lang="th-TH" sz="4000" smtClean="0">
              <a:latin typeface="Poor Richard" panose="02080502050505020702" pitchFamily="18" charset="0"/>
              <a:cs typeface="Tahoma" panose="020B0604030504040204" pitchFamily="34" charset="0"/>
            </a:endParaRPr>
          </a:p>
        </p:txBody>
      </p:sp>
      <p:sp>
        <p:nvSpPr>
          <p:cNvPr id="10243" name="Rectangle 3"/>
          <p:cNvSpPr>
            <a:spLocks noGrp="1" noChangeArrowheads="1"/>
          </p:cNvSpPr>
          <p:nvPr>
            <p:ph type="body" idx="1"/>
          </p:nvPr>
        </p:nvSpPr>
        <p:spPr/>
        <p:txBody>
          <a:bodyPr/>
          <a:lstStyle/>
          <a:p>
            <a:pPr algn="just" eaLnBrk="1" hangingPunct="1">
              <a:lnSpc>
                <a:spcPct val="110000"/>
              </a:lnSpc>
            </a:pPr>
            <a:r>
              <a:rPr lang="th-TH" sz="2800" smtClean="0">
                <a:latin typeface="Poor Richard" panose="02080502050505020702" pitchFamily="18" charset="0"/>
                <a:cs typeface="Tahoma" panose="020B0604030504040204" pitchFamily="34" charset="0"/>
              </a:rPr>
              <a:t>A computer consists of a set of components (CPU,memory,I/O) that communicate with each other.</a:t>
            </a:r>
            <a:endParaRPr lang="th-TH" sz="2800" smtClean="0">
              <a:latin typeface="Poor Richard" panose="02080502050505020702" pitchFamily="18" charset="0"/>
              <a:cs typeface="Tahoma" panose="020B0604030504040204" pitchFamily="34" charset="0"/>
            </a:endParaRPr>
          </a:p>
          <a:p>
            <a:pPr algn="just" eaLnBrk="1" hangingPunct="1">
              <a:lnSpc>
                <a:spcPct val="110000"/>
              </a:lnSpc>
            </a:pPr>
            <a:r>
              <a:rPr lang="th-TH" sz="2800" smtClean="0">
                <a:latin typeface="Poor Richard" panose="02080502050505020702" pitchFamily="18" charset="0"/>
                <a:cs typeface="Tahoma" panose="020B0604030504040204" pitchFamily="34" charset="0"/>
              </a:rPr>
              <a:t>The collection of paths connecting the various modules is call the </a:t>
            </a:r>
            <a:r>
              <a:rPr lang="th-TH" sz="2800" i="1" smtClean="0">
                <a:solidFill>
                  <a:schemeClr val="hlink"/>
                </a:solidFill>
                <a:latin typeface="Poor Richard" panose="02080502050505020702" pitchFamily="18" charset="0"/>
                <a:cs typeface="Tahoma" panose="020B0604030504040204" pitchFamily="34" charset="0"/>
              </a:rPr>
              <a:t>interconnection structure</a:t>
            </a:r>
            <a:r>
              <a:rPr lang="th-TH" sz="2800" smtClean="0">
                <a:latin typeface="Poor Richard" panose="02080502050505020702" pitchFamily="18" charset="0"/>
                <a:cs typeface="Tahoma" panose="020B0604030504040204" pitchFamily="34" charset="0"/>
              </a:rPr>
              <a:t>.</a:t>
            </a:r>
            <a:endParaRPr lang="th-TH" sz="2800" smtClean="0">
              <a:latin typeface="Poor Richard" panose="02080502050505020702" pitchFamily="18" charset="0"/>
              <a:cs typeface="Tahoma" panose="020B0604030504040204" pitchFamily="34" charset="0"/>
            </a:endParaRPr>
          </a:p>
          <a:p>
            <a:pPr algn="just" eaLnBrk="1" hangingPunct="1">
              <a:lnSpc>
                <a:spcPct val="110000"/>
              </a:lnSpc>
            </a:pPr>
            <a:r>
              <a:rPr lang="th-TH" sz="2800" smtClean="0">
                <a:latin typeface="Poor Richard" panose="02080502050505020702" pitchFamily="18" charset="0"/>
                <a:cs typeface="Tahoma" panose="020B0604030504040204" pitchFamily="34" charset="0"/>
              </a:rPr>
              <a:t>The design of this structure will depend on the exchange that must be made between modules</a:t>
            </a:r>
            <a:r>
              <a:rPr lang="th-TH" sz="2400" smtClean="0">
                <a:latin typeface="Poor Richard" panose="02080502050505020702" pitchFamily="18" charset="0"/>
                <a:cs typeface="Tahoma" panose="020B0604030504040204" pitchFamily="34" charset="0"/>
              </a:rPr>
              <a:t>.</a:t>
            </a:r>
            <a:endParaRPr lang="th-TH" sz="2400" smtClean="0">
              <a:latin typeface="Poor Richard" panose="02080502050505020702" pitchFamily="18" charset="0"/>
              <a:cs typeface="Tahoma" panose="020B0604030504040204" pitchFamily="34" charset="0"/>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th-TH" sz="3600" smtClean="0">
                <a:solidFill>
                  <a:schemeClr val="hlink"/>
                </a:solidFill>
                <a:latin typeface="Poor Richard" panose="02080502050505020702" pitchFamily="18" charset="0"/>
              </a:rPr>
              <a:t>Input/Output for each module</a:t>
            </a:r>
            <a:endParaRPr lang="th-TH" sz="3600" smtClean="0">
              <a:solidFill>
                <a:schemeClr val="hlink"/>
              </a:solidFill>
              <a:latin typeface="Poor Richard" panose="02080502050505020702" pitchFamily="18" charset="0"/>
            </a:endParaRPr>
          </a:p>
        </p:txBody>
      </p:sp>
      <p:grpSp>
        <p:nvGrpSpPr>
          <p:cNvPr id="2" name="Group 45"/>
          <p:cNvGrpSpPr/>
          <p:nvPr/>
        </p:nvGrpSpPr>
        <p:grpSpPr bwMode="auto">
          <a:xfrm>
            <a:off x="1042988" y="2324100"/>
            <a:ext cx="7058025" cy="4057650"/>
            <a:chOff x="384" y="1386"/>
            <a:chExt cx="2448" cy="1014"/>
          </a:xfrm>
        </p:grpSpPr>
        <p:sp>
          <p:nvSpPr>
            <p:cNvPr id="11288" name="Rectangle 4"/>
            <p:cNvSpPr>
              <a:spLocks noChangeArrowheads="1"/>
            </p:cNvSpPr>
            <p:nvPr/>
          </p:nvSpPr>
          <p:spPr bwMode="auto">
            <a:xfrm>
              <a:off x="1248" y="1440"/>
              <a:ext cx="960" cy="960"/>
            </a:xfrm>
            <a:prstGeom prst="rect">
              <a:avLst/>
            </a:prstGeom>
            <a:solidFill>
              <a:schemeClr val="accent2"/>
            </a:solidFill>
            <a:ln w="9525">
              <a:solidFill>
                <a:schemeClr val="tx1"/>
              </a:solidFill>
              <a:miter lim="800000"/>
            </a:ln>
          </p:spPr>
          <p:txBody>
            <a:bodyPr wrap="none" anchor="ctr"/>
            <a:lstStyle/>
            <a:p>
              <a:r>
                <a:rPr lang="th-TH" sz="2800"/>
                <a:t>    Memory</a:t>
              </a:r>
              <a:endParaRPr lang="th-TH" sz="2800"/>
            </a:p>
            <a:p>
              <a:pPr>
                <a:lnSpc>
                  <a:spcPct val="50000"/>
                </a:lnSpc>
              </a:pPr>
              <a:r>
                <a:rPr lang="th-TH" sz="2000"/>
                <a:t>N Word</a:t>
              </a:r>
              <a:endParaRPr lang="th-TH" sz="2000"/>
            </a:p>
            <a:p>
              <a:pPr>
                <a:lnSpc>
                  <a:spcPct val="60000"/>
                </a:lnSpc>
              </a:pPr>
              <a:r>
                <a:rPr lang="th-TH" sz="1600"/>
                <a:t>      0</a:t>
              </a:r>
              <a:endParaRPr lang="th-TH" sz="1600"/>
            </a:p>
            <a:p>
              <a:pPr>
                <a:lnSpc>
                  <a:spcPct val="60000"/>
                </a:lnSpc>
              </a:pPr>
              <a:r>
                <a:rPr lang="th-TH" sz="1600"/>
                <a:t>      .</a:t>
              </a:r>
              <a:endParaRPr lang="th-TH" sz="1600"/>
            </a:p>
            <a:p>
              <a:pPr>
                <a:lnSpc>
                  <a:spcPct val="60000"/>
                </a:lnSpc>
              </a:pPr>
              <a:r>
                <a:rPr lang="th-TH" sz="1600"/>
                <a:t>      .</a:t>
              </a:r>
              <a:endParaRPr lang="th-TH" sz="1600"/>
            </a:p>
            <a:p>
              <a:pPr>
                <a:lnSpc>
                  <a:spcPct val="60000"/>
                </a:lnSpc>
              </a:pPr>
              <a:r>
                <a:rPr lang="th-TH" sz="1600"/>
                <a:t>      .</a:t>
              </a:r>
              <a:endParaRPr lang="th-TH" sz="1600"/>
            </a:p>
            <a:p>
              <a:pPr>
                <a:lnSpc>
                  <a:spcPct val="60000"/>
                </a:lnSpc>
              </a:pPr>
              <a:r>
                <a:rPr lang="th-TH" sz="1600"/>
                <a:t>    N-1</a:t>
              </a:r>
              <a:endParaRPr lang="th-TH" sz="2800"/>
            </a:p>
          </p:txBody>
        </p:sp>
        <p:sp>
          <p:nvSpPr>
            <p:cNvPr id="11289" name="Line 5"/>
            <p:cNvSpPr>
              <a:spLocks noChangeShapeType="1"/>
            </p:cNvSpPr>
            <p:nvPr/>
          </p:nvSpPr>
          <p:spPr bwMode="auto">
            <a:xfrm>
              <a:off x="384" y="1536"/>
              <a:ext cx="864" cy="0"/>
            </a:xfrm>
            <a:prstGeom prst="line">
              <a:avLst/>
            </a:prstGeom>
            <a:noFill/>
            <a:ln w="12700">
              <a:solidFill>
                <a:schemeClr val="tx1"/>
              </a:solidFill>
              <a:miter lim="800000"/>
              <a:tailEnd type="triangle" w="med" len="med"/>
            </a:ln>
          </p:spPr>
          <p:txBody>
            <a:bodyPr wrap="none" anchor="ctr"/>
            <a:lstStyle/>
            <a:p>
              <a:endParaRPr lang="en-IN"/>
            </a:p>
          </p:txBody>
        </p:sp>
        <p:sp>
          <p:nvSpPr>
            <p:cNvPr id="11290" name="Text Box 6"/>
            <p:cNvSpPr txBox="1">
              <a:spLocks noChangeArrowheads="1"/>
            </p:cNvSpPr>
            <p:nvPr/>
          </p:nvSpPr>
          <p:spPr bwMode="auto">
            <a:xfrm>
              <a:off x="476" y="1386"/>
              <a:ext cx="421" cy="327"/>
            </a:xfrm>
            <a:prstGeom prst="rect">
              <a:avLst/>
            </a:prstGeom>
            <a:noFill/>
            <a:ln w="9525">
              <a:noFill/>
              <a:miter lim="800000"/>
            </a:ln>
          </p:spPr>
          <p:txBody>
            <a:bodyPr wrap="none">
              <a:spAutoFit/>
            </a:bodyPr>
            <a:lstStyle/>
            <a:p>
              <a:r>
                <a:rPr lang="th-TH" sz="2800"/>
                <a:t>Read</a:t>
              </a:r>
              <a:endParaRPr lang="th-TH" sz="2800"/>
            </a:p>
          </p:txBody>
        </p:sp>
        <p:sp>
          <p:nvSpPr>
            <p:cNvPr id="11291" name="Line 7"/>
            <p:cNvSpPr>
              <a:spLocks noChangeShapeType="1"/>
            </p:cNvSpPr>
            <p:nvPr/>
          </p:nvSpPr>
          <p:spPr bwMode="auto">
            <a:xfrm>
              <a:off x="384" y="1728"/>
              <a:ext cx="864" cy="0"/>
            </a:xfrm>
            <a:prstGeom prst="line">
              <a:avLst/>
            </a:prstGeom>
            <a:noFill/>
            <a:ln w="12700">
              <a:solidFill>
                <a:schemeClr val="tx1"/>
              </a:solidFill>
              <a:miter lim="800000"/>
              <a:tailEnd type="triangle" w="med" len="med"/>
            </a:ln>
          </p:spPr>
          <p:txBody>
            <a:bodyPr wrap="none" anchor="ctr"/>
            <a:lstStyle/>
            <a:p>
              <a:endParaRPr lang="en-IN"/>
            </a:p>
          </p:txBody>
        </p:sp>
        <p:sp>
          <p:nvSpPr>
            <p:cNvPr id="11292" name="Text Box 8"/>
            <p:cNvSpPr txBox="1">
              <a:spLocks noChangeArrowheads="1"/>
            </p:cNvSpPr>
            <p:nvPr/>
          </p:nvSpPr>
          <p:spPr bwMode="auto">
            <a:xfrm>
              <a:off x="478" y="1641"/>
              <a:ext cx="453" cy="327"/>
            </a:xfrm>
            <a:prstGeom prst="rect">
              <a:avLst/>
            </a:prstGeom>
            <a:noFill/>
            <a:ln w="9525">
              <a:noFill/>
              <a:miter lim="800000"/>
            </a:ln>
          </p:spPr>
          <p:txBody>
            <a:bodyPr wrap="none">
              <a:spAutoFit/>
            </a:bodyPr>
            <a:lstStyle/>
            <a:p>
              <a:r>
                <a:rPr lang="th-TH" sz="2800"/>
                <a:t>Write</a:t>
              </a:r>
              <a:endParaRPr lang="th-TH" sz="2800"/>
            </a:p>
          </p:txBody>
        </p:sp>
        <p:sp>
          <p:nvSpPr>
            <p:cNvPr id="11293" name="AutoShape 9"/>
            <p:cNvSpPr>
              <a:spLocks noChangeArrowheads="1"/>
            </p:cNvSpPr>
            <p:nvPr/>
          </p:nvSpPr>
          <p:spPr bwMode="auto">
            <a:xfrm>
              <a:off x="384" y="1872"/>
              <a:ext cx="855" cy="192"/>
            </a:xfrm>
            <a:prstGeom prst="homePlate">
              <a:avLst>
                <a:gd name="adj" fmla="val 111328"/>
              </a:avLst>
            </a:prstGeom>
            <a:solidFill>
              <a:schemeClr val="bg1"/>
            </a:solidFill>
            <a:ln w="9525">
              <a:solidFill>
                <a:schemeClr val="tx1"/>
              </a:solidFill>
              <a:miter lim="800000"/>
            </a:ln>
          </p:spPr>
          <p:txBody>
            <a:bodyPr wrap="none" anchor="ctr"/>
            <a:lstStyle/>
            <a:p>
              <a:pPr algn="ctr"/>
              <a:r>
                <a:rPr lang="th-TH" sz="2800"/>
                <a:t>Address</a:t>
              </a:r>
              <a:endParaRPr lang="th-TH" sz="2800"/>
            </a:p>
          </p:txBody>
        </p:sp>
        <p:sp>
          <p:nvSpPr>
            <p:cNvPr id="11294" name="AutoShape 10"/>
            <p:cNvSpPr>
              <a:spLocks noChangeArrowheads="1"/>
            </p:cNvSpPr>
            <p:nvPr/>
          </p:nvSpPr>
          <p:spPr bwMode="auto">
            <a:xfrm>
              <a:off x="384" y="2112"/>
              <a:ext cx="855" cy="192"/>
            </a:xfrm>
            <a:prstGeom prst="homePlate">
              <a:avLst>
                <a:gd name="adj" fmla="val 111328"/>
              </a:avLst>
            </a:prstGeom>
            <a:solidFill>
              <a:schemeClr val="bg1"/>
            </a:solidFill>
            <a:ln w="9525">
              <a:solidFill>
                <a:schemeClr val="tx1"/>
              </a:solidFill>
              <a:miter lim="800000"/>
            </a:ln>
          </p:spPr>
          <p:txBody>
            <a:bodyPr wrap="none" anchor="ctr"/>
            <a:lstStyle/>
            <a:p>
              <a:pPr algn="ctr"/>
              <a:r>
                <a:rPr lang="th-TH" sz="2800"/>
                <a:t>Data</a:t>
              </a:r>
              <a:endParaRPr lang="th-TH" sz="2800"/>
            </a:p>
          </p:txBody>
        </p:sp>
        <p:sp>
          <p:nvSpPr>
            <p:cNvPr id="11295" name="AutoShape 11"/>
            <p:cNvSpPr>
              <a:spLocks noChangeArrowheads="1"/>
            </p:cNvSpPr>
            <p:nvPr/>
          </p:nvSpPr>
          <p:spPr bwMode="auto">
            <a:xfrm>
              <a:off x="2208" y="1728"/>
              <a:ext cx="624" cy="288"/>
            </a:xfrm>
            <a:prstGeom prst="homePlate">
              <a:avLst>
                <a:gd name="adj" fmla="val 54167"/>
              </a:avLst>
            </a:prstGeom>
            <a:solidFill>
              <a:schemeClr val="bg1"/>
            </a:solidFill>
            <a:ln w="9525">
              <a:solidFill>
                <a:schemeClr val="tx1"/>
              </a:solidFill>
              <a:miter lim="800000"/>
            </a:ln>
          </p:spPr>
          <p:txBody>
            <a:bodyPr wrap="none" anchor="ctr"/>
            <a:lstStyle/>
            <a:p>
              <a:pPr algn="ctr"/>
              <a:r>
                <a:rPr lang="th-TH" sz="2800"/>
                <a:t>Data</a:t>
              </a:r>
              <a:endParaRPr lang="th-TH" sz="2800"/>
            </a:p>
          </p:txBody>
        </p:sp>
      </p:grpSp>
      <p:grpSp>
        <p:nvGrpSpPr>
          <p:cNvPr id="3" name="Group 61"/>
          <p:cNvGrpSpPr/>
          <p:nvPr/>
        </p:nvGrpSpPr>
        <p:grpSpPr bwMode="auto">
          <a:xfrm>
            <a:off x="2387600" y="2971800"/>
            <a:ext cx="685800" cy="152400"/>
            <a:chOff x="1440" y="1872"/>
            <a:chExt cx="432" cy="96"/>
          </a:xfrm>
        </p:grpSpPr>
        <p:sp>
          <p:nvSpPr>
            <p:cNvPr id="11279" name="Rectangle 52"/>
            <p:cNvSpPr>
              <a:spLocks noChangeArrowheads="1"/>
            </p:cNvSpPr>
            <p:nvPr/>
          </p:nvSpPr>
          <p:spPr bwMode="auto">
            <a:xfrm>
              <a:off x="1440" y="1872"/>
              <a:ext cx="432" cy="96"/>
            </a:xfrm>
            <a:prstGeom prst="rect">
              <a:avLst/>
            </a:prstGeom>
            <a:solidFill>
              <a:schemeClr val="bg1"/>
            </a:solidFill>
            <a:ln w="9525">
              <a:solidFill>
                <a:schemeClr val="tx1"/>
              </a:solidFill>
              <a:miter lim="800000"/>
            </a:ln>
          </p:spPr>
          <p:txBody>
            <a:bodyPr wrap="none" anchor="ctr"/>
            <a:lstStyle/>
            <a:p>
              <a:endParaRPr lang="en-US"/>
            </a:p>
          </p:txBody>
        </p:sp>
        <p:sp>
          <p:nvSpPr>
            <p:cNvPr id="11280" name="Line 53"/>
            <p:cNvSpPr>
              <a:spLocks noChangeShapeType="1"/>
            </p:cNvSpPr>
            <p:nvPr/>
          </p:nvSpPr>
          <p:spPr bwMode="auto">
            <a:xfrm>
              <a:off x="1488" y="1872"/>
              <a:ext cx="0" cy="96"/>
            </a:xfrm>
            <a:prstGeom prst="line">
              <a:avLst/>
            </a:prstGeom>
            <a:noFill/>
            <a:ln w="9525">
              <a:solidFill>
                <a:schemeClr val="tx1"/>
              </a:solidFill>
              <a:miter lim="800000"/>
            </a:ln>
          </p:spPr>
          <p:txBody>
            <a:bodyPr wrap="none" anchor="ctr"/>
            <a:lstStyle/>
            <a:p>
              <a:endParaRPr lang="en-IN"/>
            </a:p>
          </p:txBody>
        </p:sp>
        <p:sp>
          <p:nvSpPr>
            <p:cNvPr id="11281" name="Line 54"/>
            <p:cNvSpPr>
              <a:spLocks noChangeShapeType="1"/>
            </p:cNvSpPr>
            <p:nvPr/>
          </p:nvSpPr>
          <p:spPr bwMode="auto">
            <a:xfrm>
              <a:off x="1536" y="1872"/>
              <a:ext cx="0" cy="96"/>
            </a:xfrm>
            <a:prstGeom prst="line">
              <a:avLst/>
            </a:prstGeom>
            <a:noFill/>
            <a:ln w="9525">
              <a:solidFill>
                <a:schemeClr val="tx1"/>
              </a:solidFill>
              <a:miter lim="800000"/>
            </a:ln>
          </p:spPr>
          <p:txBody>
            <a:bodyPr wrap="none" anchor="ctr"/>
            <a:lstStyle/>
            <a:p>
              <a:endParaRPr lang="en-IN"/>
            </a:p>
          </p:txBody>
        </p:sp>
        <p:sp>
          <p:nvSpPr>
            <p:cNvPr id="11282" name="Line 55"/>
            <p:cNvSpPr>
              <a:spLocks noChangeShapeType="1"/>
            </p:cNvSpPr>
            <p:nvPr/>
          </p:nvSpPr>
          <p:spPr bwMode="auto">
            <a:xfrm>
              <a:off x="1584" y="1872"/>
              <a:ext cx="0" cy="96"/>
            </a:xfrm>
            <a:prstGeom prst="line">
              <a:avLst/>
            </a:prstGeom>
            <a:noFill/>
            <a:ln w="9525">
              <a:solidFill>
                <a:schemeClr val="tx1"/>
              </a:solidFill>
              <a:miter lim="800000"/>
            </a:ln>
          </p:spPr>
          <p:txBody>
            <a:bodyPr wrap="none" anchor="ctr"/>
            <a:lstStyle/>
            <a:p>
              <a:endParaRPr lang="en-IN"/>
            </a:p>
          </p:txBody>
        </p:sp>
        <p:sp>
          <p:nvSpPr>
            <p:cNvPr id="11283" name="Line 56"/>
            <p:cNvSpPr>
              <a:spLocks noChangeShapeType="1"/>
            </p:cNvSpPr>
            <p:nvPr/>
          </p:nvSpPr>
          <p:spPr bwMode="auto">
            <a:xfrm>
              <a:off x="1632" y="1872"/>
              <a:ext cx="0" cy="96"/>
            </a:xfrm>
            <a:prstGeom prst="line">
              <a:avLst/>
            </a:prstGeom>
            <a:noFill/>
            <a:ln w="9525">
              <a:solidFill>
                <a:schemeClr val="tx1"/>
              </a:solidFill>
              <a:miter lim="800000"/>
            </a:ln>
          </p:spPr>
          <p:txBody>
            <a:bodyPr wrap="none" anchor="ctr"/>
            <a:lstStyle/>
            <a:p>
              <a:endParaRPr lang="en-IN"/>
            </a:p>
          </p:txBody>
        </p:sp>
        <p:sp>
          <p:nvSpPr>
            <p:cNvPr id="11284" name="Line 57"/>
            <p:cNvSpPr>
              <a:spLocks noChangeShapeType="1"/>
            </p:cNvSpPr>
            <p:nvPr/>
          </p:nvSpPr>
          <p:spPr bwMode="auto">
            <a:xfrm>
              <a:off x="1680" y="1872"/>
              <a:ext cx="0" cy="96"/>
            </a:xfrm>
            <a:prstGeom prst="line">
              <a:avLst/>
            </a:prstGeom>
            <a:noFill/>
            <a:ln w="9525">
              <a:solidFill>
                <a:schemeClr val="tx1"/>
              </a:solidFill>
              <a:miter lim="800000"/>
            </a:ln>
          </p:spPr>
          <p:txBody>
            <a:bodyPr wrap="none" anchor="ctr"/>
            <a:lstStyle/>
            <a:p>
              <a:endParaRPr lang="en-IN"/>
            </a:p>
          </p:txBody>
        </p:sp>
        <p:sp>
          <p:nvSpPr>
            <p:cNvPr id="11285" name="Line 58"/>
            <p:cNvSpPr>
              <a:spLocks noChangeShapeType="1"/>
            </p:cNvSpPr>
            <p:nvPr/>
          </p:nvSpPr>
          <p:spPr bwMode="auto">
            <a:xfrm>
              <a:off x="1728" y="1872"/>
              <a:ext cx="0" cy="96"/>
            </a:xfrm>
            <a:prstGeom prst="line">
              <a:avLst/>
            </a:prstGeom>
            <a:noFill/>
            <a:ln w="9525">
              <a:solidFill>
                <a:schemeClr val="tx1"/>
              </a:solidFill>
              <a:miter lim="800000"/>
            </a:ln>
          </p:spPr>
          <p:txBody>
            <a:bodyPr wrap="none" anchor="ctr"/>
            <a:lstStyle/>
            <a:p>
              <a:endParaRPr lang="en-IN"/>
            </a:p>
          </p:txBody>
        </p:sp>
        <p:sp>
          <p:nvSpPr>
            <p:cNvPr id="11286" name="Line 59"/>
            <p:cNvSpPr>
              <a:spLocks noChangeShapeType="1"/>
            </p:cNvSpPr>
            <p:nvPr/>
          </p:nvSpPr>
          <p:spPr bwMode="auto">
            <a:xfrm>
              <a:off x="1776" y="1872"/>
              <a:ext cx="0" cy="96"/>
            </a:xfrm>
            <a:prstGeom prst="line">
              <a:avLst/>
            </a:prstGeom>
            <a:noFill/>
            <a:ln w="9525">
              <a:solidFill>
                <a:schemeClr val="tx1"/>
              </a:solidFill>
              <a:miter lim="800000"/>
            </a:ln>
          </p:spPr>
          <p:txBody>
            <a:bodyPr wrap="none" anchor="ctr"/>
            <a:lstStyle/>
            <a:p>
              <a:endParaRPr lang="en-IN"/>
            </a:p>
          </p:txBody>
        </p:sp>
        <p:sp>
          <p:nvSpPr>
            <p:cNvPr id="11287" name="Line 60"/>
            <p:cNvSpPr>
              <a:spLocks noChangeShapeType="1"/>
            </p:cNvSpPr>
            <p:nvPr/>
          </p:nvSpPr>
          <p:spPr bwMode="auto">
            <a:xfrm>
              <a:off x="1824" y="1872"/>
              <a:ext cx="0" cy="96"/>
            </a:xfrm>
            <a:prstGeom prst="line">
              <a:avLst/>
            </a:prstGeom>
            <a:noFill/>
            <a:ln w="9525">
              <a:solidFill>
                <a:schemeClr val="tx1"/>
              </a:solidFill>
              <a:miter lim="800000"/>
            </a:ln>
          </p:spPr>
          <p:txBody>
            <a:bodyPr wrap="none" anchor="ctr"/>
            <a:lstStyle/>
            <a:p>
              <a:endParaRPr lang="en-IN"/>
            </a:p>
          </p:txBody>
        </p:sp>
      </p:grpSp>
      <p:grpSp>
        <p:nvGrpSpPr>
          <p:cNvPr id="4" name="Group 62"/>
          <p:cNvGrpSpPr/>
          <p:nvPr/>
        </p:nvGrpSpPr>
        <p:grpSpPr bwMode="auto">
          <a:xfrm>
            <a:off x="2387600" y="3556000"/>
            <a:ext cx="685800" cy="152400"/>
            <a:chOff x="1440" y="1872"/>
            <a:chExt cx="432" cy="96"/>
          </a:xfrm>
        </p:grpSpPr>
        <p:sp>
          <p:nvSpPr>
            <p:cNvPr id="11270" name="Rectangle 63"/>
            <p:cNvSpPr>
              <a:spLocks noChangeArrowheads="1"/>
            </p:cNvSpPr>
            <p:nvPr/>
          </p:nvSpPr>
          <p:spPr bwMode="auto">
            <a:xfrm>
              <a:off x="1440" y="1872"/>
              <a:ext cx="432" cy="96"/>
            </a:xfrm>
            <a:prstGeom prst="rect">
              <a:avLst/>
            </a:prstGeom>
            <a:solidFill>
              <a:schemeClr val="bg1"/>
            </a:solidFill>
            <a:ln w="9525">
              <a:solidFill>
                <a:schemeClr val="tx1"/>
              </a:solidFill>
              <a:miter lim="800000"/>
            </a:ln>
          </p:spPr>
          <p:txBody>
            <a:bodyPr wrap="none" anchor="ctr"/>
            <a:lstStyle/>
            <a:p>
              <a:endParaRPr lang="en-US"/>
            </a:p>
          </p:txBody>
        </p:sp>
        <p:sp>
          <p:nvSpPr>
            <p:cNvPr id="11271" name="Line 64"/>
            <p:cNvSpPr>
              <a:spLocks noChangeShapeType="1"/>
            </p:cNvSpPr>
            <p:nvPr/>
          </p:nvSpPr>
          <p:spPr bwMode="auto">
            <a:xfrm>
              <a:off x="1488" y="1872"/>
              <a:ext cx="0" cy="96"/>
            </a:xfrm>
            <a:prstGeom prst="line">
              <a:avLst/>
            </a:prstGeom>
            <a:noFill/>
            <a:ln w="9525">
              <a:solidFill>
                <a:schemeClr val="tx1"/>
              </a:solidFill>
              <a:miter lim="800000"/>
            </a:ln>
          </p:spPr>
          <p:txBody>
            <a:bodyPr wrap="none" anchor="ctr"/>
            <a:lstStyle/>
            <a:p>
              <a:endParaRPr lang="en-IN"/>
            </a:p>
          </p:txBody>
        </p:sp>
        <p:sp>
          <p:nvSpPr>
            <p:cNvPr id="11272" name="Line 65"/>
            <p:cNvSpPr>
              <a:spLocks noChangeShapeType="1"/>
            </p:cNvSpPr>
            <p:nvPr/>
          </p:nvSpPr>
          <p:spPr bwMode="auto">
            <a:xfrm>
              <a:off x="1536" y="1872"/>
              <a:ext cx="0" cy="96"/>
            </a:xfrm>
            <a:prstGeom prst="line">
              <a:avLst/>
            </a:prstGeom>
            <a:noFill/>
            <a:ln w="9525">
              <a:solidFill>
                <a:schemeClr val="tx1"/>
              </a:solidFill>
              <a:miter lim="800000"/>
            </a:ln>
          </p:spPr>
          <p:txBody>
            <a:bodyPr wrap="none" anchor="ctr"/>
            <a:lstStyle/>
            <a:p>
              <a:endParaRPr lang="en-IN"/>
            </a:p>
          </p:txBody>
        </p:sp>
        <p:sp>
          <p:nvSpPr>
            <p:cNvPr id="11273" name="Line 66"/>
            <p:cNvSpPr>
              <a:spLocks noChangeShapeType="1"/>
            </p:cNvSpPr>
            <p:nvPr/>
          </p:nvSpPr>
          <p:spPr bwMode="auto">
            <a:xfrm>
              <a:off x="1584" y="1872"/>
              <a:ext cx="0" cy="96"/>
            </a:xfrm>
            <a:prstGeom prst="line">
              <a:avLst/>
            </a:prstGeom>
            <a:noFill/>
            <a:ln w="9525">
              <a:solidFill>
                <a:schemeClr val="tx1"/>
              </a:solidFill>
              <a:miter lim="800000"/>
            </a:ln>
          </p:spPr>
          <p:txBody>
            <a:bodyPr wrap="none" anchor="ctr"/>
            <a:lstStyle/>
            <a:p>
              <a:endParaRPr lang="en-IN"/>
            </a:p>
          </p:txBody>
        </p:sp>
        <p:sp>
          <p:nvSpPr>
            <p:cNvPr id="11274" name="Line 67"/>
            <p:cNvSpPr>
              <a:spLocks noChangeShapeType="1"/>
            </p:cNvSpPr>
            <p:nvPr/>
          </p:nvSpPr>
          <p:spPr bwMode="auto">
            <a:xfrm>
              <a:off x="1632" y="1872"/>
              <a:ext cx="0" cy="96"/>
            </a:xfrm>
            <a:prstGeom prst="line">
              <a:avLst/>
            </a:prstGeom>
            <a:noFill/>
            <a:ln w="9525">
              <a:solidFill>
                <a:schemeClr val="tx1"/>
              </a:solidFill>
              <a:miter lim="800000"/>
            </a:ln>
          </p:spPr>
          <p:txBody>
            <a:bodyPr wrap="none" anchor="ctr"/>
            <a:lstStyle/>
            <a:p>
              <a:endParaRPr lang="en-IN"/>
            </a:p>
          </p:txBody>
        </p:sp>
        <p:sp>
          <p:nvSpPr>
            <p:cNvPr id="11275" name="Line 68"/>
            <p:cNvSpPr>
              <a:spLocks noChangeShapeType="1"/>
            </p:cNvSpPr>
            <p:nvPr/>
          </p:nvSpPr>
          <p:spPr bwMode="auto">
            <a:xfrm>
              <a:off x="1680" y="1872"/>
              <a:ext cx="0" cy="96"/>
            </a:xfrm>
            <a:prstGeom prst="line">
              <a:avLst/>
            </a:prstGeom>
            <a:noFill/>
            <a:ln w="9525">
              <a:solidFill>
                <a:schemeClr val="tx1"/>
              </a:solidFill>
              <a:miter lim="800000"/>
            </a:ln>
          </p:spPr>
          <p:txBody>
            <a:bodyPr wrap="none" anchor="ctr"/>
            <a:lstStyle/>
            <a:p>
              <a:endParaRPr lang="en-IN"/>
            </a:p>
          </p:txBody>
        </p:sp>
        <p:sp>
          <p:nvSpPr>
            <p:cNvPr id="11276" name="Line 69"/>
            <p:cNvSpPr>
              <a:spLocks noChangeShapeType="1"/>
            </p:cNvSpPr>
            <p:nvPr/>
          </p:nvSpPr>
          <p:spPr bwMode="auto">
            <a:xfrm>
              <a:off x="1728" y="1872"/>
              <a:ext cx="0" cy="96"/>
            </a:xfrm>
            <a:prstGeom prst="line">
              <a:avLst/>
            </a:prstGeom>
            <a:noFill/>
            <a:ln w="9525">
              <a:solidFill>
                <a:schemeClr val="tx1"/>
              </a:solidFill>
              <a:miter lim="800000"/>
            </a:ln>
          </p:spPr>
          <p:txBody>
            <a:bodyPr wrap="none" anchor="ctr"/>
            <a:lstStyle/>
            <a:p>
              <a:endParaRPr lang="en-IN"/>
            </a:p>
          </p:txBody>
        </p:sp>
        <p:sp>
          <p:nvSpPr>
            <p:cNvPr id="11277" name="Line 70"/>
            <p:cNvSpPr>
              <a:spLocks noChangeShapeType="1"/>
            </p:cNvSpPr>
            <p:nvPr/>
          </p:nvSpPr>
          <p:spPr bwMode="auto">
            <a:xfrm>
              <a:off x="1776" y="1872"/>
              <a:ext cx="0" cy="96"/>
            </a:xfrm>
            <a:prstGeom prst="line">
              <a:avLst/>
            </a:prstGeom>
            <a:noFill/>
            <a:ln w="9525">
              <a:solidFill>
                <a:schemeClr val="tx1"/>
              </a:solidFill>
              <a:miter lim="800000"/>
            </a:ln>
          </p:spPr>
          <p:txBody>
            <a:bodyPr wrap="none" anchor="ctr"/>
            <a:lstStyle/>
            <a:p>
              <a:endParaRPr lang="en-IN"/>
            </a:p>
          </p:txBody>
        </p:sp>
        <p:sp>
          <p:nvSpPr>
            <p:cNvPr id="11278" name="Line 71"/>
            <p:cNvSpPr>
              <a:spLocks noChangeShapeType="1"/>
            </p:cNvSpPr>
            <p:nvPr/>
          </p:nvSpPr>
          <p:spPr bwMode="auto">
            <a:xfrm>
              <a:off x="1824" y="1872"/>
              <a:ext cx="0" cy="96"/>
            </a:xfrm>
            <a:prstGeom prst="line">
              <a:avLst/>
            </a:prstGeom>
            <a:noFill/>
            <a:ln w="9525">
              <a:solidFill>
                <a:schemeClr val="tx1"/>
              </a:solidFill>
              <a:miter lim="800000"/>
            </a:ln>
          </p:spPr>
          <p:txBody>
            <a:bodyPr wrap="none" anchor="ctr"/>
            <a:lstStyle/>
            <a:p>
              <a:endParaRPr lang="en-IN"/>
            </a:p>
          </p:txBody>
        </p:sp>
      </p:gr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r>
              <a:rPr lang="en-US" smtClean="0"/>
              <a:t>CPU</a:t>
            </a:r>
            <a:endParaRPr lang="en-US" smtClean="0"/>
          </a:p>
        </p:txBody>
      </p:sp>
      <p:grpSp>
        <p:nvGrpSpPr>
          <p:cNvPr id="2" name="Group 47"/>
          <p:cNvGrpSpPr/>
          <p:nvPr/>
        </p:nvGrpSpPr>
        <p:grpSpPr bwMode="auto">
          <a:xfrm>
            <a:off x="304800" y="2276475"/>
            <a:ext cx="7507288" cy="4276725"/>
            <a:chOff x="336" y="3168"/>
            <a:chExt cx="2741" cy="960"/>
          </a:xfrm>
        </p:grpSpPr>
        <p:sp>
          <p:nvSpPr>
            <p:cNvPr id="12292" name="Rectangle 12"/>
            <p:cNvSpPr>
              <a:spLocks noChangeArrowheads="1"/>
            </p:cNvSpPr>
            <p:nvPr/>
          </p:nvSpPr>
          <p:spPr bwMode="auto">
            <a:xfrm>
              <a:off x="1440" y="3168"/>
              <a:ext cx="960" cy="960"/>
            </a:xfrm>
            <a:prstGeom prst="rect">
              <a:avLst/>
            </a:prstGeom>
            <a:solidFill>
              <a:schemeClr val="accent2"/>
            </a:solidFill>
            <a:ln w="9525">
              <a:solidFill>
                <a:schemeClr val="tx1"/>
              </a:solidFill>
              <a:miter lim="800000"/>
            </a:ln>
          </p:spPr>
          <p:txBody>
            <a:bodyPr wrap="none" anchor="ctr"/>
            <a:lstStyle/>
            <a:p>
              <a:pPr algn="ctr"/>
              <a:r>
                <a:rPr lang="th-TH" sz="2800"/>
                <a:t>CPU</a:t>
              </a:r>
              <a:endParaRPr lang="th-TH" sz="2800"/>
            </a:p>
          </p:txBody>
        </p:sp>
        <p:sp>
          <p:nvSpPr>
            <p:cNvPr id="12293" name="AutoShape 17"/>
            <p:cNvSpPr>
              <a:spLocks noChangeArrowheads="1"/>
            </p:cNvSpPr>
            <p:nvPr/>
          </p:nvSpPr>
          <p:spPr bwMode="auto">
            <a:xfrm>
              <a:off x="336" y="3552"/>
              <a:ext cx="1095" cy="240"/>
            </a:xfrm>
            <a:prstGeom prst="homePlate">
              <a:avLst>
                <a:gd name="adj" fmla="val 114063"/>
              </a:avLst>
            </a:prstGeom>
            <a:solidFill>
              <a:schemeClr val="bg1"/>
            </a:solidFill>
            <a:ln w="9525">
              <a:solidFill>
                <a:schemeClr val="tx1"/>
              </a:solidFill>
              <a:miter lim="800000"/>
            </a:ln>
          </p:spPr>
          <p:txBody>
            <a:bodyPr wrap="none" anchor="ctr"/>
            <a:lstStyle/>
            <a:p>
              <a:pPr algn="ctr"/>
              <a:r>
                <a:rPr lang="th-TH" sz="2800"/>
                <a:t>Interrupt Signal</a:t>
              </a:r>
              <a:endParaRPr lang="th-TH" sz="2800"/>
            </a:p>
          </p:txBody>
        </p:sp>
        <p:sp>
          <p:nvSpPr>
            <p:cNvPr id="12294" name="AutoShape 18"/>
            <p:cNvSpPr>
              <a:spLocks noChangeArrowheads="1"/>
            </p:cNvSpPr>
            <p:nvPr/>
          </p:nvSpPr>
          <p:spPr bwMode="auto">
            <a:xfrm>
              <a:off x="336" y="3840"/>
              <a:ext cx="1095" cy="240"/>
            </a:xfrm>
            <a:prstGeom prst="homePlate">
              <a:avLst>
                <a:gd name="adj" fmla="val 114063"/>
              </a:avLst>
            </a:prstGeom>
            <a:solidFill>
              <a:schemeClr val="bg1"/>
            </a:solidFill>
            <a:ln w="9525">
              <a:solidFill>
                <a:schemeClr val="tx1"/>
              </a:solidFill>
              <a:miter lim="800000"/>
            </a:ln>
          </p:spPr>
          <p:txBody>
            <a:bodyPr wrap="none" anchor="ctr"/>
            <a:lstStyle/>
            <a:p>
              <a:pPr algn="ctr"/>
              <a:r>
                <a:rPr lang="th-TH" sz="2800"/>
                <a:t>Data</a:t>
              </a:r>
              <a:endParaRPr lang="th-TH" sz="2800"/>
            </a:p>
          </p:txBody>
        </p:sp>
        <p:sp>
          <p:nvSpPr>
            <p:cNvPr id="12295" name="AutoShape 19"/>
            <p:cNvSpPr>
              <a:spLocks noChangeArrowheads="1"/>
            </p:cNvSpPr>
            <p:nvPr/>
          </p:nvSpPr>
          <p:spPr bwMode="auto">
            <a:xfrm>
              <a:off x="2400" y="3360"/>
              <a:ext cx="677" cy="288"/>
            </a:xfrm>
            <a:prstGeom prst="homePlate">
              <a:avLst>
                <a:gd name="adj" fmla="val 58767"/>
              </a:avLst>
            </a:prstGeom>
            <a:solidFill>
              <a:schemeClr val="bg1"/>
            </a:solidFill>
            <a:ln w="9525">
              <a:solidFill>
                <a:schemeClr val="tx1"/>
              </a:solidFill>
              <a:miter lim="800000"/>
            </a:ln>
          </p:spPr>
          <p:txBody>
            <a:bodyPr wrap="none" anchor="ctr"/>
            <a:lstStyle/>
            <a:p>
              <a:pPr algn="ctr"/>
              <a:r>
                <a:rPr lang="th-TH" sz="2800"/>
                <a:t>Data</a:t>
              </a:r>
              <a:endParaRPr lang="th-TH" sz="2800"/>
            </a:p>
          </p:txBody>
        </p:sp>
        <p:sp>
          <p:nvSpPr>
            <p:cNvPr id="12296" name="AutoShape 20"/>
            <p:cNvSpPr>
              <a:spLocks noChangeArrowheads="1"/>
            </p:cNvSpPr>
            <p:nvPr/>
          </p:nvSpPr>
          <p:spPr bwMode="auto">
            <a:xfrm>
              <a:off x="336" y="3264"/>
              <a:ext cx="1095" cy="240"/>
            </a:xfrm>
            <a:prstGeom prst="homePlate">
              <a:avLst>
                <a:gd name="adj" fmla="val 114063"/>
              </a:avLst>
            </a:prstGeom>
            <a:solidFill>
              <a:schemeClr val="bg1"/>
            </a:solidFill>
            <a:ln w="9525">
              <a:solidFill>
                <a:schemeClr val="tx1"/>
              </a:solidFill>
              <a:miter lim="800000"/>
            </a:ln>
          </p:spPr>
          <p:txBody>
            <a:bodyPr wrap="none" anchor="ctr"/>
            <a:lstStyle/>
            <a:p>
              <a:pPr algn="ctr"/>
              <a:r>
                <a:rPr lang="th-TH" sz="2800"/>
                <a:t>Instructions</a:t>
              </a:r>
              <a:endParaRPr lang="th-TH" sz="2800"/>
            </a:p>
          </p:txBody>
        </p:sp>
        <p:sp>
          <p:nvSpPr>
            <p:cNvPr id="12297" name="AutoShape 21"/>
            <p:cNvSpPr>
              <a:spLocks noChangeArrowheads="1"/>
            </p:cNvSpPr>
            <p:nvPr/>
          </p:nvSpPr>
          <p:spPr bwMode="auto">
            <a:xfrm>
              <a:off x="2400" y="3696"/>
              <a:ext cx="672" cy="336"/>
            </a:xfrm>
            <a:prstGeom prst="homePlate">
              <a:avLst>
                <a:gd name="adj" fmla="val 50000"/>
              </a:avLst>
            </a:prstGeom>
            <a:solidFill>
              <a:schemeClr val="bg1"/>
            </a:solidFill>
            <a:ln w="9525">
              <a:solidFill>
                <a:schemeClr val="tx1"/>
              </a:solidFill>
              <a:miter lim="800000"/>
            </a:ln>
          </p:spPr>
          <p:txBody>
            <a:bodyPr wrap="none" anchor="ctr"/>
            <a:lstStyle/>
            <a:p>
              <a:pPr algn="ctr">
                <a:lnSpc>
                  <a:spcPct val="50000"/>
                </a:lnSpc>
              </a:pPr>
              <a:r>
                <a:rPr lang="th-TH" sz="2800"/>
                <a:t>Control</a:t>
              </a:r>
              <a:endParaRPr lang="th-TH" sz="2800"/>
            </a:p>
            <a:p>
              <a:pPr algn="ctr">
                <a:lnSpc>
                  <a:spcPct val="50000"/>
                </a:lnSpc>
              </a:pPr>
              <a:r>
                <a:rPr lang="th-TH" sz="2800"/>
                <a:t> </a:t>
              </a:r>
              <a:endParaRPr lang="en-US" sz="2800"/>
            </a:p>
            <a:p>
              <a:pPr algn="ctr">
                <a:lnSpc>
                  <a:spcPct val="50000"/>
                </a:lnSpc>
              </a:pPr>
              <a:r>
                <a:rPr lang="th-TH" sz="2800"/>
                <a:t>Signal</a:t>
              </a:r>
              <a:endParaRPr lang="th-TH" sz="2800"/>
            </a:p>
          </p:txBody>
        </p:sp>
      </p:gr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smtClean="0"/>
              <a:t>I/O module</a:t>
            </a:r>
            <a:endParaRPr lang="en-US" smtClean="0"/>
          </a:p>
        </p:txBody>
      </p:sp>
      <p:grpSp>
        <p:nvGrpSpPr>
          <p:cNvPr id="2" name="Group 51"/>
          <p:cNvGrpSpPr/>
          <p:nvPr/>
        </p:nvGrpSpPr>
        <p:grpSpPr bwMode="auto">
          <a:xfrm>
            <a:off x="827088" y="2178050"/>
            <a:ext cx="7731125" cy="4241800"/>
            <a:chOff x="3031" y="1500"/>
            <a:chExt cx="2697" cy="1981"/>
          </a:xfrm>
        </p:grpSpPr>
        <p:sp>
          <p:nvSpPr>
            <p:cNvPr id="13316" name="Rectangle 28"/>
            <p:cNvSpPr>
              <a:spLocks noChangeArrowheads="1"/>
            </p:cNvSpPr>
            <p:nvPr/>
          </p:nvSpPr>
          <p:spPr bwMode="auto">
            <a:xfrm>
              <a:off x="3905" y="1607"/>
              <a:ext cx="960" cy="1874"/>
            </a:xfrm>
            <a:prstGeom prst="rect">
              <a:avLst/>
            </a:prstGeom>
            <a:solidFill>
              <a:schemeClr val="accent2"/>
            </a:solidFill>
            <a:ln w="9525">
              <a:solidFill>
                <a:schemeClr val="tx1"/>
              </a:solidFill>
              <a:miter lim="800000"/>
            </a:ln>
          </p:spPr>
          <p:txBody>
            <a:bodyPr wrap="none" anchor="ctr"/>
            <a:lstStyle/>
            <a:p>
              <a:pPr algn="ctr"/>
              <a:r>
                <a:rPr lang="th-TH" sz="2800"/>
                <a:t>I/O Module</a:t>
              </a:r>
              <a:endParaRPr lang="th-TH" sz="2800"/>
            </a:p>
            <a:p>
              <a:pPr algn="ctr"/>
              <a:r>
                <a:rPr lang="th-TH" sz="2400"/>
                <a:t>M Ports</a:t>
              </a:r>
              <a:endParaRPr lang="th-TH" sz="2800"/>
            </a:p>
          </p:txBody>
        </p:sp>
        <p:sp>
          <p:nvSpPr>
            <p:cNvPr id="13317" name="Line 34"/>
            <p:cNvSpPr>
              <a:spLocks noChangeShapeType="1"/>
            </p:cNvSpPr>
            <p:nvPr/>
          </p:nvSpPr>
          <p:spPr bwMode="auto">
            <a:xfrm>
              <a:off x="3031" y="1721"/>
              <a:ext cx="864" cy="0"/>
            </a:xfrm>
            <a:prstGeom prst="line">
              <a:avLst/>
            </a:prstGeom>
            <a:noFill/>
            <a:ln w="12700">
              <a:solidFill>
                <a:schemeClr val="tx1"/>
              </a:solidFill>
              <a:miter lim="800000"/>
              <a:tailEnd type="triangle" w="med" len="med"/>
            </a:ln>
          </p:spPr>
          <p:txBody>
            <a:bodyPr wrap="none" anchor="ctr"/>
            <a:lstStyle/>
            <a:p>
              <a:endParaRPr lang="en-IN"/>
            </a:p>
          </p:txBody>
        </p:sp>
        <p:sp>
          <p:nvSpPr>
            <p:cNvPr id="13318" name="Text Box 35"/>
            <p:cNvSpPr txBox="1">
              <a:spLocks noChangeArrowheads="1"/>
            </p:cNvSpPr>
            <p:nvPr/>
          </p:nvSpPr>
          <p:spPr bwMode="auto">
            <a:xfrm>
              <a:off x="3197" y="1500"/>
              <a:ext cx="421" cy="327"/>
            </a:xfrm>
            <a:prstGeom prst="rect">
              <a:avLst/>
            </a:prstGeom>
            <a:noFill/>
            <a:ln w="9525">
              <a:noFill/>
              <a:miter lim="800000"/>
            </a:ln>
          </p:spPr>
          <p:txBody>
            <a:bodyPr wrap="none">
              <a:spAutoFit/>
            </a:bodyPr>
            <a:lstStyle/>
            <a:p>
              <a:r>
                <a:rPr lang="th-TH" sz="2800"/>
                <a:t>Read</a:t>
              </a:r>
              <a:endParaRPr lang="th-TH" sz="2800"/>
            </a:p>
          </p:txBody>
        </p:sp>
        <p:sp>
          <p:nvSpPr>
            <p:cNvPr id="13319" name="Line 36"/>
            <p:cNvSpPr>
              <a:spLocks noChangeShapeType="1"/>
            </p:cNvSpPr>
            <p:nvPr/>
          </p:nvSpPr>
          <p:spPr bwMode="auto">
            <a:xfrm>
              <a:off x="3031" y="1916"/>
              <a:ext cx="864" cy="0"/>
            </a:xfrm>
            <a:prstGeom prst="line">
              <a:avLst/>
            </a:prstGeom>
            <a:noFill/>
            <a:ln w="12700">
              <a:solidFill>
                <a:schemeClr val="tx1"/>
              </a:solidFill>
              <a:miter lim="800000"/>
              <a:tailEnd type="triangle" w="med" len="med"/>
            </a:ln>
          </p:spPr>
          <p:txBody>
            <a:bodyPr wrap="none" anchor="ctr"/>
            <a:lstStyle/>
            <a:p>
              <a:endParaRPr lang="en-IN"/>
            </a:p>
          </p:txBody>
        </p:sp>
        <p:sp>
          <p:nvSpPr>
            <p:cNvPr id="13320" name="Text Box 37"/>
            <p:cNvSpPr txBox="1">
              <a:spLocks noChangeArrowheads="1"/>
            </p:cNvSpPr>
            <p:nvPr/>
          </p:nvSpPr>
          <p:spPr bwMode="auto">
            <a:xfrm>
              <a:off x="3181" y="1719"/>
              <a:ext cx="453" cy="327"/>
            </a:xfrm>
            <a:prstGeom prst="rect">
              <a:avLst/>
            </a:prstGeom>
            <a:noFill/>
            <a:ln w="9525">
              <a:noFill/>
              <a:miter lim="800000"/>
            </a:ln>
          </p:spPr>
          <p:txBody>
            <a:bodyPr wrap="none">
              <a:spAutoFit/>
            </a:bodyPr>
            <a:lstStyle/>
            <a:p>
              <a:r>
                <a:rPr lang="th-TH" sz="2800"/>
                <a:t>Write</a:t>
              </a:r>
              <a:endParaRPr lang="th-TH" sz="2800"/>
            </a:p>
          </p:txBody>
        </p:sp>
        <p:sp>
          <p:nvSpPr>
            <p:cNvPr id="13321" name="AutoShape 38"/>
            <p:cNvSpPr>
              <a:spLocks noChangeArrowheads="1"/>
            </p:cNvSpPr>
            <p:nvPr/>
          </p:nvSpPr>
          <p:spPr bwMode="auto">
            <a:xfrm>
              <a:off x="3031" y="2007"/>
              <a:ext cx="864" cy="297"/>
            </a:xfrm>
            <a:prstGeom prst="homePlate">
              <a:avLst>
                <a:gd name="adj" fmla="val 75003"/>
              </a:avLst>
            </a:prstGeom>
            <a:solidFill>
              <a:schemeClr val="bg1"/>
            </a:solidFill>
            <a:ln w="9525">
              <a:solidFill>
                <a:schemeClr val="tx1"/>
              </a:solidFill>
              <a:miter lim="800000"/>
            </a:ln>
          </p:spPr>
          <p:txBody>
            <a:bodyPr wrap="none" anchor="ctr"/>
            <a:lstStyle/>
            <a:p>
              <a:pPr algn="ctr"/>
              <a:r>
                <a:rPr lang="th-TH" sz="2800"/>
                <a:t>Address</a:t>
              </a:r>
              <a:endParaRPr lang="th-TH" sz="2800"/>
            </a:p>
          </p:txBody>
        </p:sp>
        <p:sp>
          <p:nvSpPr>
            <p:cNvPr id="13322" name="AutoShape 39"/>
            <p:cNvSpPr>
              <a:spLocks noChangeArrowheads="1"/>
            </p:cNvSpPr>
            <p:nvPr/>
          </p:nvSpPr>
          <p:spPr bwMode="auto">
            <a:xfrm>
              <a:off x="3062" y="2400"/>
              <a:ext cx="855" cy="288"/>
            </a:xfrm>
            <a:prstGeom prst="homePlate">
              <a:avLst>
                <a:gd name="adj" fmla="val 74219"/>
              </a:avLst>
            </a:prstGeom>
            <a:solidFill>
              <a:schemeClr val="bg1"/>
            </a:solidFill>
            <a:ln w="9525">
              <a:solidFill>
                <a:schemeClr val="tx1"/>
              </a:solidFill>
              <a:miter lim="800000"/>
            </a:ln>
          </p:spPr>
          <p:txBody>
            <a:bodyPr wrap="none" anchor="ctr"/>
            <a:lstStyle/>
            <a:p>
              <a:pPr algn="ctr">
                <a:lnSpc>
                  <a:spcPct val="60000"/>
                </a:lnSpc>
              </a:pPr>
              <a:r>
                <a:rPr lang="th-TH" sz="2800"/>
                <a:t>Internal </a:t>
              </a:r>
              <a:br>
                <a:rPr lang="th-TH" sz="2800"/>
              </a:br>
              <a:r>
                <a:rPr lang="th-TH" sz="2800"/>
                <a:t>Data</a:t>
              </a:r>
              <a:endParaRPr lang="th-TH" sz="2800"/>
            </a:p>
          </p:txBody>
        </p:sp>
        <p:sp>
          <p:nvSpPr>
            <p:cNvPr id="13323" name="AutoShape 40"/>
            <p:cNvSpPr>
              <a:spLocks noChangeArrowheads="1"/>
            </p:cNvSpPr>
            <p:nvPr/>
          </p:nvSpPr>
          <p:spPr bwMode="auto">
            <a:xfrm>
              <a:off x="3040" y="2886"/>
              <a:ext cx="855" cy="288"/>
            </a:xfrm>
            <a:prstGeom prst="homePlate">
              <a:avLst>
                <a:gd name="adj" fmla="val 74219"/>
              </a:avLst>
            </a:prstGeom>
            <a:solidFill>
              <a:schemeClr val="bg1"/>
            </a:solidFill>
            <a:ln w="9525">
              <a:solidFill>
                <a:schemeClr val="tx1"/>
              </a:solidFill>
              <a:miter lim="800000"/>
            </a:ln>
          </p:spPr>
          <p:txBody>
            <a:bodyPr wrap="none" anchor="ctr"/>
            <a:lstStyle/>
            <a:p>
              <a:pPr algn="ctr">
                <a:lnSpc>
                  <a:spcPct val="60000"/>
                </a:lnSpc>
              </a:pPr>
              <a:r>
                <a:rPr lang="th-TH" sz="2800"/>
                <a:t>External </a:t>
              </a:r>
              <a:br>
                <a:rPr lang="th-TH" sz="2800"/>
              </a:br>
              <a:r>
                <a:rPr lang="th-TH" sz="2800"/>
                <a:t>Data</a:t>
              </a:r>
              <a:endParaRPr lang="th-TH" sz="2800"/>
            </a:p>
          </p:txBody>
        </p:sp>
        <p:sp>
          <p:nvSpPr>
            <p:cNvPr id="13324" name="AutoShape 41"/>
            <p:cNvSpPr>
              <a:spLocks noChangeArrowheads="1"/>
            </p:cNvSpPr>
            <p:nvPr/>
          </p:nvSpPr>
          <p:spPr bwMode="auto">
            <a:xfrm>
              <a:off x="4873" y="1719"/>
              <a:ext cx="855" cy="288"/>
            </a:xfrm>
            <a:prstGeom prst="homePlate">
              <a:avLst>
                <a:gd name="adj" fmla="val 74219"/>
              </a:avLst>
            </a:prstGeom>
            <a:solidFill>
              <a:schemeClr val="bg1"/>
            </a:solidFill>
            <a:ln w="9525">
              <a:solidFill>
                <a:schemeClr val="tx1"/>
              </a:solidFill>
              <a:miter lim="800000"/>
            </a:ln>
          </p:spPr>
          <p:txBody>
            <a:bodyPr wrap="none" anchor="ctr"/>
            <a:lstStyle/>
            <a:p>
              <a:pPr algn="ctr">
                <a:lnSpc>
                  <a:spcPct val="60000"/>
                </a:lnSpc>
              </a:pPr>
              <a:r>
                <a:rPr lang="th-TH" sz="2800"/>
                <a:t>Internal </a:t>
              </a:r>
              <a:br>
                <a:rPr lang="th-TH" sz="2800"/>
              </a:br>
              <a:r>
                <a:rPr lang="th-TH" sz="2800"/>
                <a:t>Data</a:t>
              </a:r>
              <a:endParaRPr lang="th-TH" sz="2800"/>
            </a:p>
          </p:txBody>
        </p:sp>
        <p:sp>
          <p:nvSpPr>
            <p:cNvPr id="13325" name="AutoShape 42"/>
            <p:cNvSpPr>
              <a:spLocks noChangeArrowheads="1"/>
            </p:cNvSpPr>
            <p:nvPr/>
          </p:nvSpPr>
          <p:spPr bwMode="auto">
            <a:xfrm>
              <a:off x="4854" y="2304"/>
              <a:ext cx="855" cy="288"/>
            </a:xfrm>
            <a:prstGeom prst="homePlate">
              <a:avLst>
                <a:gd name="adj" fmla="val 74219"/>
              </a:avLst>
            </a:prstGeom>
            <a:solidFill>
              <a:schemeClr val="bg1"/>
            </a:solidFill>
            <a:ln w="9525">
              <a:solidFill>
                <a:schemeClr val="tx1"/>
              </a:solidFill>
              <a:miter lim="800000"/>
            </a:ln>
          </p:spPr>
          <p:txBody>
            <a:bodyPr wrap="none" anchor="ctr"/>
            <a:lstStyle/>
            <a:p>
              <a:pPr algn="ctr">
                <a:lnSpc>
                  <a:spcPct val="60000"/>
                </a:lnSpc>
              </a:pPr>
              <a:r>
                <a:rPr lang="th-TH" sz="2800"/>
                <a:t>External </a:t>
              </a:r>
              <a:br>
                <a:rPr lang="th-TH" sz="2800"/>
              </a:br>
              <a:r>
                <a:rPr lang="th-TH" sz="2800"/>
                <a:t>Data</a:t>
              </a:r>
              <a:endParaRPr lang="th-TH" sz="2800"/>
            </a:p>
          </p:txBody>
        </p:sp>
        <p:sp>
          <p:nvSpPr>
            <p:cNvPr id="13326" name="AutoShape 43"/>
            <p:cNvSpPr>
              <a:spLocks noChangeArrowheads="1"/>
            </p:cNvSpPr>
            <p:nvPr/>
          </p:nvSpPr>
          <p:spPr bwMode="auto">
            <a:xfrm>
              <a:off x="4865" y="2992"/>
              <a:ext cx="855" cy="288"/>
            </a:xfrm>
            <a:prstGeom prst="homePlate">
              <a:avLst>
                <a:gd name="adj" fmla="val 74219"/>
              </a:avLst>
            </a:prstGeom>
            <a:solidFill>
              <a:schemeClr val="bg1"/>
            </a:solidFill>
            <a:ln w="9525">
              <a:solidFill>
                <a:schemeClr val="tx1"/>
              </a:solidFill>
              <a:miter lim="800000"/>
            </a:ln>
          </p:spPr>
          <p:txBody>
            <a:bodyPr wrap="none" anchor="ctr"/>
            <a:lstStyle/>
            <a:p>
              <a:pPr algn="ctr">
                <a:lnSpc>
                  <a:spcPct val="60000"/>
                </a:lnSpc>
              </a:pPr>
              <a:r>
                <a:rPr lang="th-TH" sz="2800"/>
                <a:t>Interrupt </a:t>
              </a:r>
              <a:br>
                <a:rPr lang="th-TH" sz="2800"/>
              </a:br>
              <a:r>
                <a:rPr lang="th-TH" sz="2800"/>
                <a:t>Signal</a:t>
              </a:r>
              <a:endParaRPr lang="th-TH" sz="2800"/>
            </a:p>
          </p:txBody>
        </p:sp>
      </p:gr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th-TH" sz="3600" smtClean="0">
                <a:solidFill>
                  <a:schemeClr val="hlink"/>
                </a:solidFill>
                <a:latin typeface="Poor Richard" panose="02080502050505020702" pitchFamily="18" charset="0"/>
              </a:rPr>
              <a:t>Type of transfers</a:t>
            </a:r>
            <a:endParaRPr lang="th-TH" sz="3600" smtClean="0">
              <a:solidFill>
                <a:schemeClr val="hlink"/>
              </a:solidFill>
              <a:latin typeface="Poor Richard" panose="02080502050505020702" pitchFamily="18" charset="0"/>
            </a:endParaRPr>
          </a:p>
        </p:txBody>
      </p:sp>
      <p:sp>
        <p:nvSpPr>
          <p:cNvPr id="14339" name="Rectangle 3"/>
          <p:cNvSpPr>
            <a:spLocks noGrp="1" noChangeArrowheads="1"/>
          </p:cNvSpPr>
          <p:nvPr>
            <p:ph type="body" idx="1"/>
          </p:nvPr>
        </p:nvSpPr>
        <p:spPr/>
        <p:txBody>
          <a:bodyPr/>
          <a:lstStyle/>
          <a:p>
            <a:pPr eaLnBrk="1" hangingPunct="1">
              <a:lnSpc>
                <a:spcPct val="120000"/>
              </a:lnSpc>
            </a:pPr>
            <a:r>
              <a:rPr lang="th-TH" smtClean="0">
                <a:latin typeface="Poor Richard" panose="02080502050505020702" pitchFamily="18" charset="0"/>
              </a:rPr>
              <a:t>Memory to CPU</a:t>
            </a:r>
            <a:endParaRPr lang="th-TH" smtClean="0">
              <a:latin typeface="Poor Richard" panose="02080502050505020702" pitchFamily="18" charset="0"/>
            </a:endParaRPr>
          </a:p>
          <a:p>
            <a:pPr eaLnBrk="1" hangingPunct="1">
              <a:lnSpc>
                <a:spcPct val="120000"/>
              </a:lnSpc>
            </a:pPr>
            <a:r>
              <a:rPr lang="th-TH" smtClean="0">
                <a:latin typeface="Poor Richard" panose="02080502050505020702" pitchFamily="18" charset="0"/>
              </a:rPr>
              <a:t>CPU to Memory</a:t>
            </a:r>
            <a:endParaRPr lang="th-TH" smtClean="0">
              <a:latin typeface="Poor Richard" panose="02080502050505020702" pitchFamily="18" charset="0"/>
            </a:endParaRPr>
          </a:p>
          <a:p>
            <a:pPr eaLnBrk="1" hangingPunct="1">
              <a:lnSpc>
                <a:spcPct val="120000"/>
              </a:lnSpc>
            </a:pPr>
            <a:r>
              <a:rPr lang="th-TH" smtClean="0">
                <a:latin typeface="Poor Richard" panose="02080502050505020702" pitchFamily="18" charset="0"/>
              </a:rPr>
              <a:t>I/O to CPU</a:t>
            </a:r>
            <a:endParaRPr lang="th-TH" smtClean="0">
              <a:latin typeface="Poor Richard" panose="02080502050505020702" pitchFamily="18" charset="0"/>
            </a:endParaRPr>
          </a:p>
          <a:p>
            <a:pPr eaLnBrk="1" hangingPunct="1">
              <a:lnSpc>
                <a:spcPct val="120000"/>
              </a:lnSpc>
            </a:pPr>
            <a:r>
              <a:rPr lang="th-TH" smtClean="0">
                <a:latin typeface="Poor Richard" panose="02080502050505020702" pitchFamily="18" charset="0"/>
              </a:rPr>
              <a:t>CPU to I/O </a:t>
            </a:r>
            <a:endParaRPr lang="th-TH" smtClean="0">
              <a:latin typeface="Poor Richard" panose="02080502050505020702" pitchFamily="18" charset="0"/>
            </a:endParaRPr>
          </a:p>
          <a:p>
            <a:pPr eaLnBrk="1" hangingPunct="1">
              <a:lnSpc>
                <a:spcPct val="120000"/>
              </a:lnSpc>
            </a:pPr>
            <a:r>
              <a:rPr lang="th-TH" smtClean="0">
                <a:latin typeface="Poor Richard" panose="02080502050505020702" pitchFamily="18" charset="0"/>
              </a:rPr>
              <a:t>I/O to or from Memory (DMA)</a:t>
            </a:r>
            <a:endParaRPr lang="th-TH" smtClean="0">
              <a:latin typeface="Poor Richard" panose="02080502050505020702" pitchFamily="18" charset="0"/>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algn="just" eaLnBrk="1" hangingPunct="1"/>
            <a:r>
              <a:rPr lang="th-TH" smtClean="0">
                <a:latin typeface="Poor Richard" panose="02080502050505020702" pitchFamily="18" charset="0"/>
                <a:cs typeface="Tahoma" panose="020B0604030504040204" pitchFamily="34" charset="0"/>
              </a:rPr>
              <a:t>Bus Interconnection</a:t>
            </a:r>
            <a:endParaRPr lang="th-TH" smtClean="0">
              <a:latin typeface="Poor Richard" panose="02080502050505020702" pitchFamily="18" charset="0"/>
              <a:cs typeface="Tahoma" panose="020B0604030504040204" pitchFamily="34" charset="0"/>
            </a:endParaRPr>
          </a:p>
        </p:txBody>
      </p:sp>
      <p:sp>
        <p:nvSpPr>
          <p:cNvPr id="15363" name="Rectangle 3"/>
          <p:cNvSpPr>
            <a:spLocks noGrp="1" noChangeArrowheads="1"/>
          </p:cNvSpPr>
          <p:nvPr>
            <p:ph type="body" idx="1"/>
          </p:nvPr>
        </p:nvSpPr>
        <p:spPr>
          <a:xfrm>
            <a:off x="900113" y="1989138"/>
            <a:ext cx="7772400" cy="4114800"/>
          </a:xfrm>
        </p:spPr>
        <p:txBody>
          <a:bodyPr/>
          <a:lstStyle/>
          <a:p>
            <a:pPr algn="just" eaLnBrk="1" hangingPunct="1">
              <a:lnSpc>
                <a:spcPct val="120000"/>
              </a:lnSpc>
            </a:pPr>
            <a:r>
              <a:rPr lang="th-TH" sz="2800" smtClean="0">
                <a:latin typeface="Poor Richard" panose="02080502050505020702" pitchFamily="18" charset="0"/>
                <a:cs typeface="Tahoma" panose="020B0604030504040204" pitchFamily="34" charset="0"/>
              </a:rPr>
              <a:t>A bus is a communication pathway connecting two or more device.</a:t>
            </a:r>
            <a:endParaRPr lang="th-TH" sz="2800" smtClean="0">
              <a:latin typeface="Poor Richard" panose="02080502050505020702" pitchFamily="18" charset="0"/>
              <a:cs typeface="Tahoma" panose="020B0604030504040204" pitchFamily="34" charset="0"/>
            </a:endParaRPr>
          </a:p>
          <a:p>
            <a:pPr algn="just" eaLnBrk="1" hangingPunct="1">
              <a:lnSpc>
                <a:spcPct val="120000"/>
              </a:lnSpc>
            </a:pPr>
            <a:r>
              <a:rPr lang="th-TH" sz="2800" smtClean="0">
                <a:latin typeface="Poor Richard" panose="02080502050505020702" pitchFamily="18" charset="0"/>
                <a:cs typeface="Tahoma" panose="020B0604030504040204" pitchFamily="34" charset="0"/>
              </a:rPr>
              <a:t>A key characteristic of a bus is that it is a shared transmission medium.</a:t>
            </a:r>
            <a:endParaRPr lang="th-TH" sz="2800" smtClean="0">
              <a:latin typeface="Poor Richard" panose="02080502050505020702" pitchFamily="18" charset="0"/>
              <a:cs typeface="Tahoma" panose="020B0604030504040204" pitchFamily="34" charset="0"/>
            </a:endParaRPr>
          </a:p>
          <a:p>
            <a:pPr algn="just" eaLnBrk="1" hangingPunct="1">
              <a:lnSpc>
                <a:spcPct val="120000"/>
              </a:lnSpc>
            </a:pPr>
            <a:r>
              <a:rPr lang="th-TH" sz="2800" smtClean="0">
                <a:latin typeface="Poor Richard" panose="02080502050505020702" pitchFamily="18" charset="0"/>
                <a:cs typeface="Tahoma" panose="020B0604030504040204" pitchFamily="34" charset="0"/>
              </a:rPr>
              <a:t>A bus consists of multiple pathways or lines.</a:t>
            </a:r>
            <a:endParaRPr lang="th-TH" sz="2800" smtClean="0">
              <a:latin typeface="Poor Richard" panose="02080502050505020702" pitchFamily="18" charset="0"/>
              <a:cs typeface="Tahoma" panose="020B0604030504040204" pitchFamily="34" charset="0"/>
            </a:endParaRPr>
          </a:p>
          <a:p>
            <a:pPr algn="just" eaLnBrk="1" hangingPunct="1">
              <a:lnSpc>
                <a:spcPct val="120000"/>
              </a:lnSpc>
            </a:pPr>
            <a:r>
              <a:rPr lang="th-TH" sz="2800" smtClean="0">
                <a:latin typeface="Poor Richard" panose="02080502050505020702" pitchFamily="18" charset="0"/>
                <a:cs typeface="Tahoma" panose="020B0604030504040204" pitchFamily="34" charset="0"/>
              </a:rPr>
              <a:t>Each line is capable of transmitting signal representing binary digit (1 or 0)</a:t>
            </a:r>
            <a:endParaRPr lang="th-TH" sz="2800" smtClean="0">
              <a:latin typeface="Poor Richard" panose="02080502050505020702" pitchFamily="18" charset="0"/>
              <a:cs typeface="Tahoma" panose="020B0604030504040204" pitchFamily="34" charset="0"/>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th-TH" smtClean="0">
                <a:latin typeface="Poor Richard" panose="02080502050505020702" pitchFamily="18" charset="0"/>
                <a:cs typeface="Tahoma" panose="020B0604030504040204" pitchFamily="34" charset="0"/>
              </a:rPr>
              <a:t>Bus Interconnection</a:t>
            </a:r>
            <a:endParaRPr lang="th-TH" smtClean="0">
              <a:latin typeface="Poor Richard" panose="02080502050505020702" pitchFamily="18" charset="0"/>
              <a:cs typeface="Tahoma" panose="020B0604030504040204" pitchFamily="34" charset="0"/>
            </a:endParaRPr>
          </a:p>
        </p:txBody>
      </p:sp>
      <p:sp>
        <p:nvSpPr>
          <p:cNvPr id="16387" name="Rectangle 3"/>
          <p:cNvSpPr>
            <a:spLocks noGrp="1" noChangeArrowheads="1"/>
          </p:cNvSpPr>
          <p:nvPr>
            <p:ph type="body" idx="1"/>
          </p:nvPr>
        </p:nvSpPr>
        <p:spPr>
          <a:xfrm>
            <a:off x="755650" y="1916113"/>
            <a:ext cx="7772400" cy="4114800"/>
          </a:xfrm>
        </p:spPr>
        <p:txBody>
          <a:bodyPr/>
          <a:lstStyle/>
          <a:p>
            <a:pPr algn="just" eaLnBrk="1" hangingPunct="1"/>
            <a:r>
              <a:rPr lang="th-TH" sz="2800" smtClean="0">
                <a:latin typeface="Poor Richard" panose="02080502050505020702" pitchFamily="18" charset="0"/>
                <a:cs typeface="Tahoma" panose="020B0604030504040204" pitchFamily="34" charset="0"/>
              </a:rPr>
              <a:t>A sequence of bits can be transmit across a single line.</a:t>
            </a:r>
            <a:endParaRPr lang="th-TH" sz="2800" smtClean="0">
              <a:latin typeface="Poor Richard" panose="02080502050505020702" pitchFamily="18" charset="0"/>
              <a:cs typeface="Tahoma" panose="020B0604030504040204" pitchFamily="34" charset="0"/>
            </a:endParaRPr>
          </a:p>
          <a:p>
            <a:pPr algn="just" eaLnBrk="1" hangingPunct="1"/>
            <a:r>
              <a:rPr lang="th-TH" sz="2800" smtClean="0">
                <a:latin typeface="Poor Richard" panose="02080502050505020702" pitchFamily="18" charset="0"/>
                <a:cs typeface="Tahoma" panose="020B0604030504040204" pitchFamily="34" charset="0"/>
              </a:rPr>
              <a:t>Several lines can be used to transmit bits simultaneously (in parallel).</a:t>
            </a:r>
            <a:endParaRPr lang="th-TH" sz="2800" smtClean="0">
              <a:latin typeface="Poor Richard" panose="02080502050505020702" pitchFamily="18" charset="0"/>
              <a:cs typeface="Tahoma" panose="020B0604030504040204" pitchFamily="34" charset="0"/>
            </a:endParaRPr>
          </a:p>
          <a:p>
            <a:pPr algn="just" eaLnBrk="1" hangingPunct="1"/>
            <a:r>
              <a:rPr lang="th-TH" sz="2800" smtClean="0">
                <a:latin typeface="Poor Richard" panose="02080502050505020702" pitchFamily="18" charset="0"/>
                <a:cs typeface="Tahoma" panose="020B0604030504040204" pitchFamily="34" charset="0"/>
              </a:rPr>
              <a:t>A bus that connects major components (CPU,Memory,I/O) is called </a:t>
            </a:r>
            <a:r>
              <a:rPr lang="th-TH" sz="2800" i="1" smtClean="0">
                <a:solidFill>
                  <a:schemeClr val="hlink"/>
                </a:solidFill>
                <a:latin typeface="Poor Richard" panose="02080502050505020702" pitchFamily="18" charset="0"/>
                <a:cs typeface="Tahoma" panose="020B0604030504040204" pitchFamily="34" charset="0"/>
              </a:rPr>
              <a:t>System Bus</a:t>
            </a:r>
            <a:r>
              <a:rPr lang="th-TH" sz="2800" i="1" smtClean="0">
                <a:latin typeface="Poor Richard" panose="02080502050505020702" pitchFamily="18" charset="0"/>
                <a:cs typeface="Tahoma" panose="020B0604030504040204" pitchFamily="34" charset="0"/>
              </a:rPr>
              <a:t>.</a:t>
            </a:r>
            <a:endParaRPr lang="th-TH" sz="2800" i="1" smtClean="0">
              <a:latin typeface="Poor Richard" panose="02080502050505020702" pitchFamily="18" charset="0"/>
              <a:cs typeface="Tahoma" panose="020B0604030504040204" pitchFamily="34" charset="0"/>
            </a:endParaRPr>
          </a:p>
          <a:p>
            <a:pPr algn="just" eaLnBrk="1" hangingPunct="1"/>
            <a:r>
              <a:rPr lang="th-TH" sz="2800" smtClean="0">
                <a:latin typeface="Poor Richard" panose="02080502050505020702" pitchFamily="18" charset="0"/>
                <a:cs typeface="Tahoma" panose="020B0604030504040204" pitchFamily="34" charset="0"/>
              </a:rPr>
              <a:t>The most common computer interconnection structures are based on the use of one or more system buses.</a:t>
            </a:r>
            <a:endParaRPr lang="th-TH" sz="2800" smtClean="0">
              <a:latin typeface="Poor Richard" panose="02080502050505020702" pitchFamily="18" charset="0"/>
              <a:cs typeface="Tahoma" panose="020B0604030504040204" pitchFamily="34" charset="0"/>
            </a:endParaRPr>
          </a:p>
          <a:p>
            <a:pPr algn="just" eaLnBrk="1" hangingPunct="1"/>
            <a:endParaRPr lang="th-TH" smtClean="0">
              <a:latin typeface="Poor Richard" panose="02080502050505020702" pitchFamily="18" charset="0"/>
              <a:cs typeface="Tahoma" panose="020B0604030504040204" pitchFamily="34" charset="0"/>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p:txBody>
          <a:bodyPr/>
          <a:lstStyle/>
          <a:p>
            <a:pPr eaLnBrk="1" hangingPunct="1"/>
            <a:r>
              <a:rPr lang="th-TH" sz="3600" smtClean="0">
                <a:solidFill>
                  <a:schemeClr val="hlink"/>
                </a:solidFill>
                <a:latin typeface="Poor Richard" panose="02080502050505020702" pitchFamily="18" charset="0"/>
                <a:cs typeface="Tahoma" panose="020B0604030504040204" pitchFamily="34" charset="0"/>
              </a:rPr>
              <a:t>Bus Structure</a:t>
            </a:r>
            <a:endParaRPr lang="th-TH" sz="3600" smtClean="0">
              <a:solidFill>
                <a:schemeClr val="hlink"/>
              </a:solidFill>
              <a:latin typeface="Poor Richard" panose="02080502050505020702" pitchFamily="18" charset="0"/>
              <a:cs typeface="Tahoma" panose="020B0604030504040204" pitchFamily="34" charset="0"/>
            </a:endParaRPr>
          </a:p>
        </p:txBody>
      </p:sp>
      <p:sp>
        <p:nvSpPr>
          <p:cNvPr id="1028" name="Rectangle 3"/>
          <p:cNvSpPr>
            <a:spLocks noGrp="1" noChangeArrowheads="1"/>
          </p:cNvSpPr>
          <p:nvPr>
            <p:ph type="body" idx="1"/>
          </p:nvPr>
        </p:nvSpPr>
        <p:spPr/>
        <p:txBody>
          <a:bodyPr/>
          <a:lstStyle/>
          <a:p>
            <a:pPr eaLnBrk="1" hangingPunct="1">
              <a:lnSpc>
                <a:spcPct val="130000"/>
              </a:lnSpc>
            </a:pPr>
            <a:r>
              <a:rPr lang="th-TH" sz="2400" smtClean="0">
                <a:latin typeface="Poor Richard" panose="02080502050505020702" pitchFamily="18" charset="0"/>
                <a:cs typeface="Tahoma" panose="020B0604030504040204" pitchFamily="34" charset="0"/>
              </a:rPr>
              <a:t>A system bus consists of 50-100 lines.</a:t>
            </a:r>
            <a:endParaRPr lang="th-TH" sz="2400" smtClean="0">
              <a:latin typeface="Poor Richard" panose="02080502050505020702" pitchFamily="18" charset="0"/>
              <a:cs typeface="Tahoma" panose="020B0604030504040204" pitchFamily="34" charset="0"/>
            </a:endParaRPr>
          </a:p>
          <a:p>
            <a:pPr eaLnBrk="1" hangingPunct="1">
              <a:lnSpc>
                <a:spcPct val="130000"/>
              </a:lnSpc>
            </a:pPr>
            <a:r>
              <a:rPr lang="th-TH" sz="2400" smtClean="0">
                <a:latin typeface="Poor Richard" panose="02080502050505020702" pitchFamily="18" charset="0"/>
                <a:cs typeface="Tahoma" panose="020B0604030504040204" pitchFamily="34" charset="0"/>
              </a:rPr>
              <a:t>Each line is assigned a particular meaning or function.</a:t>
            </a:r>
            <a:endParaRPr lang="th-TH" sz="2400" smtClean="0">
              <a:latin typeface="Poor Richard" panose="02080502050505020702" pitchFamily="18" charset="0"/>
              <a:cs typeface="Tahoma" panose="020B0604030504040204" pitchFamily="34" charset="0"/>
            </a:endParaRPr>
          </a:p>
          <a:p>
            <a:pPr eaLnBrk="1" hangingPunct="1">
              <a:lnSpc>
                <a:spcPct val="130000"/>
              </a:lnSpc>
            </a:pPr>
            <a:r>
              <a:rPr lang="th-TH" sz="2400" smtClean="0">
                <a:latin typeface="Poor Richard" panose="02080502050505020702" pitchFamily="18" charset="0"/>
                <a:cs typeface="Tahoma" panose="020B0604030504040204" pitchFamily="34" charset="0"/>
              </a:rPr>
              <a:t>On any bus the lines can be classified into 3 groups</a:t>
            </a:r>
            <a:endParaRPr lang="th-TH" sz="2800" smtClean="0">
              <a:latin typeface="Poor Richard" panose="02080502050505020702" pitchFamily="18" charset="0"/>
              <a:cs typeface="Tahoma" panose="020B0604030504040204" pitchFamily="34" charset="0"/>
            </a:endParaRPr>
          </a:p>
          <a:p>
            <a:pPr lvl="1" eaLnBrk="1" hangingPunct="1">
              <a:lnSpc>
                <a:spcPct val="130000"/>
              </a:lnSpc>
            </a:pPr>
            <a:r>
              <a:rPr lang="th-TH" smtClean="0">
                <a:latin typeface="Poor Richard" panose="02080502050505020702" pitchFamily="18" charset="0"/>
                <a:cs typeface="Tahoma" panose="020B0604030504040204" pitchFamily="34" charset="0"/>
              </a:rPr>
              <a:t>Data lines</a:t>
            </a:r>
            <a:endParaRPr lang="th-TH" smtClean="0">
              <a:latin typeface="Poor Richard" panose="02080502050505020702" pitchFamily="18" charset="0"/>
              <a:cs typeface="Tahoma" panose="020B0604030504040204" pitchFamily="34" charset="0"/>
            </a:endParaRPr>
          </a:p>
          <a:p>
            <a:pPr lvl="1" eaLnBrk="1" hangingPunct="1">
              <a:lnSpc>
                <a:spcPct val="130000"/>
              </a:lnSpc>
            </a:pPr>
            <a:r>
              <a:rPr lang="th-TH" smtClean="0">
                <a:latin typeface="Poor Richard" panose="02080502050505020702" pitchFamily="18" charset="0"/>
                <a:cs typeface="Tahoma" panose="020B0604030504040204" pitchFamily="34" charset="0"/>
              </a:rPr>
              <a:t>Address lines</a:t>
            </a:r>
            <a:endParaRPr lang="th-TH" smtClean="0">
              <a:latin typeface="Poor Richard" panose="02080502050505020702" pitchFamily="18" charset="0"/>
              <a:cs typeface="Tahoma" panose="020B0604030504040204" pitchFamily="34" charset="0"/>
            </a:endParaRPr>
          </a:p>
          <a:p>
            <a:pPr lvl="1" eaLnBrk="1" hangingPunct="1">
              <a:lnSpc>
                <a:spcPct val="130000"/>
              </a:lnSpc>
            </a:pPr>
            <a:r>
              <a:rPr lang="th-TH" smtClean="0">
                <a:latin typeface="Poor Richard" panose="02080502050505020702" pitchFamily="18" charset="0"/>
                <a:cs typeface="Tahoma" panose="020B0604030504040204" pitchFamily="34" charset="0"/>
              </a:rPr>
              <a:t>Control lines</a:t>
            </a:r>
            <a:endParaRPr lang="th-TH" sz="2400" smtClean="0">
              <a:latin typeface="Poor Richard" panose="02080502050505020702" pitchFamily="18" charset="0"/>
              <a:cs typeface="Tahoma" panose="020B0604030504040204" pitchFamily="34" charset="0"/>
            </a:endParaRPr>
          </a:p>
        </p:txBody>
      </p:sp>
      <p:graphicFrame>
        <p:nvGraphicFramePr>
          <p:cNvPr id="1026" name="Object 4"/>
          <p:cNvGraphicFramePr>
            <a:graphicFrameLocks noChangeAspect="1"/>
          </p:cNvGraphicFramePr>
          <p:nvPr/>
        </p:nvGraphicFramePr>
        <p:xfrm>
          <a:off x="3924300" y="3789363"/>
          <a:ext cx="4868863" cy="2808287"/>
        </p:xfrm>
        <a:graphic>
          <a:graphicData uri="http://schemas.openxmlformats.org/presentationml/2006/ole">
            <mc:AlternateContent xmlns:mc="http://schemas.openxmlformats.org/markup-compatibility/2006">
              <mc:Choice xmlns:v="urn:schemas-microsoft-com:vml" Requires="v">
                <p:oleObj spid="_x0000_s68631" name="Bitmap Image" r:id="rId1" imgW="7038975" imgH="1981200" progId="PBrush">
                  <p:embed/>
                </p:oleObj>
              </mc:Choice>
              <mc:Fallback>
                <p:oleObj name="Bitmap Image" r:id="rId1" imgW="7038975" imgH="1981200" progId="PBrush">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24300" y="3789363"/>
                        <a:ext cx="4868863" cy="2808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endParaRPr lang="en-US" smtClean="0"/>
          </a:p>
        </p:txBody>
      </p:sp>
      <p:sp>
        <p:nvSpPr>
          <p:cNvPr id="24579" name="Content Placeholder 2"/>
          <p:cNvSpPr>
            <a:spLocks noGrp="1"/>
          </p:cNvSpPr>
          <p:nvPr>
            <p:ph idx="1"/>
          </p:nvPr>
        </p:nvSpPr>
        <p:spPr/>
        <p:txBody>
          <a:bodyPr/>
          <a:lstStyle/>
          <a:p>
            <a:endParaRPr lang="en-US" smtClean="0"/>
          </a:p>
        </p:txBody>
      </p:sp>
      <p:pic>
        <p:nvPicPr>
          <p:cNvPr id="24580" name="Picture 2"/>
          <p:cNvPicPr>
            <a:picLocks noChangeAspect="1" noChangeArrowheads="1"/>
          </p:cNvPicPr>
          <p:nvPr/>
        </p:nvPicPr>
        <p:blipFill>
          <a:blip r:embed="rId1" cstate="print"/>
          <a:srcRect/>
          <a:stretch>
            <a:fillRect/>
          </a:stretch>
        </p:blipFill>
        <p:spPr bwMode="auto">
          <a:xfrm>
            <a:off x="0" y="188913"/>
            <a:ext cx="8967788" cy="640873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4" descr="NORTBRID"/>
          <p:cNvPicPr>
            <a:picLocks noChangeAspect="1" noChangeArrowheads="1"/>
          </p:cNvPicPr>
          <p:nvPr/>
        </p:nvPicPr>
        <p:blipFill>
          <a:blip r:embed="rId1" cstate="print"/>
          <a:srcRect/>
          <a:stretch>
            <a:fillRect/>
          </a:stretch>
        </p:blipFill>
        <p:spPr bwMode="auto">
          <a:xfrm>
            <a:off x="539750" y="333375"/>
            <a:ext cx="3676650" cy="5972175"/>
          </a:xfrm>
          <a:prstGeom prst="rect">
            <a:avLst/>
          </a:prstGeom>
          <a:noFill/>
          <a:ln w="9525">
            <a:noFill/>
            <a:miter lim="800000"/>
            <a:headEnd/>
            <a:tailEnd/>
          </a:ln>
        </p:spPr>
      </p:pic>
      <p:pic>
        <p:nvPicPr>
          <p:cNvPr id="25603" name="Picture 5" descr="system-bus"/>
          <p:cNvPicPr>
            <a:picLocks noChangeAspect="1" noChangeArrowheads="1"/>
          </p:cNvPicPr>
          <p:nvPr/>
        </p:nvPicPr>
        <p:blipFill>
          <a:blip r:embed="rId2" cstate="print"/>
          <a:srcRect/>
          <a:stretch>
            <a:fillRect/>
          </a:stretch>
        </p:blipFill>
        <p:spPr bwMode="auto">
          <a:xfrm>
            <a:off x="4716463" y="1557338"/>
            <a:ext cx="4019550" cy="20764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p:cNvPicPr>
            <a:picLocks noChangeAspect="1" noChangeArrowheads="1"/>
          </p:cNvPicPr>
          <p:nvPr/>
        </p:nvPicPr>
        <p:blipFill>
          <a:blip r:embed="rId1" cstate="print"/>
          <a:srcRect/>
          <a:stretch>
            <a:fillRect/>
          </a:stretch>
        </p:blipFill>
        <p:spPr bwMode="auto">
          <a:xfrm>
            <a:off x="376238" y="223838"/>
            <a:ext cx="8391525" cy="64103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Median</Template>
  <TotalTime>0</TotalTime>
  <Words>10094</Words>
  <Application>WPS Presentation</Application>
  <PresentationFormat>On-screen Show (4:3)</PresentationFormat>
  <Paragraphs>453</Paragraphs>
  <Slides>51</Slides>
  <Notes>11</Notes>
  <HiddenSlides>2</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3</vt:i4>
      </vt:variant>
      <vt:variant>
        <vt:lpstr>幻灯片标题</vt:lpstr>
      </vt:variant>
      <vt:variant>
        <vt:i4>51</vt:i4>
      </vt:variant>
    </vt:vector>
  </HeadingPairs>
  <TitlesOfParts>
    <vt:vector size="71" baseType="lpstr">
      <vt:lpstr>Arial</vt:lpstr>
      <vt:lpstr>SimSun</vt:lpstr>
      <vt:lpstr>Wingdings</vt:lpstr>
      <vt:lpstr>Wingdings</vt:lpstr>
      <vt:lpstr>Wingdings 2</vt:lpstr>
      <vt:lpstr>AR JULIAN</vt:lpstr>
      <vt:lpstr>Segoe Print</vt:lpstr>
      <vt:lpstr>Tw Cen MT</vt:lpstr>
      <vt:lpstr>Microsoft YaHei</vt:lpstr>
      <vt:lpstr>Arial Unicode MS</vt:lpstr>
      <vt:lpstr>Calibri</vt:lpstr>
      <vt:lpstr>PMingLiU</vt:lpstr>
      <vt:lpstr>MingLiU-ExtB</vt:lpstr>
      <vt:lpstr>Poor Richard</vt:lpstr>
      <vt:lpstr>Tahoma</vt:lpstr>
      <vt:lpstr>FreesiaUPC</vt:lpstr>
      <vt:lpstr>Median</vt:lpstr>
      <vt:lpstr>Word.Document.8</vt:lpstr>
      <vt:lpstr>PBrush</vt:lpstr>
      <vt:lpstr>PBrush</vt:lpstr>
      <vt:lpstr>Organization and Architecture, Structure &amp; Function,  Brief History of computers.</vt:lpstr>
      <vt:lpstr>Why COA</vt:lpstr>
      <vt:lpstr>Definitions..  </vt:lpstr>
      <vt:lpstr>Example</vt:lpstr>
      <vt:lpstr>Example</vt:lpstr>
      <vt:lpstr>Computer organization and architecture</vt:lpstr>
      <vt:lpstr>Cont..</vt:lpstr>
      <vt:lpstr>Cont..</vt:lpstr>
      <vt:lpstr>Structure and function </vt:lpstr>
      <vt:lpstr>Function</vt:lpstr>
      <vt:lpstr>Operation: Data Processing from/to storage </vt:lpstr>
      <vt:lpstr>Operations: Data Storage </vt:lpstr>
      <vt:lpstr>Operations : Data movement</vt:lpstr>
      <vt:lpstr>Operations : Data movement</vt:lpstr>
      <vt:lpstr>Operation: Control</vt:lpstr>
      <vt:lpstr>Structure</vt:lpstr>
      <vt:lpstr>Structure - Top Level</vt:lpstr>
      <vt:lpstr>Structure - The CPU</vt:lpstr>
      <vt:lpstr>Structure - The CPU</vt:lpstr>
      <vt:lpstr>Structure - The Control Unit</vt:lpstr>
      <vt:lpstr>Evolution (a brief history) of computers</vt:lpstr>
      <vt:lpstr>First Generation: Vacuum Tubes</vt:lpstr>
      <vt:lpstr>Vacuum Tubes - 1941 - 1956</vt:lpstr>
      <vt:lpstr>First Generation: Vacuum Tubes</vt:lpstr>
      <vt:lpstr>First Generation: Vacuum Tubes</vt:lpstr>
      <vt:lpstr>First Generation: Vacuum Tubes</vt:lpstr>
      <vt:lpstr>UNIVAC - 1951 </vt:lpstr>
      <vt:lpstr>First Transistor</vt:lpstr>
      <vt:lpstr>Second Generation: Transistors</vt:lpstr>
      <vt:lpstr>Third Generation: Integrated Circuits</vt:lpstr>
      <vt:lpstr>Third Generation: Integrated Circuits</vt:lpstr>
      <vt:lpstr>The First Microprocessor – 1971</vt:lpstr>
      <vt:lpstr>What is a Microchip?</vt:lpstr>
      <vt:lpstr>4th Generation – 1971-present</vt:lpstr>
      <vt:lpstr>Birth of Personal Computers - 1975</vt:lpstr>
      <vt:lpstr>IBM PC - 1981</vt:lpstr>
      <vt:lpstr>Apple Computers</vt:lpstr>
      <vt:lpstr>Computers Progress</vt:lpstr>
      <vt:lpstr>1990s: Pentiums and Power Macs</vt:lpstr>
      <vt:lpstr>21st Century Computing</vt:lpstr>
      <vt:lpstr>Interconnection Structures</vt:lpstr>
      <vt:lpstr>Input/Output for each module</vt:lpstr>
      <vt:lpstr>CPU</vt:lpstr>
      <vt:lpstr>I/O module</vt:lpstr>
      <vt:lpstr>Type of transfers</vt:lpstr>
      <vt:lpstr>Bus Interconnection</vt:lpstr>
      <vt:lpstr>Bus Interconnection</vt:lpstr>
      <vt:lpstr>Bus Structure</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I  Computer Evolution and PERFORMANCE</dc:title>
  <dc:creator>bhagyashree</dc:creator>
  <cp:lastModifiedBy>Tanuj keshattiwar</cp:lastModifiedBy>
  <cp:revision>71</cp:revision>
  <dcterms:created xsi:type="dcterms:W3CDTF">2016-06-17T04:59:00Z</dcterms:created>
  <dcterms:modified xsi:type="dcterms:W3CDTF">2025-03-03T03:31:27Z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5F64DFFDA6414980B4A6FF0063F1CB68_13</vt:lpwstr>
  </property>
  <property fmtid="{D5CDD505-2E9C-101B-9397-08002B2CF9AE}" pid="3" name="KSOProductBuildVer">
    <vt:lpwstr>1033-12.2.0.20323</vt:lpwstr>
  </property>
</Properties>
</file>